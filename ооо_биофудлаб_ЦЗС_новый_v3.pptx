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63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6.png" /><Relationship Id="rId7" Type="http://schemas.openxmlformats.org/officeDocument/2006/relationships/image" Target="../media/generated_7.png" /><Relationship Id="rId8" Type="http://schemas.openxmlformats.org/officeDocument/2006/relationships/image" Target="../media/generated_8.png" /><Relationship Id="rId9" Type="http://schemas.openxmlformats.org/officeDocument/2006/relationships/image" Target="../media/generated_9.png" /><Relationship Id="rId10" Type="http://schemas.openxmlformats.org/officeDocument/2006/relationships/image" Target="../media/generated_10.png" /><Relationship Id="rId11" Type="http://schemas.openxmlformats.org/officeDocument/2006/relationships/image" Target="../media/generated_11.png" /><Relationship Id="rId12" Type="http://schemas.openxmlformats.org/officeDocument/2006/relationships/image" Target="../media/generated_12.png" /><Relationship Id="rId13" Type="http://schemas.openxmlformats.org/officeDocument/2006/relationships/image" Target="../media/generated_1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platforma-czs.ru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.png" /><Relationship Id="rId8" Type="http://schemas.openxmlformats.org/officeDocument/2006/relationships/image" Target="../media/generated_2.png" /><Relationship Id="rId9" Type="http://schemas.openxmlformats.org/officeDocument/2006/relationships/image" Target="../media/generated_3.png" /><Relationship Id="rId10" Type="http://schemas.openxmlformats.org/officeDocument/2006/relationships/image" Target="../media/generated_4.png" /><Relationship Id="rId11" Type="http://schemas.openxmlformats.org/officeDocument/2006/relationships/image" Target="../media/generated_5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4.png" /><Relationship Id="rId8" Type="http://schemas.openxmlformats.org/officeDocument/2006/relationships/image" Target="../media/generated_15.png" /><Relationship Id="rId9" Type="http://schemas.openxmlformats.org/officeDocument/2006/relationships/image" Target="../media/generated_16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hyperlink" Target="https://platforma-czs.ru/wftariff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724025"/>
            <a:ext cx="96012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Получатель Шифрина Елена Владимировна, Генеральный директор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19526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Как компании «ООО "БиоФудЛаб"» получить 5-10 контрактов с розничными сетями на Центре Закупок Сетей: WorldFood 2026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«Полезные снеки»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510267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r>
              <a:rPr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ru-RU"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сентября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 dirty="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«Полезные снеки»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2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7170" name="AutoShape 2" descr="QR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QR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7500" y="4467225"/>
            <a:ext cx="1600200" cy="1577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Елена Владимировна, ознакомьтесь с итогами последнего ЦЗС™ по категории «Полезные снеки»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178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6700" y="4010025"/>
            <a:ext cx="2057400" cy="13157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 </a:t>
            </a:r>
            <a: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 </a:t>
            </a:r>
            <a:b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25" dirty="0" smtClean="0">
                <a:solidFill>
                  <a:schemeClr val="tx1"/>
                </a:solidFill>
                <a:latin typeface="Century Gothic"/>
                <a:cs typeface="Century Gothic"/>
              </a:rPr>
              <a:t>Ф</a:t>
            </a:r>
            <a:r>
              <a:rPr sz="1200" spc="-25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едеральных</a:t>
            </a:r>
            <a:r>
              <a:rPr sz="1200" spc="5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b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ru-RU" sz="8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/>
            </a:r>
            <a:br>
              <a:rPr lang="ru-RU" sz="8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lang="en-US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br>
              <a:rPr lang="en-US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ru-RU"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Р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егиональных</a:t>
            </a:r>
            <a:r>
              <a:rPr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56500" y="4010025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14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oReCa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04767" y="5643613"/>
            <a:ext cx="6686550" cy="1355725"/>
          </a:xfrm>
          <a:custGeom>
            <a:avLst/>
            <a:gdLst/>
            <a:ahLst/>
            <a:cxnLst/>
            <a:rect l="l" t="t" r="r" b="b"/>
            <a:pathLst>
              <a:path w="6686550" h="1355725">
                <a:moveTo>
                  <a:pt x="6666776" y="19685"/>
                </a:moveTo>
                <a:lnTo>
                  <a:pt x="6632344" y="1292"/>
                </a:lnTo>
                <a:lnTo>
                  <a:pt x="6619227" y="0"/>
                </a:lnTo>
                <a:lnTo>
                  <a:pt x="67233" y="0"/>
                </a:lnTo>
                <a:lnTo>
                  <a:pt x="29879" y="11329"/>
                </a:lnTo>
                <a:lnTo>
                  <a:pt x="24576" y="15256"/>
                </a:lnTo>
                <a:lnTo>
                  <a:pt x="19685" y="19685"/>
                </a:lnTo>
              </a:path>
              <a:path w="6686550" h="1355725">
                <a:moveTo>
                  <a:pt x="19685" y="1335900"/>
                </a:moveTo>
                <a:lnTo>
                  <a:pt x="54116" y="1354293"/>
                </a:lnTo>
                <a:lnTo>
                  <a:pt x="67233" y="1355585"/>
                </a:lnTo>
                <a:lnTo>
                  <a:pt x="6614464" y="1355585"/>
                </a:lnTo>
                <a:lnTo>
                  <a:pt x="6656585" y="1344255"/>
                </a:lnTo>
                <a:lnTo>
                  <a:pt x="6661886" y="1340328"/>
                </a:lnTo>
                <a:lnTo>
                  <a:pt x="6666776" y="1335900"/>
                </a:lnTo>
              </a:path>
              <a:path w="6686550" h="1355725">
                <a:moveTo>
                  <a:pt x="19685" y="19685"/>
                </a:moveTo>
                <a:lnTo>
                  <a:pt x="1292" y="54116"/>
                </a:lnTo>
                <a:lnTo>
                  <a:pt x="0" y="67233"/>
                </a:lnTo>
                <a:lnTo>
                  <a:pt x="0" y="1283589"/>
                </a:lnTo>
                <a:lnTo>
                  <a:pt x="11329" y="1325705"/>
                </a:lnTo>
                <a:lnTo>
                  <a:pt x="15256" y="1331008"/>
                </a:lnTo>
                <a:lnTo>
                  <a:pt x="19685" y="1335900"/>
                </a:lnTo>
              </a:path>
              <a:path w="6686550" h="1355725">
                <a:moveTo>
                  <a:pt x="6666776" y="1335900"/>
                </a:moveTo>
                <a:lnTo>
                  <a:pt x="6685176" y="1301469"/>
                </a:lnTo>
                <a:lnTo>
                  <a:pt x="6686473" y="1288351"/>
                </a:lnTo>
                <a:lnTo>
                  <a:pt x="6686473" y="71996"/>
                </a:lnTo>
                <a:lnTo>
                  <a:pt x="6675132" y="29879"/>
                </a:lnTo>
                <a:lnTo>
                  <a:pt x="6671204" y="24576"/>
                </a:lnTo>
                <a:lnTo>
                  <a:pt x="6666776" y="19685"/>
                </a:lnTo>
              </a:path>
            </a:pathLst>
          </a:custGeom>
          <a:ln w="9525">
            <a:solidFill>
              <a:srgbClr val="245B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7277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</a:p>
          <a:p>
            <a:r>
              <a:rPr lang="ru-RU" sz="1200" spc="-10" dirty="0">
                <a:latin typeface="Century Gothic"/>
              </a:rPr>
              <a:t>м</a:t>
            </a:r>
            <a:r>
              <a:rPr lang="ru-RU" sz="1200" spc="-10" dirty="0" smtClean="0">
                <a:latin typeface="Century Gothic"/>
              </a:rPr>
              <a:t>лн. рублей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46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10.7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5346700" y="3705225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 smtClean="0">
                <a:latin typeface="Century Gothic"/>
                <a:cs typeface="Century Gothic"/>
              </a:rPr>
              <a:t>В том числе: </a:t>
            </a:r>
            <a:endParaRPr lang="ru-RU" dirty="0"/>
          </a:p>
        </p:txBody>
      </p:sp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851899" y="5838825"/>
            <a:ext cx="1004819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02519" y="5998058"/>
            <a:ext cx="3128010" cy="1118235"/>
          </a:xfrm>
          <a:custGeom>
            <a:avLst/>
            <a:gdLst/>
            <a:ahLst/>
            <a:cxnLst/>
            <a:rect l="l" t="t" r="r" b="b"/>
            <a:pathLst>
              <a:path w="3128009" h="1118234">
                <a:moveTo>
                  <a:pt x="3088563" y="39382"/>
                </a:moveTo>
                <a:lnTo>
                  <a:pt x="3056868" y="15879"/>
                </a:lnTo>
                <a:lnTo>
                  <a:pt x="3019713" y="2589"/>
                </a:lnTo>
                <a:lnTo>
                  <a:pt x="2993478" y="0"/>
                </a:lnTo>
                <a:lnTo>
                  <a:pt x="134480" y="0"/>
                </a:lnTo>
                <a:lnTo>
                  <a:pt x="95443" y="5791"/>
                </a:lnTo>
                <a:lnTo>
                  <a:pt x="59774" y="22666"/>
                </a:lnTo>
                <a:lnTo>
                  <a:pt x="49174" y="30524"/>
                </a:lnTo>
                <a:lnTo>
                  <a:pt x="39395" y="39382"/>
                </a:lnTo>
              </a:path>
              <a:path w="3128009" h="1118234">
                <a:moveTo>
                  <a:pt x="39395" y="1078420"/>
                </a:moveTo>
                <a:lnTo>
                  <a:pt x="71090" y="1101930"/>
                </a:lnTo>
                <a:lnTo>
                  <a:pt x="108245" y="1115221"/>
                </a:lnTo>
                <a:lnTo>
                  <a:pt x="134480" y="1117815"/>
                </a:lnTo>
                <a:lnTo>
                  <a:pt x="2983953" y="1117815"/>
                </a:lnTo>
                <a:lnTo>
                  <a:pt x="3032367" y="1112018"/>
                </a:lnTo>
                <a:lnTo>
                  <a:pt x="3068185" y="1095143"/>
                </a:lnTo>
                <a:lnTo>
                  <a:pt x="3078784" y="1087284"/>
                </a:lnTo>
                <a:lnTo>
                  <a:pt x="3088563" y="1078420"/>
                </a:lnTo>
              </a:path>
              <a:path w="3128009" h="1118234">
                <a:moveTo>
                  <a:pt x="39395" y="39382"/>
                </a:moveTo>
                <a:lnTo>
                  <a:pt x="15887" y="71083"/>
                </a:lnTo>
                <a:lnTo>
                  <a:pt x="2593" y="108237"/>
                </a:lnTo>
                <a:lnTo>
                  <a:pt x="0" y="134467"/>
                </a:lnTo>
                <a:lnTo>
                  <a:pt x="0" y="973810"/>
                </a:lnTo>
                <a:lnTo>
                  <a:pt x="5797" y="1022223"/>
                </a:lnTo>
                <a:lnTo>
                  <a:pt x="22677" y="1058041"/>
                </a:lnTo>
                <a:lnTo>
                  <a:pt x="30536" y="1068641"/>
                </a:lnTo>
                <a:lnTo>
                  <a:pt x="39395" y="1078420"/>
                </a:lnTo>
              </a:path>
              <a:path w="3128009" h="1118234">
                <a:moveTo>
                  <a:pt x="3088563" y="1078420"/>
                </a:moveTo>
                <a:lnTo>
                  <a:pt x="3112072" y="1046725"/>
                </a:lnTo>
                <a:lnTo>
                  <a:pt x="3125365" y="1009570"/>
                </a:lnTo>
                <a:lnTo>
                  <a:pt x="3127959" y="983335"/>
                </a:lnTo>
                <a:lnTo>
                  <a:pt x="3127959" y="143992"/>
                </a:lnTo>
                <a:lnTo>
                  <a:pt x="3122162" y="95584"/>
                </a:lnTo>
                <a:lnTo>
                  <a:pt x="3105281" y="59766"/>
                </a:lnTo>
                <a:lnTo>
                  <a:pt x="3097422" y="49163"/>
                </a:lnTo>
                <a:lnTo>
                  <a:pt x="3088563" y="39382"/>
                </a:lnTo>
              </a:path>
            </a:pathLst>
          </a:custGeom>
          <a:ln w="19050">
            <a:solidFill>
              <a:srgbClr val="245B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18500" y="4772025"/>
            <a:ext cx="1447800" cy="142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683195" cy="118814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л</a:t>
            </a:r>
            <a:r>
              <a:rPr lang="ru-RU" sz="1200" dirty="0" smtClean="0">
                <a:latin typeface="Century Gothic"/>
                <a:cs typeface="Century Gothic"/>
              </a:rPr>
              <a:t>ет </a:t>
            </a:r>
            <a:r>
              <a:rPr sz="1200" dirty="0" err="1" smtClean="0">
                <a:latin typeface="Century Gothic"/>
                <a:cs typeface="Century Gothic"/>
              </a:rPr>
              <a:t>работы</a:t>
            </a:r>
            <a:r>
              <a:rPr sz="1200" spc="-40" dirty="0" smtClean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компании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15420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567</a:t>
            </a:r>
            <a:endParaRPr lang="ru-RU" sz="14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18764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к</a:t>
            </a:r>
            <a:r>
              <a:rPr lang="ru-RU" sz="1200" dirty="0" smtClean="0">
                <a:latin typeface="Century Gothic"/>
                <a:cs typeface="Century Gothic"/>
              </a:rPr>
              <a:t>онтрактов заключено</a:t>
            </a:r>
            <a:r>
              <a:rPr lang="ru-RU" sz="1200" spc="55" dirty="0" smtClean="0">
                <a:latin typeface="Century Gothic"/>
                <a:cs typeface="Century Gothic"/>
              </a:rPr>
              <a:t> всего </a:t>
            </a:r>
            <a:r>
              <a:rPr lang="ru-RU" sz="1200" spc="65" dirty="0" smtClean="0">
                <a:latin typeface="Century Gothic"/>
                <a:cs typeface="Century Gothic"/>
              </a:rPr>
              <a:t>в вашей</a:t>
            </a:r>
            <a:r>
              <a:rPr lang="ru-RU" sz="1200" spc="55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категории</a:t>
            </a:r>
            <a:endParaRPr lang="ru-RU" sz="1200" dirty="0" smtClean="0">
              <a:latin typeface="Century Gothic"/>
              <a:cs typeface="Century Gothic"/>
            </a:endParaRPr>
          </a:p>
        </p:txBody>
      </p:sp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279431" y="6048375"/>
            <a:ext cx="991694" cy="97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706821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/>
                <a:t>«Увелка»</a:t>
              </a:r>
              <a:endParaRPr sz="1600" b="1"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76566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/>
                <a:t>ООО «КДВ Групп»</a:t>
              </a:r>
              <a:endParaRPr sz="1600" b="1"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57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/>
                <a:t>Mars ООО (Россия)</a:t>
              </a:r>
              <a:endParaRPr lang="en-US" sz="1050" b="1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Денис Штенгелов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«Наша миссия — дарить радость миллионам потребителей качественными сладостями. Центр Закупок Сетей™ стал для нас идеальной площадкой для презентации инновационных продуктов закупщикам ведущих розничных сетей. Всего за два дня мы проводим до 20 переговоров, что в обычной жизни заняло бы несколько месяцев. Результат — стабильный рост продаж и укрепление лидерства на рынке».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Александр Петров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«Мы стремимся, чтобы наши продукты были доступны каждому. Эффективность — ключевой принцип нашей работы. Центр Закупок Сетей™ позволяет нам в кратчайшие сроки решать вопросы по выводу новых продуктов на полку и корректировке стратегии с уже существующими партнерами. За год на площадке мы провели успешные переговоры с 15 ключевыми сетями, что напрямую повлияло на наши объемы продаж».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Елена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3284602" cy="60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smtClean="0">
                <a:latin typeface="Century Gothic"/>
                <a:cs typeface="Century Gothic"/>
              </a:rPr>
              <a:t>Вострикова Татьяна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году </a:t>
            </a:r>
            <a:r>
              <a:rPr sz="1200" spc="-50" dirty="0">
                <a:latin typeface="Century Gothic"/>
                <a:cs typeface="Century Gothic"/>
              </a:rPr>
              <a:t>наши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клиенты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 smtClean="0">
                <a:latin typeface="Century Gothic"/>
                <a:cs typeface="Century Gothic"/>
              </a:rPr>
              <a:t>провели</a:t>
            </a:r>
            <a:r>
              <a:rPr sz="1200" spc="5" dirty="0" smtClean="0">
                <a:latin typeface="Century Gothic"/>
                <a:cs typeface="Century Gothic"/>
              </a:rPr>
              <a:t> </a:t>
            </a:r>
            <a:r>
              <a:rPr lang="en-US" sz="1200" spc="5" dirty="0" smtClean="0">
                <a:latin typeface="Century Gothic"/>
                <a:cs typeface="Century Gothic"/>
              </a:rPr>
              <a:t>223</a:t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lang="en-US" sz="1200" spc="-2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переговоров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заключили</a:t>
            </a:r>
            <a:r>
              <a:rPr sz="1200" spc="70" dirty="0">
                <a:latin typeface="Century Gothic"/>
                <a:cs typeface="Century Gothic"/>
              </a:rPr>
              <a:t> </a:t>
            </a:r>
            <a:r>
              <a:rPr lang="en-US" sz="1200" dirty="0" smtClean="0">
                <a:latin typeface="Century Gothic"/>
                <a:cs typeface="Century Gothic"/>
              </a:rPr>
              <a:t>178</a:t>
            </a:r>
            <a:r>
              <a:rPr sz="1200" spc="65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предварительных </a:t>
            </a:r>
            <a:r>
              <a:rPr sz="1200" dirty="0">
                <a:latin typeface="Century Gothic"/>
                <a:cs typeface="Century Gothic"/>
              </a:rPr>
              <a:t>контрактов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категории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lang="en-US" sz="1200" spc="-20" dirty="0" smtClean="0">
                <a:latin typeface="Century Gothic"/>
                <a:cs typeface="Century Gothic"/>
              </a:rPr>
              <a:t>«Полезные снеки»</a:t>
            </a:r>
            <a:r>
              <a:rPr sz="1200" spc="-10" dirty="0" smtClean="0">
                <a:latin typeface="Century Gothic"/>
                <a:cs typeface="Century Gothic"/>
              </a:rPr>
              <a:t>.</a:t>
            </a:r>
            <a:r>
              <a:rPr sz="1200" spc="-2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Уверены, вместе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90" dirty="0">
                <a:latin typeface="Century Gothic"/>
                <a:cs typeface="Century Gothic"/>
              </a:rPr>
              <a:t>мы</a:t>
            </a:r>
            <a:r>
              <a:rPr sz="1200" dirty="0">
                <a:latin typeface="Century Gothic"/>
                <a:cs typeface="Century Gothic"/>
              </a:rPr>
              <a:t> </a:t>
            </a:r>
            <a:r>
              <a:rPr sz="1200" spc="-45" dirty="0">
                <a:latin typeface="Century Gothic"/>
                <a:cs typeface="Century Gothic"/>
              </a:rPr>
              <a:t>займем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полки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75" dirty="0">
                <a:latin typeface="Century Gothic"/>
                <a:cs typeface="Century Gothic"/>
              </a:rPr>
              <a:t>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нужных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вам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4033902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en-US" sz="1200" dirty="0" smtClean="0"/>
              <a:t> </a:t>
            </a:r>
            <a:r>
              <a:rPr lang="en-US" sz="1200" dirty="0"/>
              <a:t>+</a:t>
            </a:r>
            <a:r>
              <a:rPr lang="en-US" sz="1200" dirty="0" smtClean="0"/>
              <a:t>79219512113</a:t>
            </a:r>
            <a:r>
              <a:rPr lang="ru-RU" sz="1200" dirty="0" smtClean="0"/>
              <a:t>         </a:t>
            </a:r>
            <a:r>
              <a:rPr lang="en-US" sz="1200" dirty="0" smtClean="0"/>
              <a:t>manager49@imperia-forums.ru</a:t>
            </a:r>
            <a:endParaRPr lang="ru-RU" sz="1200" dirty="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7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026" name="AutoShape 2" descr="blob:https://web.telegram.org/d5f09edc-ace3-4855-b877-aa1b5dba986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8" name="AutoShape 4" descr="blob:https://web.telegram.org/d5f09edc-ace3-4855-b877-aa1b5dba986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9" name="Рисунок 38" descr="Вострикова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746500" y="1647825"/>
            <a:ext cx="1514900" cy="1519649"/>
          </a:xfrm>
          <a:prstGeom prst="rect">
            <a:avLst/>
          </a:prstGeom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013700" y="3781425"/>
            <a:ext cx="762000" cy="75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666</Words>
  <Application>Microsoft Office PowerPoint</Application>
  <PresentationFormat>Произвольный</PresentationFormat>
  <Paragraphs>173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34</cp:revision>
  <dcterms:created xsi:type="dcterms:W3CDTF">2026-06-24T08:38:13Z</dcterms:created>
  <dcterms:modified xsi:type="dcterms:W3CDTF">2026-07-29T11:31:10Z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