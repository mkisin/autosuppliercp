
<file path=[Content_Types].xml><?xml version="1.0" encoding="utf-8"?>
<ns0:Types xmlns:ns0="http://schemas.openxmlformats.org/package/2006/content-types"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Default Extension="png" ContentType="image/png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docProps/app.xml" ContentType="application/vnd.openxmlformats-officedocument.extended-properties+xml"/>
  <ns0:Override PartName="/ppt/tableStyles.xml" ContentType="application/vnd.openxmlformats-officedocument.presentationml.tableStyles+xml"/>
  <ns0:Override PartName="/docProps/custom.xml" ContentType="application/vnd.openxmlformats-officedocument.custom-properties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viewProps.xml" ContentType="application/vnd.openxmlformats-officedocument.presentationml.viewProps+xml"/>
  <ns0:Override PartName="/docProps/core.xml" ContentType="application/vnd.openxmlformats-package.core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online-czs.ru/buyers/51/" TargetMode="External" /><Relationship Id="rId4" Type="http://schemas.openxmlformats.org/officeDocument/2006/relationships/image" Target="../media/image12.png" /><Relationship Id="rId6" Type="http://schemas.openxmlformats.org/officeDocument/2006/relationships/image" Target="../media/generated_1.png" /><Relationship Id="rId7" Type="http://schemas.openxmlformats.org/officeDocument/2006/relationships/image" Target="../media/generated_2.png" /><Relationship Id="rId8" Type="http://schemas.openxmlformats.org/officeDocument/2006/relationships/image" Target="../media/generated_3.png" /><Relationship Id="rId9" Type="http://schemas.openxmlformats.org/officeDocument/2006/relationships/image" Target="../media/generated_4.png" /><Relationship Id="rId10" Type="http://schemas.openxmlformats.org/officeDocument/2006/relationships/image" Target="../media/generated_5.png" /><Relationship Id="rId11" Type="http://schemas.openxmlformats.org/officeDocument/2006/relationships/image" Target="../media/generated_6.png" /><Relationship Id="rId12" Type="http://schemas.openxmlformats.org/officeDocument/2006/relationships/image" Target="../media/generated_7.png" /><Relationship Id="rId13" Type="http://schemas.openxmlformats.org/officeDocument/2006/relationships/image" Target="../media/generated_8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5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2.png" /><Relationship Id="rId8" Type="http://schemas.openxmlformats.org/officeDocument/2006/relationships/image" Target="../media/generated_13.png" /><Relationship Id="rId9" Type="http://schemas.openxmlformats.org/officeDocument/2006/relationships/image" Target="../media/generated_14.png" /><Relationship Id="rId10" Type="http://schemas.openxmlformats.org/officeDocument/2006/relationships/image" Target="../media/generated_15.png" /><Relationship Id="rId11" Type="http://schemas.openxmlformats.org/officeDocument/2006/relationships/image" Target="../media/generated_16.png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9.png" /><Relationship Id="rId8" Type="http://schemas.openxmlformats.org/officeDocument/2006/relationships/image" Target="../media/generated_10.png" /><Relationship Id="rId9" Type="http://schemas.openxmlformats.org/officeDocument/2006/relationships/image" Target="../media/generated_11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hyperlink" Target="https://platforma-czs.ru/prodexpo_tariff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s://t.me/Moonlight_my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2.png"/><Relationship Id="rId5" Type="http://schemas.openxmlformats.org/officeDocument/2006/relationships/image" Target="../media/image30.png"/><Relationship Id="rId10" Type="http://schemas.openxmlformats.org/officeDocument/2006/relationships/hyperlink" Target="mailto:manager19@imperia-forums.ru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s://wa.me/+79006574280" TargetMode="External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876425"/>
            <a:ext cx="25603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ГОСУДАРЕВ СТАНДАРТ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22574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Получатель
Юлия Олеговна Татаркина,
Коммерческий директор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7900" y="3857626"/>
            <a:ext cx="64008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«Молочная продукция Сыры»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48996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февраля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5" name="Прямоугольник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5153025"/>
            <a:ext cx="762000" cy="762000"/>
          </a:xfrm>
          <a:prstGeom prst="rect">
            <a:avLst/>
          </a:prstGeom>
        </p:spPr>
      </p:pic>
      <p:pic>
        <p:nvPicPr>
          <p:cNvPr id="7176" name="Прямоугольник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153025"/>
            <a:ext cx="762000" cy="762000"/>
          </a:xfrm>
          <a:prstGeom prst="rect">
            <a:avLst/>
          </a:prstGeom>
        </p:spPr>
      </p:pic>
      <p:pic>
        <p:nvPicPr>
          <p:cNvPr id="7177" name="Прямоугольник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1900" y="5153025"/>
            <a:ext cx="762000" cy="762000"/>
          </a:xfrm>
          <a:prstGeom prst="rect">
            <a:avLst/>
          </a:prstGeom>
        </p:spPr>
      </p:pic>
      <p:pic>
        <p:nvPicPr>
          <p:cNvPr id="7178" name="Прямоугольник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5153025"/>
            <a:ext cx="762000" cy="762000"/>
          </a:xfrm>
          <a:prstGeom prst="rect">
            <a:avLst/>
          </a:prstGeom>
        </p:spPr>
      </p:pic>
      <p:pic>
        <p:nvPicPr>
          <p:cNvPr id="7179" name="Прямоугольник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300" y="5153025"/>
            <a:ext cx="762000" cy="762000"/>
          </a:xfrm>
          <a:prstGeom prst="rect">
            <a:avLst/>
          </a:prstGeom>
        </p:spPr>
      </p:pic>
      <p:pic>
        <p:nvPicPr>
          <p:cNvPr id="7180" name="Прямоугольник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500" y="5153025"/>
            <a:ext cx="762000" cy="762000"/>
          </a:xfrm>
          <a:prstGeom prst="rect">
            <a:avLst/>
          </a:prstGeom>
        </p:spPr>
      </p:pic>
      <p:pic>
        <p:nvPicPr>
          <p:cNvPr id="7181" name="Прямоугольник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700" y="5153025"/>
            <a:ext cx="762000" cy="762000"/>
          </a:xfrm>
          <a:prstGeom prst="rect">
            <a:avLst/>
          </a:prstGeom>
        </p:spPr>
      </p:pic>
      <p:pic>
        <p:nvPicPr>
          <p:cNvPr id="7182" name="Прямоугольник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2900" y="51530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4658995"/>
            <a:ext cx="9360535" cy="2385060"/>
            <a:chOff x="359994" y="4658995"/>
            <a:chExt cx="9360535" cy="2385060"/>
          </a:xfrm>
        </p:grpSpPr>
        <p:sp>
          <p:nvSpPr>
            <p:cNvPr id="5" name="object 5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9" y="4658995"/>
              <a:ext cx="1799996" cy="17999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с сетями по категории «Молочная продукция Сыры»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3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Юлия Олеговна, ознакомьтесь с итогами последнего ЦЗС™ по категории «Молочная продукция Сыры»</a:t>
            </a:r>
            <a:r>
              <a:rPr lang="ru-RU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36900" y="1800225"/>
            <a:ext cx="29718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201	</a:t>
            </a: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sz="1100" dirty="0">
                <a:latin typeface="Century Gothic"/>
                <a:cs typeface="Century Gothic"/>
              </a:rPr>
              <a:t/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18500" y="2333625"/>
            <a:ext cx="1642745" cy="1101071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5422" y="3798693"/>
            <a:ext cx="2065020" cy="1674817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entury Gothic"/>
                <a:cs typeface="Century Gothic"/>
              </a:rPr>
              <a:t>В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85" dirty="0">
                <a:latin typeface="Century Gothic"/>
                <a:cs typeface="Century Gothic"/>
              </a:rPr>
              <a:t>том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числе:</a:t>
            </a:r>
            <a:endParaRPr sz="18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750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7 </a:t>
            </a:r>
            <a:r>
              <a:rPr sz="1200" spc="-25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федеральных</a:t>
            </a:r>
            <a:r>
              <a:rPr sz="1200" spc="5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805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21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245BA9"/>
                </a:solidFill>
                <a:latin typeface="Century Gothic"/>
                <a:cs typeface="Century Gothic"/>
              </a:rPr>
              <a:t>региональных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2624" y="4137342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16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245BA9"/>
                </a:solidFill>
                <a:latin typeface="Century Gothic"/>
                <a:cs typeface="Century Gothic"/>
              </a:rPr>
              <a:t>локальных</a:t>
            </a:r>
            <a:r>
              <a:rPr sz="12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8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oReCa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0005" y="5638851"/>
            <a:ext cx="6696075" cy="1365250"/>
            <a:chOff x="3600005" y="5638851"/>
            <a:chExt cx="6696075" cy="1365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3530" y="5792368"/>
              <a:ext cx="899998" cy="8999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04767" y="5643613"/>
              <a:ext cx="6686550" cy="1355725"/>
            </a:xfrm>
            <a:custGeom>
              <a:avLst/>
              <a:gdLst/>
              <a:ahLst/>
              <a:cxnLst/>
              <a:rect l="l" t="t" r="r" b="b"/>
              <a:pathLst>
                <a:path w="6686550" h="1355725">
                  <a:moveTo>
                    <a:pt x="6666776" y="19685"/>
                  </a:moveTo>
                  <a:lnTo>
                    <a:pt x="6632344" y="1292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29"/>
                  </a:lnTo>
                  <a:lnTo>
                    <a:pt x="24576" y="15256"/>
                  </a:lnTo>
                  <a:lnTo>
                    <a:pt x="19685" y="19685"/>
                  </a:lnTo>
                </a:path>
                <a:path w="6686550" h="1355725">
                  <a:moveTo>
                    <a:pt x="19685" y="1335900"/>
                  </a:moveTo>
                  <a:lnTo>
                    <a:pt x="54116" y="1354293"/>
                  </a:lnTo>
                  <a:lnTo>
                    <a:pt x="67233" y="1355585"/>
                  </a:lnTo>
                  <a:lnTo>
                    <a:pt x="6614464" y="1355585"/>
                  </a:lnTo>
                  <a:lnTo>
                    <a:pt x="6656585" y="1344255"/>
                  </a:lnTo>
                  <a:lnTo>
                    <a:pt x="6661886" y="1340328"/>
                  </a:lnTo>
                  <a:lnTo>
                    <a:pt x="6666776" y="1335900"/>
                  </a:lnTo>
                </a:path>
                <a:path w="6686550" h="1355725">
                  <a:moveTo>
                    <a:pt x="19685" y="19685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283589"/>
                  </a:lnTo>
                  <a:lnTo>
                    <a:pt x="11329" y="1325705"/>
                  </a:lnTo>
                  <a:lnTo>
                    <a:pt x="15256" y="1331008"/>
                  </a:lnTo>
                  <a:lnTo>
                    <a:pt x="19685" y="1335900"/>
                  </a:lnTo>
                </a:path>
                <a:path w="6686550" h="1355725">
                  <a:moveTo>
                    <a:pt x="6666776" y="1335900"/>
                  </a:moveTo>
                  <a:lnTo>
                    <a:pt x="6685176" y="1301469"/>
                  </a:lnTo>
                  <a:lnTo>
                    <a:pt x="6686473" y="1288351"/>
                  </a:lnTo>
                  <a:lnTo>
                    <a:pt x="6686473" y="71996"/>
                  </a:lnTo>
                  <a:lnTo>
                    <a:pt x="6675132" y="29879"/>
                  </a:lnTo>
                  <a:lnTo>
                    <a:pt x="6671204" y="24576"/>
                  </a:lnTo>
                  <a:lnTo>
                    <a:pt x="6666776" y="19685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29" name="object 14"/>
          <p:cNvSpPr txBox="1"/>
          <p:nvPr/>
        </p:nvSpPr>
        <p:spPr>
          <a:xfrm>
            <a:off x="5422900" y="1800225"/>
            <a:ext cx="29718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10.5	</a:t>
            </a: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sz="1100" dirty="0">
                <a:latin typeface="Century Gothic"/>
                <a:cs typeface="Century Gothic"/>
              </a:rPr>
              <a:t/>
            </a:r>
          </a:p>
        </p:txBody>
      </p:sp>
      <p:sp>
        <p:nvSpPr>
          <p:cNvPr id="30" name="object 14"/>
          <p:cNvSpPr txBox="1"/>
          <p:nvPr/>
        </p:nvSpPr>
        <p:spPr>
          <a:xfrm>
            <a:off x="7721600" y="1800225"/>
            <a:ext cx="29718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5	</a:t>
            </a: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sz="1100" dirty="0">
                <a:latin typeface="Century Gothic"/>
                <a:cs typeface="Century Gothic"/>
              </a:rPr>
              <a:t/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6032500" y="2638425"/>
            <a:ext cx="2002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34	</a:t>
            </a:r>
            <a:r>
              <a:rPr lang="ru-RU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r>
              <a:rPr sz="1400" dirty="0">
                <a:latin typeface="Century Gothic"/>
                <a:cs typeface="Century Gothic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2994" y="4646740"/>
            <a:ext cx="6207125" cy="2479040"/>
            <a:chOff x="3692994" y="4646740"/>
            <a:chExt cx="6207125" cy="2479040"/>
          </a:xfrm>
        </p:grpSpPr>
        <p:sp>
          <p:nvSpPr>
            <p:cNvPr id="32" name="object 32"/>
            <p:cNvSpPr/>
            <p:nvPr/>
          </p:nvSpPr>
          <p:spPr>
            <a:xfrm>
              <a:off x="3702519" y="5998058"/>
              <a:ext cx="3128010" cy="1118235"/>
            </a:xfrm>
            <a:custGeom>
              <a:avLst/>
              <a:gdLst/>
              <a:ahLst/>
              <a:cxnLst/>
              <a:rect l="l" t="t" r="r" b="b"/>
              <a:pathLst>
                <a:path w="3128009" h="1118234">
                  <a:moveTo>
                    <a:pt x="3088563" y="39382"/>
                  </a:moveTo>
                  <a:lnTo>
                    <a:pt x="3056868" y="15879"/>
                  </a:lnTo>
                  <a:lnTo>
                    <a:pt x="3019713" y="2589"/>
                  </a:lnTo>
                  <a:lnTo>
                    <a:pt x="2993478" y="0"/>
                  </a:lnTo>
                  <a:lnTo>
                    <a:pt x="134480" y="0"/>
                  </a:lnTo>
                  <a:lnTo>
                    <a:pt x="95443" y="5791"/>
                  </a:lnTo>
                  <a:lnTo>
                    <a:pt x="59774" y="22666"/>
                  </a:lnTo>
                  <a:lnTo>
                    <a:pt x="49174" y="30524"/>
                  </a:lnTo>
                  <a:lnTo>
                    <a:pt x="39395" y="39382"/>
                  </a:lnTo>
                </a:path>
                <a:path w="3128009" h="1118234">
                  <a:moveTo>
                    <a:pt x="39395" y="1078420"/>
                  </a:moveTo>
                  <a:lnTo>
                    <a:pt x="71090" y="1101930"/>
                  </a:lnTo>
                  <a:lnTo>
                    <a:pt x="108245" y="1115221"/>
                  </a:lnTo>
                  <a:lnTo>
                    <a:pt x="134480" y="1117815"/>
                  </a:lnTo>
                  <a:lnTo>
                    <a:pt x="2983953" y="1117815"/>
                  </a:lnTo>
                  <a:lnTo>
                    <a:pt x="3032367" y="1112018"/>
                  </a:lnTo>
                  <a:lnTo>
                    <a:pt x="3068185" y="1095143"/>
                  </a:lnTo>
                  <a:lnTo>
                    <a:pt x="3078784" y="1087284"/>
                  </a:lnTo>
                  <a:lnTo>
                    <a:pt x="3088563" y="1078420"/>
                  </a:lnTo>
                </a:path>
                <a:path w="3128009" h="1118234">
                  <a:moveTo>
                    <a:pt x="39395" y="39382"/>
                  </a:moveTo>
                  <a:lnTo>
                    <a:pt x="15887" y="71083"/>
                  </a:lnTo>
                  <a:lnTo>
                    <a:pt x="2593" y="108237"/>
                  </a:lnTo>
                  <a:lnTo>
                    <a:pt x="0" y="134467"/>
                  </a:lnTo>
                  <a:lnTo>
                    <a:pt x="0" y="973810"/>
                  </a:lnTo>
                  <a:lnTo>
                    <a:pt x="5797" y="1022223"/>
                  </a:lnTo>
                  <a:lnTo>
                    <a:pt x="22677" y="1058041"/>
                  </a:lnTo>
                  <a:lnTo>
                    <a:pt x="30536" y="1068641"/>
                  </a:lnTo>
                  <a:lnTo>
                    <a:pt x="39395" y="1078420"/>
                  </a:lnTo>
                </a:path>
                <a:path w="3128009" h="1118234">
                  <a:moveTo>
                    <a:pt x="3088563" y="1078420"/>
                  </a:moveTo>
                  <a:lnTo>
                    <a:pt x="3112072" y="1046725"/>
                  </a:lnTo>
                  <a:lnTo>
                    <a:pt x="3125365" y="1009570"/>
                  </a:lnTo>
                  <a:lnTo>
                    <a:pt x="3127959" y="983335"/>
                  </a:lnTo>
                  <a:lnTo>
                    <a:pt x="3127959" y="143992"/>
                  </a:lnTo>
                  <a:lnTo>
                    <a:pt x="3122162" y="95584"/>
                  </a:lnTo>
                  <a:lnTo>
                    <a:pt x="3105281" y="59766"/>
                  </a:lnTo>
                  <a:lnTo>
                    <a:pt x="3097422" y="49163"/>
                  </a:lnTo>
                  <a:lnTo>
                    <a:pt x="3088563" y="39382"/>
                  </a:lnTo>
                </a:path>
              </a:pathLst>
            </a:custGeom>
            <a:ln w="19050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9996" y="4646740"/>
              <a:ext cx="1799996" cy="1799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94" y="6054966"/>
            <a:ext cx="9900285" cy="989330"/>
            <a:chOff x="359994" y="6054966"/>
            <a:chExt cx="9900285" cy="989330"/>
          </a:xfrm>
        </p:grpSpPr>
        <p:sp>
          <p:nvSpPr>
            <p:cNvPr id="14" name="object 14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3997" y="6054966"/>
              <a:ext cx="936002" cy="9360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169035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года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работы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компании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92653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835</a:t>
            </a:r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1700" y="2028825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251700" y="1724025"/>
            <a:ext cx="2438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16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lang="ru-RU" sz="16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050" dirty="0" smtClean="0">
                <a:latin typeface="Century Gothic"/>
                <a:cs typeface="Century Gothic"/>
              </a:rPr>
              <a:t>заключено</a:t>
            </a:r>
            <a:r>
              <a:rPr lang="ru-RU" sz="1050" spc="55" dirty="0" smtClean="0">
                <a:latin typeface="Century Gothic"/>
                <a:cs typeface="Century Gothic"/>
              </a:rPr>
              <a:t> всего </a:t>
            </a:r>
            <a:r>
              <a:rPr lang="ru-RU" sz="1050" spc="65" dirty="0" smtClean="0">
                <a:latin typeface="Century Gothic"/>
                <a:cs typeface="Century Gothic"/>
              </a:rPr>
              <a:t>в вашей</a:t>
            </a:r>
            <a:r>
              <a:rPr lang="ru-RU" sz="1050" spc="55" dirty="0" smtClean="0">
                <a:latin typeface="Century Gothic"/>
                <a:cs typeface="Century Gothic"/>
              </a:rPr>
              <a:t> </a:t>
            </a:r>
            <a:r>
              <a:rPr lang="ru-RU" sz="1050" spc="-10" dirty="0" smtClean="0">
                <a:latin typeface="Century Gothic"/>
                <a:cs typeface="Century Gothic"/>
              </a:rPr>
              <a:t>категории</a:t>
            </a:r>
            <a:endParaRPr lang="ru-RU" sz="1050" dirty="0" smtClean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Прямоугольник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700" y="1800225"/>
            <a:ext cx="4419600" cy="3224841"/>
          </a:xfrm>
          <a:prstGeom prst="rect">
            <a:avLst/>
          </a:prstGeom>
        </p:spPr>
      </p:pic>
      <p:pic>
        <p:nvPicPr>
          <p:cNvPr id="40" name="Прямоугольник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1800225"/>
            <a:ext cx="2438400" cy="1524000"/>
          </a:xfrm>
          <a:prstGeom prst="rect">
            <a:avLst/>
          </a:prstGeom>
        </p:spPr>
      </p:pic>
      <p:pic>
        <p:nvPicPr>
          <p:cNvPr id="41" name="Скругленный прямоугольник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074" y="5305425"/>
            <a:ext cx="2370826" cy="1677838"/>
          </a:xfrm>
          <a:prstGeom prst="rect">
            <a:avLst/>
          </a:prstGeom>
        </p:spPr>
      </p:pic>
      <p:pic>
        <p:nvPicPr>
          <p:cNvPr id="42" name="Скругленный прямоугольник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300" y="5314950"/>
            <a:ext cx="2323381" cy="1683589"/>
          </a:xfrm>
          <a:prstGeom prst="rect">
            <a:avLst/>
          </a:prstGeom>
        </p:spPr>
      </p:pic>
      <p:pic>
        <p:nvPicPr>
          <p:cNvPr id="43" name="Скругленный прямоугольник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5276850"/>
            <a:ext cx="2222500" cy="1689340"/>
          </a:xfrm>
          <a:prstGeom prst="rect">
            <a:avLst/>
          </a:prstGeom>
        </p:spPr>
      </p:pic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42209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«Увелка»</a:t>
              </a:r>
              <a:r>
                <a:rPr lang="en-US" dirty="0" smtClean="0"/>
                <a:t/>
              </a:r>
              <a:endParaRPr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7257525" y="1634728"/>
              <a:ext cx="2366504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«Мельник»</a:t>
              </a:r>
              <a:r>
                <a:rPr lang="en-US" dirty="0" smtClean="0"/>
                <a:t/>
              </a:r>
              <a:endParaRPr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676125" y="4530328"/>
              <a:ext cx="2559536" cy="280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«Роса»</a:t>
              </a:r>
              <a:r>
                <a:rPr lang="en-US" dirty="0" smtClean="0">
                  <a:latin typeface="+mn-lt"/>
                </a:rPr>
                <a:t/>
              </a:r>
              <a:r>
                <a:rPr lang="en-US" dirty="0" smtClean="0"/>
                <a:t/>
              </a:r>
              <a:endParaRPr lang="en-US" sz="1100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pic>
        <p:nvPicPr>
          <p:cNvPr id="59" name="Прямоугольник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1419225"/>
            <a:ext cx="914400" cy="5779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Иван Петров</a:t>
            </a:r>
            <a:r>
              <a:rPr lang="en-US" sz="1100" dirty="0" smtClean="0"/>
              <a:t/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«Мы используем Центр Закупок Сетей™ как основную площадку для расширения сбыта. Участвуя всего дважды в год, нам удается оперативно презентовать наши инновационные линейки круп в варочных пакетиках. За последние два сезона провели более 30 переговоров с федеральными и региональными игроками, включая «Ленту», «Верный» и «Азбуку вкуса». Экономия времени и ресурсов колоссальная».</a:t>
            </a:r>
            <a:r>
              <a:rPr lang="en-US" sz="1000" dirty="0" smtClean="0">
                <a:solidFill>
                  <a:schemeClr val="tx1"/>
                </a:solidFill>
              </a:rPr>
              <a:t/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60" name="Прямоугольник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700" y="1419225"/>
            <a:ext cx="897147" cy="577969"/>
          </a:xfrm>
          <a:prstGeom prst="rect">
            <a:avLst/>
          </a:prstGeom>
        </p:spPr>
      </p:pic>
      <p:pic>
        <p:nvPicPr>
          <p:cNvPr id="61" name="Прямоугольник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4238625"/>
            <a:ext cx="897147" cy="57796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Анна Соколова</a:t>
            </a:r>
            <a:r>
              <a:rPr lang="en-US" sz="1100" dirty="0" smtClean="0"/>
              <a:t/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175500" y="2486025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«Разрозненные встречи с покупателями по всей стране — это прошлый век. В Центре Закупок Сетей™ мы за два дня решаем задачи, на которые раньше уходили месяцы. На последнем мероприятии мы заключили договоренности о поставках с 7 новыми региональными сетями, что позволило нам увеличить плановый объем отгрузки на 20%».</a:t>
            </a:r>
            <a:r>
              <a:rPr lang="en-US" sz="1000" dirty="0"/>
              <a:t/>
            </a:r>
            <a:r>
              <a:rPr lang="en-US" sz="1000" dirty="0" smtClean="0">
                <a:latin typeface="+mn-lt"/>
              </a:rPr>
              <a:t/>
            </a:r>
            <a:r>
              <a:rPr lang="en-US" sz="1000" dirty="0" smtClean="0"/>
              <a:t/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Елена Воробьева</a:t>
            </a:r>
            <a:r>
              <a:rPr lang="en-US" sz="1100" dirty="0" smtClean="0"/>
              <a:t/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1" y="50768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«Для нас, как для производителя с более чем 150 SKU, важно показать товар лицом. Центр Закупок Сетей™ дает такую возможность: мы участвуем раз в квартал и за год провели 45 переговоров с закупщиками. Итогом стали контракты с «О`КЕЙ», «Магнитом» и сетями «Хороший выбор». Это лучший способ быстро масштабировать свое присутствие на полках». |</a:t>
            </a:r>
            <a:r>
              <a:rPr lang="en-US" sz="1000" dirty="0" smtClean="0"/>
              <a:t/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Юлия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203263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err="1" smtClean="0">
                <a:latin typeface="Century Gothic"/>
                <a:cs typeface="Century Gothic"/>
              </a:rPr>
              <a:t>Мункуева</a:t>
            </a:r>
            <a:r>
              <a:rPr lang="ru-RU" sz="1800" spc="85" dirty="0" smtClean="0">
                <a:latin typeface="Century Gothic"/>
                <a:cs typeface="Century Gothic"/>
              </a:rPr>
              <a:t> </a:t>
            </a:r>
            <a:r>
              <a:rPr lang="ru-RU" sz="1800" spc="-25" dirty="0" smtClean="0">
                <a:latin typeface="Century Gothic"/>
                <a:cs typeface="Century Gothic"/>
              </a:rPr>
              <a:t>Зоя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 году наши клиенты провели 251 переговоров и заключили 201 предварительных контрактов по категории «Молочная продукция Сыры». Уверены, вместе мы займем полки в нужных вам сетях».</a:t>
            </a:r>
            <a:r>
              <a:rPr sz="1200" spc="5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50" dirty="0">
                <a:latin typeface="Century Gothic"/>
                <a:cs typeface="Century Gothic"/>
              </a:rPr>
              <a:t/>
            </a:r>
            <a:r>
              <a:rPr sz="1200" spc="5" dirty="0">
                <a:latin typeface="Century Gothic"/>
                <a:cs typeface="Century Gothic"/>
              </a:rPr>
              <a:t/>
            </a:r>
            <a:r>
              <a:rPr sz="1200" dirty="0" err="1">
                <a:latin typeface="Century Gothic"/>
                <a:cs typeface="Century Gothic"/>
              </a:rPr>
              <a:t/>
            </a:r>
            <a:r>
              <a:rPr sz="1200" spc="5" dirty="0">
                <a:latin typeface="Century Gothic"/>
                <a:cs typeface="Century Gothic"/>
              </a:rPr>
              <a:t/>
            </a:r>
            <a:r>
              <a:rPr sz="1200" dirty="0" err="1" smtClean="0">
                <a:latin typeface="Century Gothic"/>
                <a:cs typeface="Century Gothic"/>
              </a:rPr>
              <a:t/>
            </a:r>
            <a:r>
              <a:rPr sz="1200" spc="5" dirty="0" smtClean="0">
                <a:latin typeface="Century Gothic"/>
                <a:cs typeface="Century Gothic"/>
              </a:rPr>
              <a:t/>
            </a:r>
            <a:r>
              <a:rPr lang="en-US" sz="1200" spc="5" dirty="0" smtClean="0">
                <a:latin typeface="Century Gothic"/>
                <a:cs typeface="Century Gothic"/>
              </a:rPr>
              <a:t/>
            </a:r>
            <a:r>
              <a:rPr sz="1200" spc="-25" dirty="0" smtClean="0">
                <a:latin typeface="Century Gothic"/>
                <a:cs typeface="Century Gothic"/>
              </a:rPr>
              <a:t/>
            </a:r>
            <a:r>
              <a:rPr lang="en-US" sz="1200" spc="-25" dirty="0" smtClean="0">
                <a:latin typeface="Century Gothic"/>
                <a:cs typeface="Century Gothic"/>
              </a:rPr>
              <a:t/>
            </a:r>
            <a:r>
              <a:rPr sz="1200" spc="-25" dirty="0" smtClean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65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65" dirty="0">
                <a:latin typeface="Century Gothic"/>
                <a:cs typeface="Century Gothic"/>
              </a:rPr>
              <a:t/>
            </a:r>
            <a:r>
              <a:rPr sz="1200" dirty="0" err="1">
                <a:latin typeface="Century Gothic"/>
                <a:cs typeface="Century Gothic"/>
              </a:rPr>
              <a:t/>
            </a:r>
            <a:r>
              <a:rPr sz="1200" spc="70" dirty="0">
                <a:latin typeface="Century Gothic"/>
                <a:cs typeface="Century Gothic"/>
              </a:rPr>
              <a:t/>
            </a:r>
            <a:r>
              <a:rPr lang="en-US" sz="1200" dirty="0" smtClean="0">
                <a:latin typeface="Century Gothic"/>
                <a:cs typeface="Century Gothic"/>
              </a:rPr>
              <a:t/>
            </a:r>
            <a:r>
              <a:rPr sz="1200" spc="65" dirty="0" smtClean="0">
                <a:latin typeface="Century Gothic"/>
                <a:cs typeface="Century Gothic"/>
              </a:rPr>
              <a:t/>
            </a:r>
            <a:r>
              <a:rPr sz="1200" spc="-10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25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20" dirty="0">
                <a:latin typeface="Century Gothic"/>
                <a:cs typeface="Century Gothic"/>
              </a:rPr>
              <a:t/>
            </a:r>
            <a:r>
              <a:rPr sz="1200" dirty="0" err="1">
                <a:latin typeface="Century Gothic"/>
                <a:cs typeface="Century Gothic"/>
              </a:rPr>
              <a:t/>
            </a:r>
            <a:r>
              <a:rPr sz="1200" spc="-20" dirty="0">
                <a:latin typeface="Century Gothic"/>
                <a:cs typeface="Century Gothic"/>
              </a:rPr>
              <a:t/>
            </a:r>
            <a:r>
              <a:rPr lang="en-US" sz="1200" spc="-20" dirty="0" smtClean="0">
                <a:latin typeface="Century Gothic"/>
                <a:cs typeface="Century Gothic"/>
              </a:rPr>
              <a:t/>
            </a:r>
            <a:r>
              <a:rPr sz="1200" spc="-10" dirty="0" smtClean="0">
                <a:latin typeface="Century Gothic"/>
                <a:cs typeface="Century Gothic"/>
              </a:rPr>
              <a:t/>
            </a:r>
            <a:r>
              <a:rPr sz="1200" spc="-20" dirty="0" smtClean="0">
                <a:latin typeface="Century Gothic"/>
                <a:cs typeface="Century Gothic"/>
              </a:rPr>
              <a:t/>
            </a:r>
            <a:r>
              <a:rPr sz="1200" spc="-10" dirty="0">
                <a:latin typeface="Century Gothic"/>
                <a:cs typeface="Century Gothic"/>
              </a:rPr>
              <a:t/>
            </a:r>
            <a:r>
              <a:rPr sz="1200" spc="-55" dirty="0">
                <a:latin typeface="Century Gothic"/>
                <a:cs typeface="Century Gothic"/>
              </a:rPr>
              <a:t/>
            </a:r>
            <a:r>
              <a:rPr sz="1200" spc="-90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45" dirty="0">
                <a:latin typeface="Century Gothic"/>
                <a:cs typeface="Century Gothic"/>
              </a:rPr>
              <a:t/>
            </a:r>
            <a:r>
              <a:rPr sz="1200" spc="-25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30" dirty="0">
                <a:latin typeface="Century Gothic"/>
                <a:cs typeface="Century Gothic"/>
              </a:rPr>
              <a:t/>
            </a:r>
            <a:r>
              <a:rPr sz="1200" spc="75" dirty="0">
                <a:latin typeface="Century Gothic"/>
                <a:cs typeface="Century Gothic"/>
              </a:rPr>
              <a:t/>
            </a:r>
            <a:r>
              <a:rPr sz="1200" spc="-25" dirty="0">
                <a:latin typeface="Century Gothic"/>
                <a:cs typeface="Century Gothic"/>
              </a:rPr>
              <a:t/>
            </a:r>
            <a:r>
              <a:rPr sz="1200" dirty="0">
                <a:latin typeface="Century Gothic"/>
                <a:cs typeface="Century Gothic"/>
              </a:rPr>
              <a:t/>
            </a:r>
            <a:r>
              <a:rPr sz="1200" spc="-25" dirty="0">
                <a:latin typeface="Century Gothic"/>
                <a:cs typeface="Century Gothic"/>
              </a:rPr>
              <a:t/>
            </a:r>
            <a:r>
              <a:rPr sz="1200" spc="-10" dirty="0">
                <a:latin typeface="Century Gothic"/>
                <a:cs typeface="Century Gothic"/>
              </a:rPr>
              <a:t/>
            </a:r>
            <a:r>
              <a:rPr sz="1200" spc="-25" dirty="0">
                <a:latin typeface="Century Gothic"/>
                <a:cs typeface="Century Gothic"/>
              </a:rPr>
              <a:t/>
            </a:r>
            <a:r>
              <a:rPr sz="1200" spc="-10" dirty="0">
                <a:latin typeface="Century Gothic"/>
                <a:cs typeface="Century Gothic"/>
              </a:rPr>
              <a:t/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1872614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ru-RU" sz="1200" spc="-10" dirty="0" smtClean="0">
                <a:latin typeface="Century Gothic"/>
                <a:cs typeface="Century Gothic"/>
              </a:rPr>
              <a:t>+79006574280</a:t>
            </a:r>
            <a:endParaRPr lang="ru-RU" sz="12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247" y="3433724"/>
            <a:ext cx="1887855" cy="900430"/>
            <a:chOff x="7472247" y="3433724"/>
            <a:chExt cx="1887855" cy="900430"/>
          </a:xfrm>
        </p:grpSpPr>
        <p:sp>
          <p:nvSpPr>
            <p:cNvPr id="19" name="object 19">
              <a:hlinkClick r:id="rId7"/>
            </p:cNvPr>
            <p:cNvSpPr/>
            <p:nvPr/>
          </p:nvSpPr>
          <p:spPr>
            <a:xfrm>
              <a:off x="7472247" y="345420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734" y="0"/>
                  </a:moveTo>
                  <a:lnTo>
                    <a:pt x="96935" y="7225"/>
                  </a:lnTo>
                  <a:lnTo>
                    <a:pt x="58028" y="27346"/>
                  </a:lnTo>
                  <a:lnTo>
                    <a:pt x="27346" y="58028"/>
                  </a:lnTo>
                  <a:lnTo>
                    <a:pt x="7225" y="96935"/>
                  </a:lnTo>
                  <a:lnTo>
                    <a:pt x="0" y="141734"/>
                  </a:lnTo>
                  <a:lnTo>
                    <a:pt x="7225" y="186531"/>
                  </a:lnTo>
                  <a:lnTo>
                    <a:pt x="27346" y="225436"/>
                  </a:lnTo>
                  <a:lnTo>
                    <a:pt x="58028" y="256115"/>
                  </a:lnTo>
                  <a:lnTo>
                    <a:pt x="96935" y="276234"/>
                  </a:lnTo>
                  <a:lnTo>
                    <a:pt x="141734" y="283459"/>
                  </a:lnTo>
                  <a:lnTo>
                    <a:pt x="186531" y="276234"/>
                  </a:lnTo>
                  <a:lnTo>
                    <a:pt x="225436" y="256115"/>
                  </a:lnTo>
                  <a:lnTo>
                    <a:pt x="256115" y="225436"/>
                  </a:lnTo>
                  <a:lnTo>
                    <a:pt x="276234" y="186531"/>
                  </a:lnTo>
                  <a:lnTo>
                    <a:pt x="283459" y="141734"/>
                  </a:lnTo>
                  <a:lnTo>
                    <a:pt x="276234" y="96935"/>
                  </a:lnTo>
                  <a:lnTo>
                    <a:pt x="256115" y="58028"/>
                  </a:lnTo>
                  <a:lnTo>
                    <a:pt x="225436" y="27346"/>
                  </a:lnTo>
                  <a:lnTo>
                    <a:pt x="186531" y="7225"/>
                  </a:lnTo>
                  <a:lnTo>
                    <a:pt x="141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2498" y="3474458"/>
              <a:ext cx="242965" cy="242963"/>
            </a:xfrm>
            <a:prstGeom prst="rect">
              <a:avLst/>
            </a:prstGeom>
          </p:spPr>
        </p:pic>
        <p:sp>
          <p:nvSpPr>
            <p:cNvPr id="21" name="object 21">
              <a:hlinkClick r:id="rId9"/>
            </p:cNvPr>
            <p:cNvSpPr/>
            <p:nvPr/>
          </p:nvSpPr>
          <p:spPr>
            <a:xfrm>
              <a:off x="7784999" y="344297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269" y="0"/>
                  </a:moveTo>
                  <a:lnTo>
                    <a:pt x="124269" y="6046"/>
                  </a:lnTo>
                  <a:lnTo>
                    <a:pt x="83834" y="23109"/>
                  </a:lnTo>
                  <a:lnTo>
                    <a:pt x="49576" y="49576"/>
                  </a:lnTo>
                  <a:lnTo>
                    <a:pt x="23109" y="83834"/>
                  </a:lnTo>
                  <a:lnTo>
                    <a:pt x="6046" y="124269"/>
                  </a:lnTo>
                  <a:lnTo>
                    <a:pt x="0" y="169269"/>
                  </a:lnTo>
                  <a:lnTo>
                    <a:pt x="6046" y="214269"/>
                  </a:lnTo>
                  <a:lnTo>
                    <a:pt x="23109" y="254705"/>
                  </a:lnTo>
                  <a:lnTo>
                    <a:pt x="49576" y="288966"/>
                  </a:lnTo>
                  <a:lnTo>
                    <a:pt x="83834" y="315435"/>
                  </a:lnTo>
                  <a:lnTo>
                    <a:pt x="124269" y="332500"/>
                  </a:lnTo>
                  <a:lnTo>
                    <a:pt x="169269" y="338547"/>
                  </a:lnTo>
                  <a:lnTo>
                    <a:pt x="214269" y="332500"/>
                  </a:lnTo>
                  <a:lnTo>
                    <a:pt x="254705" y="315435"/>
                  </a:lnTo>
                  <a:lnTo>
                    <a:pt x="288966" y="288966"/>
                  </a:lnTo>
                  <a:lnTo>
                    <a:pt x="315435" y="254705"/>
                  </a:lnTo>
                  <a:lnTo>
                    <a:pt x="332500" y="214269"/>
                  </a:lnTo>
                  <a:lnTo>
                    <a:pt x="338547" y="169269"/>
                  </a:lnTo>
                  <a:lnTo>
                    <a:pt x="332500" y="124269"/>
                  </a:lnTo>
                  <a:lnTo>
                    <a:pt x="315435" y="83834"/>
                  </a:lnTo>
                  <a:lnTo>
                    <a:pt x="288966" y="49576"/>
                  </a:lnTo>
                  <a:lnTo>
                    <a:pt x="254705" y="23109"/>
                  </a:lnTo>
                  <a:lnTo>
                    <a:pt x="214269" y="6046"/>
                  </a:lnTo>
                  <a:lnTo>
                    <a:pt x="169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hlinkClick r:id="rId9"/>
            </p:cNvPr>
            <p:cNvSpPr/>
            <p:nvPr/>
          </p:nvSpPr>
          <p:spPr>
            <a:xfrm>
              <a:off x="7811604" y="347035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23909" y="264338"/>
                  </a:moveTo>
                  <a:lnTo>
                    <a:pt x="65231" y="264338"/>
                  </a:lnTo>
                  <a:lnTo>
                    <a:pt x="70636" y="267939"/>
                  </a:lnTo>
                  <a:lnTo>
                    <a:pt x="88502" y="276353"/>
                  </a:lnTo>
                  <a:lnTo>
                    <a:pt x="106876" y="282574"/>
                  </a:lnTo>
                  <a:lnTo>
                    <a:pt x="125588" y="286432"/>
                  </a:lnTo>
                  <a:lnTo>
                    <a:pt x="144469" y="287756"/>
                  </a:lnTo>
                  <a:lnTo>
                    <a:pt x="164251" y="286432"/>
                  </a:lnTo>
                  <a:lnTo>
                    <a:pt x="164533" y="286432"/>
                  </a:lnTo>
                  <a:lnTo>
                    <a:pt x="184536" y="282350"/>
                  </a:lnTo>
                  <a:lnTo>
                    <a:pt x="203727" y="275596"/>
                  </a:lnTo>
                  <a:lnTo>
                    <a:pt x="221903" y="266143"/>
                  </a:lnTo>
                  <a:lnTo>
                    <a:pt x="223909" y="264338"/>
                  </a:lnTo>
                  <a:close/>
                </a:path>
                <a:path w="288290" h="288289">
                  <a:moveTo>
                    <a:pt x="154511" y="0"/>
                  </a:moveTo>
                  <a:lnTo>
                    <a:pt x="109952" y="3616"/>
                  </a:lnTo>
                  <a:lnTo>
                    <a:pt x="67036" y="21236"/>
                  </a:lnTo>
                  <a:lnTo>
                    <a:pt x="32617" y="51346"/>
                  </a:lnTo>
                  <a:lnTo>
                    <a:pt x="9955" y="89667"/>
                  </a:lnTo>
                  <a:lnTo>
                    <a:pt x="0" y="132741"/>
                  </a:lnTo>
                  <a:lnTo>
                    <a:pt x="3703" y="177111"/>
                  </a:lnTo>
                  <a:lnTo>
                    <a:pt x="22016" y="219318"/>
                  </a:lnTo>
                  <a:lnTo>
                    <a:pt x="25616" y="224724"/>
                  </a:lnTo>
                  <a:lnTo>
                    <a:pt x="11214" y="278750"/>
                  </a:lnTo>
                  <a:lnTo>
                    <a:pt x="65231" y="264338"/>
                  </a:lnTo>
                  <a:lnTo>
                    <a:pt x="223909" y="264338"/>
                  </a:lnTo>
                  <a:lnTo>
                    <a:pt x="256148" y="235329"/>
                  </a:lnTo>
                  <a:lnTo>
                    <a:pt x="262099" y="225061"/>
                  </a:lnTo>
                  <a:lnTo>
                    <a:pt x="194158" y="225061"/>
                  </a:lnTo>
                  <a:lnTo>
                    <a:pt x="184985" y="224724"/>
                  </a:lnTo>
                  <a:lnTo>
                    <a:pt x="148070" y="213922"/>
                  </a:lnTo>
                  <a:lnTo>
                    <a:pt x="106429" y="186232"/>
                  </a:lnTo>
                  <a:lnTo>
                    <a:pt x="74237" y="149095"/>
                  </a:lnTo>
                  <a:lnTo>
                    <a:pt x="56234" y="104075"/>
                  </a:lnTo>
                  <a:lnTo>
                    <a:pt x="57218" y="93633"/>
                  </a:lnTo>
                  <a:lnTo>
                    <a:pt x="77837" y="62655"/>
                  </a:lnTo>
                  <a:lnTo>
                    <a:pt x="263683" y="62655"/>
                  </a:lnTo>
                  <a:lnTo>
                    <a:pt x="236109" y="32011"/>
                  </a:lnTo>
                  <a:lnTo>
                    <a:pt x="197601" y="9695"/>
                  </a:lnTo>
                  <a:lnTo>
                    <a:pt x="154511" y="0"/>
                  </a:lnTo>
                  <a:close/>
                </a:path>
                <a:path w="288290" h="288289">
                  <a:moveTo>
                    <a:pt x="285556" y="165302"/>
                  </a:moveTo>
                  <a:lnTo>
                    <a:pt x="189489" y="165302"/>
                  </a:lnTo>
                  <a:lnTo>
                    <a:pt x="229104" y="185109"/>
                  </a:lnTo>
                  <a:lnTo>
                    <a:pt x="230909" y="186905"/>
                  </a:lnTo>
                  <a:lnTo>
                    <a:pt x="232704" y="192310"/>
                  </a:lnTo>
                  <a:lnTo>
                    <a:pt x="232704" y="199511"/>
                  </a:lnTo>
                  <a:lnTo>
                    <a:pt x="200291" y="224724"/>
                  </a:lnTo>
                  <a:lnTo>
                    <a:pt x="194158" y="225061"/>
                  </a:lnTo>
                  <a:lnTo>
                    <a:pt x="262099" y="225061"/>
                  </a:lnTo>
                  <a:lnTo>
                    <a:pt x="278464" y="196821"/>
                  </a:lnTo>
                  <a:lnTo>
                    <a:pt x="285556" y="165302"/>
                  </a:lnTo>
                  <a:close/>
                </a:path>
                <a:path w="288290" h="288289">
                  <a:moveTo>
                    <a:pt x="263683" y="62655"/>
                  </a:moveTo>
                  <a:lnTo>
                    <a:pt x="97644" y="62655"/>
                  </a:lnTo>
                  <a:lnTo>
                    <a:pt x="99449" y="69856"/>
                  </a:lnTo>
                  <a:lnTo>
                    <a:pt x="107103" y="88763"/>
                  </a:lnTo>
                  <a:lnTo>
                    <a:pt x="110592" y="97710"/>
                  </a:lnTo>
                  <a:lnTo>
                    <a:pt x="112056" y="102270"/>
                  </a:lnTo>
                  <a:lnTo>
                    <a:pt x="113851" y="104075"/>
                  </a:lnTo>
                  <a:lnTo>
                    <a:pt x="113851" y="107675"/>
                  </a:lnTo>
                  <a:lnTo>
                    <a:pt x="112056" y="109471"/>
                  </a:lnTo>
                  <a:lnTo>
                    <a:pt x="113851" y="113071"/>
                  </a:lnTo>
                  <a:lnTo>
                    <a:pt x="112056" y="116681"/>
                  </a:lnTo>
                  <a:lnTo>
                    <a:pt x="108455" y="120282"/>
                  </a:lnTo>
                  <a:lnTo>
                    <a:pt x="106650" y="123882"/>
                  </a:lnTo>
                  <a:lnTo>
                    <a:pt x="104855" y="125678"/>
                  </a:lnTo>
                  <a:lnTo>
                    <a:pt x="101245" y="127483"/>
                  </a:lnTo>
                  <a:lnTo>
                    <a:pt x="99449" y="131083"/>
                  </a:lnTo>
                  <a:lnTo>
                    <a:pt x="101245" y="134684"/>
                  </a:lnTo>
                  <a:lnTo>
                    <a:pt x="126457" y="165302"/>
                  </a:lnTo>
                  <a:lnTo>
                    <a:pt x="160676" y="186905"/>
                  </a:lnTo>
                  <a:lnTo>
                    <a:pt x="164277" y="188710"/>
                  </a:lnTo>
                  <a:lnTo>
                    <a:pt x="167877" y="188710"/>
                  </a:lnTo>
                  <a:lnTo>
                    <a:pt x="171477" y="181509"/>
                  </a:lnTo>
                  <a:lnTo>
                    <a:pt x="187684" y="165302"/>
                  </a:lnTo>
                  <a:lnTo>
                    <a:pt x="285556" y="165302"/>
                  </a:lnTo>
                  <a:lnTo>
                    <a:pt x="288159" y="153731"/>
                  </a:lnTo>
                  <a:lnTo>
                    <a:pt x="284567" y="109471"/>
                  </a:lnTo>
                  <a:lnTo>
                    <a:pt x="284543" y="109172"/>
                  </a:lnTo>
                  <a:lnTo>
                    <a:pt x="266923" y="66256"/>
                  </a:lnTo>
                  <a:lnTo>
                    <a:pt x="263683" y="62655"/>
                  </a:lnTo>
                  <a:close/>
                </a:path>
              </a:pathLst>
            </a:custGeom>
            <a:solidFill>
              <a:srgbClr val="29AE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4"/>
                  </a:lnTo>
                  <a:lnTo>
                    <a:pt x="7379" y="99000"/>
                  </a:lnTo>
                  <a:lnTo>
                    <a:pt x="0" y="144754"/>
                  </a:lnTo>
                  <a:lnTo>
                    <a:pt x="7379" y="190502"/>
                  </a:lnTo>
                  <a:lnTo>
                    <a:pt x="27929" y="230235"/>
                  </a:lnTo>
                  <a:lnTo>
                    <a:pt x="59264" y="261568"/>
                  </a:lnTo>
                  <a:lnTo>
                    <a:pt x="99000" y="282116"/>
                  </a:lnTo>
                  <a:lnTo>
                    <a:pt x="144754" y="289496"/>
                  </a:lnTo>
                  <a:lnTo>
                    <a:pt x="190502" y="282116"/>
                  </a:lnTo>
                  <a:lnTo>
                    <a:pt x="230235" y="261568"/>
                  </a:lnTo>
                  <a:lnTo>
                    <a:pt x="261568" y="230235"/>
                  </a:lnTo>
                  <a:lnTo>
                    <a:pt x="282116" y="190502"/>
                  </a:lnTo>
                  <a:lnTo>
                    <a:pt x="289496" y="144754"/>
                  </a:lnTo>
                  <a:lnTo>
                    <a:pt x="282116" y="99000"/>
                  </a:lnTo>
                  <a:lnTo>
                    <a:pt x="261568" y="59264"/>
                  </a:lnTo>
                  <a:lnTo>
                    <a:pt x="230235" y="27929"/>
                  </a:lnTo>
                  <a:lnTo>
                    <a:pt x="190502" y="7379"/>
                  </a:lnTo>
                  <a:lnTo>
                    <a:pt x="144754" y="0"/>
                  </a:lnTo>
                  <a:close/>
                </a:path>
              </a:pathLst>
            </a:custGeom>
            <a:solidFill>
              <a:srgbClr val="214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190502" y="7379"/>
                  </a:lnTo>
                  <a:lnTo>
                    <a:pt x="230235" y="27929"/>
                  </a:lnTo>
                  <a:lnTo>
                    <a:pt x="261568" y="59264"/>
                  </a:lnTo>
                  <a:lnTo>
                    <a:pt x="282116" y="99000"/>
                  </a:lnTo>
                  <a:lnTo>
                    <a:pt x="289496" y="144754"/>
                  </a:lnTo>
                  <a:lnTo>
                    <a:pt x="282116" y="190502"/>
                  </a:lnTo>
                  <a:lnTo>
                    <a:pt x="261568" y="230235"/>
                  </a:lnTo>
                  <a:lnTo>
                    <a:pt x="230235" y="261568"/>
                  </a:lnTo>
                  <a:lnTo>
                    <a:pt x="190502" y="282116"/>
                  </a:lnTo>
                  <a:lnTo>
                    <a:pt x="144754" y="289496"/>
                  </a:lnTo>
                  <a:lnTo>
                    <a:pt x="99000" y="282116"/>
                  </a:lnTo>
                  <a:lnTo>
                    <a:pt x="59264" y="261568"/>
                  </a:lnTo>
                  <a:lnTo>
                    <a:pt x="27929" y="230235"/>
                  </a:lnTo>
                  <a:lnTo>
                    <a:pt x="7379" y="190502"/>
                  </a:lnTo>
                  <a:lnTo>
                    <a:pt x="0" y="144754"/>
                  </a:lnTo>
                  <a:lnTo>
                    <a:pt x="7379" y="99000"/>
                  </a:lnTo>
                  <a:lnTo>
                    <a:pt x="27929" y="59264"/>
                  </a:lnTo>
                  <a:lnTo>
                    <a:pt x="59264" y="27929"/>
                  </a:lnTo>
                  <a:lnTo>
                    <a:pt x="99000" y="7379"/>
                  </a:lnTo>
                  <a:lnTo>
                    <a:pt x="144754" y="0"/>
                  </a:lnTo>
                  <a:close/>
                </a:path>
              </a:pathLst>
            </a:custGeom>
            <a:ln w="154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7595" y="3534054"/>
              <a:ext cx="181711" cy="1154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0003" y="3433966"/>
              <a:ext cx="899998" cy="8999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13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pic>
        <p:nvPicPr>
          <p:cNvPr id="35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80002" y="1712798"/>
            <a:ext cx="1511998" cy="1511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</TotalTime>
  <Words>666</Words>
  <Application>Microsoft Office PowerPoint</Application>
  <PresentationFormat>Произвольный</PresentationFormat>
  <Paragraphs>173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{{block24}},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13</cp:revision>
  <dcterms:created xsi:type="dcterms:W3CDTF">2026-06-24T08:38:13Z</dcterms:created>
  <dcterms:modified xsi:type="dcterms:W3CDTF">2026-06-25T12:04:38Z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