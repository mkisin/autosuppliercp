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notesSlides/notesSlide1.xml" ContentType="application/vnd.openxmlformats-officedocument.presentationml.notesSlide+xml"/>
  <ns0:Default Extension="png" ContentType="image/png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metadata" ContentType="application/binary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theme/theme2.xml" ContentType="application/vnd.openxmlformats-officedocument.theme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ppt/slideLayouts/slideLayout1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notesSlides/notesSlide6.xml" ContentType="application/vnd.openxmlformats-officedocument.presentationml.notesSlide+xml"/>
  <ns0:Override PartName="/ppt/viewProps.xml" ContentType="application/vnd.openxmlformats-officedocument.presentationml.viewProps+xml"/>
  <ns0:Override PartName="/ppt/slideLayouts/slideLayout9.xml" ContentType="application/vnd.openxmlformats-officedocument.presentationml.slideLayout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279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orient="horz" pos="2614">
          <p15:clr>
            <a:srgbClr val="A4A3A4"/>
          </p15:clr>
        </p15:guide>
        <p15:guide id="5" pos="7401">
          <p15:clr>
            <a:srgbClr val="A4A3A4"/>
          </p15:clr>
        </p15:guide>
        <p15:guide id="6" orient="horz" pos="2047">
          <p15:clr>
            <a:srgbClr val="A4A3A4"/>
          </p15:clr>
        </p15:guide>
        <p15:guide id="7" pos="2389">
          <p15:clr>
            <a:srgbClr val="A4A3A4"/>
          </p15:clr>
        </p15:guide>
        <p15:guide id="8" pos="7680">
          <p15:clr>
            <a:srgbClr val="F26B43"/>
          </p15:clr>
        </p15:guide>
        <p15:guide id="9" pos="7">
          <p15:clr>
            <a:srgbClr val="F26B43"/>
          </p15:clr>
        </p15:guide>
        <p15:guide id="10" pos="370">
          <p15:clr>
            <a:srgbClr val="A4A3A4"/>
          </p15:clr>
        </p15:guide>
        <p15:guide id="11" pos="504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ycLHMzGKAkpP54Qo2s5YLjaRw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4065"/>
        <p:guide orient="horz" pos="255"/>
        <p:guide orient="horz" pos="2614"/>
        <p:guide orient="horz" pos="2047"/>
        <p:guide pos="279"/>
        <p:guide pos="7401"/>
        <p:guide pos="2389"/>
        <p:guide pos="7680"/>
        <p:guide pos="7"/>
        <p:guide pos="370"/>
        <p:guide pos="50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'1.0' encoding='utf-8'?>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1.png" /><Relationship Id="rId7" Type="http://schemas.openxmlformats.org/officeDocument/2006/relationships/image" Target="../media/image9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11" Type="http://schemas.openxmlformats.org/officeDocument/2006/relationships/image" Target="../media/image13.png" /><Relationship Id="rId5" Type="http://schemas.openxmlformats.org/officeDocument/2006/relationships/image" Target="../media/image7.png" /><Relationship Id="rId10" Type="http://schemas.openxmlformats.org/officeDocument/2006/relationships/image" Target="../media/image12.png" /><Relationship Id="rId4" Type="http://schemas.openxmlformats.org/officeDocument/2006/relationships/image" Target="../media/image3.png" /><Relationship Id="rId9" Type="http://schemas.openxmlformats.org/officeDocument/2006/relationships/image" Target="../media/image11.png" /><Relationship Id="rId13" Type="http://schemas.openxmlformats.org/officeDocument/2006/relationships/image" Target="../media/generated_9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18.jpeg"/><Relationship Id="rId9" Type="http://schemas.openxmlformats.org/officeDocument/2006/relationships/image" Target="../media/image9.png"/></Relationships>
</file>

<file path=ppt/slides/_rels/slide5.xml.rels><?xml version='1.0' encoding='utf-8'?>
<Relationships xmlns="http://schemas.openxmlformats.org/package/2006/relationships"><Relationship Id="rId8" Type="http://schemas.openxmlformats.org/officeDocument/2006/relationships/image" Target="../media/image9.png" /><Relationship Id="rId3" Type="http://schemas.openxmlformats.org/officeDocument/2006/relationships/image" Target="../media/image1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11" Type="http://schemas.openxmlformats.org/officeDocument/2006/relationships/image" Target="../media/image13.png" /><Relationship Id="rId5" Type="http://schemas.openxmlformats.org/officeDocument/2006/relationships/image" Target="../media/image23.png" /><Relationship Id="rId10" Type="http://schemas.openxmlformats.org/officeDocument/2006/relationships/image" Target="../media/image24.png" /><Relationship Id="rId4" Type="http://schemas.openxmlformats.org/officeDocument/2006/relationships/image" Target="../media/image22.png" /><Relationship Id="rId9" Type="http://schemas.openxmlformats.org/officeDocument/2006/relationships/image" Target="../media/image11.png" /><Relationship Id="rId12" Type="http://schemas.openxmlformats.org/officeDocument/2006/relationships/image" Target="../media/generated_4.png" /><Relationship Id="rId13" Type="http://schemas.openxmlformats.org/officeDocument/2006/relationships/image" Target="../media/generated_5.png" /><Relationship Id="rId14" Type="http://schemas.openxmlformats.org/officeDocument/2006/relationships/image" Target="../media/generated_6.png" /><Relationship Id="rId15" Type="http://schemas.openxmlformats.org/officeDocument/2006/relationships/image" Target="../media/generated_7.png" /><Relationship Id="rId16" Type="http://schemas.openxmlformats.org/officeDocument/2006/relationships/image" Target="../media/generated_8.png" /></Relationships>
</file>

<file path=ppt/slides/_rels/slide6.xml.rels><?xml version='1.0' encoding='utf-8'?>
<Relationships xmlns="http://schemas.openxmlformats.org/package/2006/relationships"><Relationship Id="rId8" Type="http://schemas.openxmlformats.org/officeDocument/2006/relationships/image" Target="../media/image11.png" /><Relationship Id="rId3" Type="http://schemas.openxmlformats.org/officeDocument/2006/relationships/image" Target="../media/image1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7.png" /><Relationship Id="rId10" Type="http://schemas.openxmlformats.org/officeDocument/2006/relationships/image" Target="../media/image25.png" /><Relationship Id="rId4" Type="http://schemas.openxmlformats.org/officeDocument/2006/relationships/image" Target="../media/image15.png" /><Relationship Id="rId9" Type="http://schemas.openxmlformats.org/officeDocument/2006/relationships/image" Target="../media/image12.png" /><Relationship Id="rId11" Type="http://schemas.openxmlformats.org/officeDocument/2006/relationships/image" Target="../media/generated_1.png" /><Relationship Id="rId12" Type="http://schemas.openxmlformats.org/officeDocument/2006/relationships/image" Target="../media/generated_2.png" /><Relationship Id="rId13" Type="http://schemas.openxmlformats.org/officeDocument/2006/relationships/image" Target="../media/generated_3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424" y="2033205"/>
            <a:ext cx="9156986" cy="4419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5581" y="-2060123"/>
            <a:ext cx="6066984" cy="181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noroot 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16973" y="375270"/>
            <a:ext cx="732115" cy="89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 descr="noroot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09222" y="445439"/>
            <a:ext cx="1046952" cy="82260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763975" y="2636047"/>
            <a:ext cx="8837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>
                <a:solidFill>
                  <a:schemeClr val="lt1"/>
                </a:solidFill>
              </a:rPr>
              <a:t>Как компании ООО "Томское молоко" получить 5-10 контрактов за 2 дня с розничными сетями, проведя 30-40 переговоров</a:t>
            </a:r>
            <a:endParaRPr sz="3600" dirty="0">
              <a:solidFill>
                <a:schemeClr val="lt1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993078" y="5655179"/>
            <a:ext cx="2315700" cy="370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30-40 переговоров</a:t>
            </a:r>
            <a:endParaRPr sz="16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64450" y="5655175"/>
            <a:ext cx="1107300" cy="370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2 дня</a:t>
            </a:r>
            <a:endParaRPr sz="16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23021" y="338354"/>
            <a:ext cx="1225402" cy="9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424" y="404813"/>
            <a:ext cx="3517697" cy="93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0" y="0"/>
            <a:ext cx="12313979" cy="6873051"/>
            <a:chOff x="437414" y="-3810"/>
            <a:chExt cx="12313979" cy="6873051"/>
          </a:xfrm>
        </p:grpSpPr>
        <p:sp>
          <p:nvSpPr>
            <p:cNvPr id="103" name="Google Shape;103;p2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37414" y="1535311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27852" y="1409493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227852" y="1805733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3807042" y="5461819"/>
            <a:ext cx="5328050" cy="994622"/>
          </a:xfrm>
          <a:prstGeom prst="roundRect">
            <a:avLst>
              <a:gd name="adj" fmla="val 5901"/>
            </a:avLst>
          </a:prstGeom>
          <a:gradFill>
            <a:gsLst>
              <a:gs pos="0">
                <a:srgbClr val="1E53A4"/>
              </a:gs>
              <a:gs pos="100000">
                <a:srgbClr val="43C7F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373056" y="5461819"/>
            <a:ext cx="1966901" cy="994622"/>
          </a:xfrm>
          <a:prstGeom prst="roundRect">
            <a:avLst>
              <a:gd name="adj" fmla="val 5901"/>
            </a:avLst>
          </a:prstGeom>
          <a:gradFill>
            <a:gsLst>
              <a:gs pos="0">
                <a:srgbClr val="1E53A4"/>
              </a:gs>
              <a:gs pos="100000">
                <a:srgbClr val="43C7F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5581" y="-2060123"/>
            <a:ext cx="6066984" cy="1819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811298" y="1605064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rgbClr val="255B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93582" y="1605064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255B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11298" y="2108931"/>
            <a:ext cx="144665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811298" y="3116665"/>
            <a:ext cx="151777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Почему мы?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11298" y="3609235"/>
            <a:ext cx="2699804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811298" y="4124399"/>
            <a:ext cx="283677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</a:rPr>
              <a:t>Фото ЦЗС™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11298" y="4628266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3694772" y="468841"/>
            <a:ext cx="79311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Мы работаем для вас</a:t>
            </a:r>
            <a:endParaRPr sz="35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743956" y="1219031"/>
            <a:ext cx="1776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25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лет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764693" y="1832010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деловых переговоров</a:t>
            </a:r>
            <a:endParaRPr dirty="0"/>
          </a:p>
        </p:txBody>
      </p:sp>
      <p:sp>
        <p:nvSpPr>
          <p:cNvPr id="121" name="Google Shape;121;p2"/>
          <p:cNvSpPr/>
          <p:nvPr/>
        </p:nvSpPr>
        <p:spPr>
          <a:xfrm>
            <a:off x="9844815" y="1151875"/>
            <a:ext cx="248282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154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500" dirty="0" smtClean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ЦЗС™</a:t>
            </a:r>
            <a:r>
              <a:rPr lang="ru-RU" sz="2000" dirty="0" smtClean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9938357" y="1810371"/>
            <a:ext cx="23835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проведено нами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7542154" y="1127532"/>
            <a:ext cx="2059545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2 073</a:t>
            </a:r>
            <a:r>
              <a:rPr lang="ru-RU" sz="4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сети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586890" y="1818148"/>
            <a:ext cx="252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закупают на платформе</a:t>
            </a:r>
            <a:endParaRPr dirty="0"/>
          </a:p>
        </p:txBody>
      </p:sp>
      <p:sp>
        <p:nvSpPr>
          <p:cNvPr id="130" name="Google Shape;130;p2"/>
          <p:cNvSpPr/>
          <p:nvPr/>
        </p:nvSpPr>
        <p:spPr>
          <a:xfrm>
            <a:off x="3946407" y="5593259"/>
            <a:ext cx="527672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Получите доступ к этим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ресурсам </a:t>
            </a:r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вашем </a:t>
            </a:r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личном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кабинете на сайте </a:t>
            </a:r>
            <a:r>
              <a:rPr lang="ru-RU" sz="20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ЦЗС</a:t>
            </a:r>
            <a:r>
              <a:rPr lang="ru-RU" sz="2000" b="1" dirty="0" smtClean="0">
                <a:solidFill>
                  <a:schemeClr val="bg1"/>
                </a:solidFill>
              </a:rPr>
              <a:t>™</a:t>
            </a:r>
            <a:endParaRPr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912426" y="5655290"/>
            <a:ext cx="666126" cy="6661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707618" y="7633625"/>
            <a:ext cx="1163320" cy="2443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Подробнее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9876074" y="7630534"/>
            <a:ext cx="1954294" cy="254639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https://platforma-czs.ru</a:t>
            </a:r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135" name="Google Shape;135;p2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 rot="10800000">
              <a:off x="607599" y="6241208"/>
              <a:ext cx="2487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84B4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2"/>
          <p:cNvSpPr/>
          <p:nvPr/>
        </p:nvSpPr>
        <p:spPr>
          <a:xfrm>
            <a:off x="5804296" y="1193152"/>
            <a:ext cx="1776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34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года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5807779" y="1832009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работы компании</a:t>
            </a:r>
            <a:endParaRPr dirty="0"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779" y="1668254"/>
            <a:ext cx="162750" cy="1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8">
            <a:alphaModFix/>
          </a:blip>
          <a:srcRect t="5947" b="5947"/>
          <a:stretch/>
        </p:blipFill>
        <p:spPr>
          <a:xfrm>
            <a:off x="621704" y="3185463"/>
            <a:ext cx="162744" cy="1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9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10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11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64275" y="5807231"/>
            <a:ext cx="387025" cy="3642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9" name="Google Shape;118;p2"/>
          <p:cNvSpPr/>
          <p:nvPr/>
        </p:nvSpPr>
        <p:spPr>
          <a:xfrm>
            <a:off x="3725906" y="2440418"/>
            <a:ext cx="7931101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 smtClean="0">
                <a:solidFill>
                  <a:srgbClr val="1E53A4"/>
                </a:solidFill>
              </a:rPr>
              <a:t>В 2025 году по категории </a:t>
            </a:r>
            <a:r>
              <a:rPr lang="en-US" sz="3500" dirty="0" smtClean="0">
                <a:solidFill>
                  <a:srgbClr val="1E53A4"/>
                </a:solidFill>
              </a:rPr>
              <a:t>Молочная продукция</a:t>
            </a:r>
            <a:endParaRPr sz="35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19;p2"/>
          <p:cNvSpPr/>
          <p:nvPr/>
        </p:nvSpPr>
        <p:spPr>
          <a:xfrm>
            <a:off x="3787991" y="3786330"/>
            <a:ext cx="2138023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 smtClean="0">
                <a:solidFill>
                  <a:srgbClr val="1E53A4"/>
                </a:solidFill>
              </a:rPr>
              <a:t>578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19;p2"/>
          <p:cNvSpPr/>
          <p:nvPr/>
        </p:nvSpPr>
        <p:spPr>
          <a:xfrm>
            <a:off x="6868984" y="3813040"/>
            <a:ext cx="216950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500" dirty="0" smtClean="0">
                <a:solidFill>
                  <a:srgbClr val="1E53A4"/>
                </a:solidFill>
              </a:rPr>
              <a:t>410</a:t>
            </a:r>
            <a:endParaRPr lang="en-US" sz="3600" dirty="0">
              <a:solidFill>
                <a:srgbClr val="1E53A4"/>
              </a:solidFill>
            </a:endParaRPr>
          </a:p>
        </p:txBody>
      </p:sp>
      <p:sp>
        <p:nvSpPr>
          <p:cNvPr id="52" name="Google Shape;119;p2"/>
          <p:cNvSpPr/>
          <p:nvPr/>
        </p:nvSpPr>
        <p:spPr>
          <a:xfrm>
            <a:off x="9524925" y="3761115"/>
            <a:ext cx="210729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500" dirty="0" smtClean="0">
                <a:solidFill>
                  <a:srgbClr val="1E53A4"/>
                </a:solidFill>
              </a:rPr>
              <a:t>57</a:t>
            </a:r>
            <a:endParaRPr lang="en-US" sz="3600" dirty="0">
              <a:solidFill>
                <a:srgbClr val="1E53A4"/>
              </a:solidFill>
            </a:endParaRPr>
          </a:p>
        </p:txBody>
      </p:sp>
      <p:sp>
        <p:nvSpPr>
          <p:cNvPr id="54" name="Google Shape;120;p2"/>
          <p:cNvSpPr/>
          <p:nvPr/>
        </p:nvSpPr>
        <p:spPr>
          <a:xfrm>
            <a:off x="3753688" y="4563211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деловых переговоров</a:t>
            </a:r>
            <a:endParaRPr dirty="0"/>
          </a:p>
        </p:txBody>
      </p:sp>
      <p:sp>
        <p:nvSpPr>
          <p:cNvPr id="55" name="Google Shape;120;p2"/>
          <p:cNvSpPr/>
          <p:nvPr/>
        </p:nvSpPr>
        <p:spPr>
          <a:xfrm>
            <a:off x="6684459" y="4566141"/>
            <a:ext cx="188804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</a:rPr>
              <a:t>из них успешных</a:t>
            </a:r>
            <a:br>
              <a:rPr lang="ru-RU" dirty="0" smtClean="0">
                <a:solidFill>
                  <a:schemeClr val="dk1"/>
                </a:solidFill>
              </a:rPr>
            </a:br>
            <a:r>
              <a:rPr lang="ru-RU" dirty="0" smtClean="0">
                <a:solidFill>
                  <a:schemeClr val="dk1"/>
                </a:solidFill>
              </a:rPr>
              <a:t>переговоров</a:t>
            </a:r>
            <a:endParaRPr b="1" dirty="0"/>
          </a:p>
        </p:txBody>
      </p:sp>
      <p:sp>
        <p:nvSpPr>
          <p:cNvPr id="56" name="Google Shape;120;p2"/>
          <p:cNvSpPr/>
          <p:nvPr/>
        </p:nvSpPr>
        <p:spPr>
          <a:xfrm>
            <a:off x="9462827" y="4487011"/>
            <a:ext cx="2240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</a:rPr>
              <a:t>успешных переговоров у чемпиона по категории</a:t>
            </a:r>
            <a:endParaRPr dirty="0"/>
          </a:p>
        </p:txBody>
      </p:sp>
      <p:pic>
        <p:nvPicPr>
          <p:cNvPr id="149" name="Прямоугольник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503985"/>
            <a:ext cx="1037492" cy="905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3"/>
          <p:cNvGrpSpPr/>
          <p:nvPr/>
        </p:nvGrpSpPr>
        <p:grpSpPr>
          <a:xfrm>
            <a:off x="493560" y="-8125"/>
            <a:ext cx="12086170" cy="6873051"/>
            <a:chOff x="437414" y="-3810"/>
            <a:chExt cx="12313979" cy="6873051"/>
          </a:xfrm>
        </p:grpSpPr>
        <p:sp>
          <p:nvSpPr>
            <p:cNvPr id="155" name="Google Shape;155;p3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37414" y="2031373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227852" y="1905555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227852" y="2301795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3"/>
          <p:cNvSpPr/>
          <p:nvPr/>
        </p:nvSpPr>
        <p:spPr>
          <a:xfrm>
            <a:off x="811298" y="1605064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811298" y="2108931"/>
            <a:ext cx="144665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11298" y="3609235"/>
            <a:ext cx="2699804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811298" y="4124399"/>
            <a:ext cx="283677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811298" y="4628266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167" name="Google Shape;167;p3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3/6</a:t>
              </a:r>
              <a:endParaRPr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3"/>
          <p:cNvSpPr/>
          <p:nvPr/>
        </p:nvSpPr>
        <p:spPr>
          <a:xfrm>
            <a:off x="5835876" y="216200"/>
            <a:ext cx="6517149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переговоров с сетями в </a:t>
            </a:r>
            <a:r>
              <a:rPr lang="ru-RU" sz="3500" dirty="0" smtClean="0">
                <a:solidFill>
                  <a:srgbClr val="1E53A4"/>
                </a:solidFill>
              </a:rPr>
              <a:t>категории </a:t>
            </a:r>
            <a:r>
              <a:rPr lang="en-US" sz="3500" dirty="0" smtClean="0">
                <a:solidFill>
                  <a:srgbClr val="1E53A4"/>
                </a:solidFill>
              </a:rPr>
              <a:t>Молочная продукция</a:t>
            </a:r>
            <a:endParaRPr sz="40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198566" y="5252751"/>
            <a:ext cx="51994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Ваша продукция окажется на полках интересующих вас сетей гораздо быстрее, чем вы ожидаете!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3674259" y="155953"/>
            <a:ext cx="228096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  <a:endParaRPr sz="8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3681841" y="1589425"/>
            <a:ext cx="2518555" cy="3290443"/>
            <a:chOff x="3681841" y="1849469"/>
            <a:chExt cx="2518555" cy="3290443"/>
          </a:xfrm>
        </p:grpSpPr>
        <p:sp>
          <p:nvSpPr>
            <p:cNvPr id="173" name="Google Shape;173;p3"/>
            <p:cNvSpPr/>
            <p:nvPr/>
          </p:nvSpPr>
          <p:spPr>
            <a:xfrm>
              <a:off x="3681841" y="1849469"/>
              <a:ext cx="239349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4343647" y="2659973"/>
              <a:ext cx="7633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часа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695686" y="3539474"/>
              <a:ext cx="2504710" cy="1600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Виртуальный ассистент поможет подготовиться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 переговорам,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создать коммерческое предложение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записаться к нужным сетям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688843" y="3170706"/>
              <a:ext cx="177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ПОДГОТОВК</a:t>
              </a:r>
              <a:r>
                <a:rPr lang="ru-RU" sz="1800">
                  <a:solidFill>
                    <a:schemeClr val="dk1"/>
                  </a:solidFill>
                </a:rPr>
                <a:t>И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6315979" y="1604665"/>
            <a:ext cx="2585761" cy="2844316"/>
            <a:chOff x="3681842" y="1864709"/>
            <a:chExt cx="2585761" cy="2844316"/>
          </a:xfrm>
        </p:grpSpPr>
        <p:sp>
          <p:nvSpPr>
            <p:cNvPr id="178" name="Google Shape;178;p3"/>
            <p:cNvSpPr/>
            <p:nvPr/>
          </p:nvSpPr>
          <p:spPr>
            <a:xfrm>
              <a:off x="3681842" y="1864709"/>
              <a:ext cx="826376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4431181" y="2659973"/>
              <a:ext cx="5982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дня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3695686" y="3539474"/>
              <a:ext cx="2571917" cy="116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Личное общение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вместо месяцев ожиданий, отказов, длительных рассылок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командировок </a:t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688836" y="3170694"/>
              <a:ext cx="15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ВСТРЕЧ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8779003" y="1589425"/>
            <a:ext cx="3187551" cy="2859556"/>
            <a:chOff x="3681841" y="1849469"/>
            <a:chExt cx="3187551" cy="2859556"/>
          </a:xfrm>
        </p:grpSpPr>
        <p:sp>
          <p:nvSpPr>
            <p:cNvPr id="183" name="Google Shape;183;p3"/>
            <p:cNvSpPr/>
            <p:nvPr/>
          </p:nvSpPr>
          <p:spPr>
            <a:xfrm>
              <a:off x="3681841" y="1849469"/>
              <a:ext cx="239349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5-7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5260019" y="2653877"/>
              <a:ext cx="14943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</a:rPr>
                <a:t>подписано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695685" y="3539474"/>
              <a:ext cx="3173707" cy="116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Автоматизированная система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готовые шаблоны позволяют подписывать контракты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 минуты. Без рисков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давления по срокам поставки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688843" y="3170706"/>
              <a:ext cx="18598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КОНТРАКТОВ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3"/>
          <p:cNvSpPr/>
          <p:nvPr/>
        </p:nvSpPr>
        <p:spPr>
          <a:xfrm>
            <a:off x="3698919" y="5260941"/>
            <a:ext cx="5829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4198566" y="6010093"/>
            <a:ext cx="446413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Перейдите по QR коду, </a:t>
            </a:r>
            <a:r>
              <a:rPr lang="ru-RU" dirty="0" smtClean="0">
                <a:solidFill>
                  <a:schemeClr val="dk1"/>
                </a:solidFill>
              </a:rPr>
              <a:t>на сайт </a:t>
            </a:r>
            <a:r>
              <a:rPr lang="ru-RU" b="1" dirty="0" smtClean="0">
                <a:solidFill>
                  <a:schemeClr val="tx1"/>
                </a:solidFill>
              </a:rPr>
              <a:t>ЦЗС™ </a:t>
            </a:r>
            <a:r>
              <a:rPr lang="ru-RU" dirty="0" smtClean="0">
                <a:solidFill>
                  <a:schemeClr val="tx1"/>
                </a:solidFill>
              </a:rPr>
              <a:t>и оставьте заявку на участие</a:t>
            </a:r>
            <a:endParaRPr sz="14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 rot="-2700000">
            <a:off x="3750622" y="6119348"/>
            <a:ext cx="180609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3091" y="4917384"/>
            <a:ext cx="1650178" cy="165017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"/>
          <p:cNvSpPr/>
          <p:nvPr/>
        </p:nvSpPr>
        <p:spPr>
          <a:xfrm rot="9663654" flipH="1">
            <a:off x="9055431" y="6079969"/>
            <a:ext cx="814576" cy="215410"/>
          </a:xfrm>
          <a:custGeom>
            <a:avLst/>
            <a:gdLst/>
            <a:ahLst/>
            <a:cxnLst/>
            <a:rect l="l" t="t" r="r" b="b"/>
            <a:pathLst>
              <a:path w="1010920" h="267332" extrusionOk="0">
                <a:moveTo>
                  <a:pt x="0" y="267332"/>
                </a:moveTo>
                <a:cubicBezTo>
                  <a:pt x="122766" y="104772"/>
                  <a:pt x="202353" y="30689"/>
                  <a:pt x="370840" y="5712"/>
                </a:cubicBezTo>
                <a:cubicBezTo>
                  <a:pt x="539327" y="-19265"/>
                  <a:pt x="786553" y="41272"/>
                  <a:pt x="1010920" y="117472"/>
                </a:cubicBezTo>
              </a:path>
            </a:pathLst>
          </a:cu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"/>
          <p:cNvPicPr preferRelativeResize="0"/>
          <p:nvPr/>
        </p:nvPicPr>
        <p:blipFill rotWithShape="1">
          <a:blip r:embed="rId6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/>
          <p:cNvPicPr preferRelativeResize="0"/>
          <p:nvPr/>
        </p:nvPicPr>
        <p:blipFill rotWithShape="1">
          <a:blip r:embed="rId8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9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"/>
          <p:cNvPicPr preferRelativeResize="0"/>
          <p:nvPr/>
        </p:nvPicPr>
        <p:blipFill rotWithShape="1">
          <a:blip r:embed="rId10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6"/>
          <p:cNvGrpSpPr/>
          <p:nvPr/>
        </p:nvGrpSpPr>
        <p:grpSpPr>
          <a:xfrm>
            <a:off x="442913" y="-15051"/>
            <a:ext cx="12313979" cy="6873051"/>
            <a:chOff x="437414" y="-3810"/>
            <a:chExt cx="12313979" cy="6873051"/>
          </a:xfrm>
        </p:grpSpPr>
        <p:sp>
          <p:nvSpPr>
            <p:cNvPr id="328" name="Google Shape;328;p6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437414" y="3530600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3227852" y="3404782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3227852" y="3801022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3668395" y="237458"/>
            <a:ext cx="79311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Всего 2 дня и вы в сети!</a:t>
            </a:r>
            <a:endParaRPr sz="40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260769" y="1908270"/>
            <a:ext cx="40499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Получите доступ в личный кабинет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3699925" y="1087813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4260769" y="2676842"/>
            <a:ext cx="43250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Сгенерируйте автоматическую презентацию вашего коммерческого предложения</a:t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3699925" y="1811654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4260770" y="3471229"/>
            <a:ext cx="385360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Посмотрите короткие вебинары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подготовке к переговорам</a:t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3699925" y="2665522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4260769" y="4256625"/>
            <a:ext cx="40499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Получите подробный алгоритм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проведения переговоров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3699925" y="3519096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4260769" y="1180554"/>
            <a:ext cx="40499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Выберите удобный пакет участия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3699925" y="4256476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4294182" y="5049350"/>
            <a:ext cx="405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Примите участие в личных переговорах  </a:t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3699925" y="4980317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4343167" y="5889860"/>
            <a:ext cx="404993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Заключите выгодные контракты </a:t>
            </a:r>
            <a:b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нужными сетями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3687733" y="5842051"/>
            <a:ext cx="7112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36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6"/>
          <p:cNvCxnSpPr/>
          <p:nvPr/>
        </p:nvCxnSpPr>
        <p:spPr>
          <a:xfrm>
            <a:off x="3920270" y="1544347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8" name="Google Shape;348;p6"/>
          <p:cNvCxnSpPr/>
          <p:nvPr/>
        </p:nvCxnSpPr>
        <p:spPr>
          <a:xfrm>
            <a:off x="3920270" y="2286266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" name="Google Shape;349;p6"/>
          <p:cNvCxnSpPr/>
          <p:nvPr/>
        </p:nvCxnSpPr>
        <p:spPr>
          <a:xfrm>
            <a:off x="3930003" y="3960425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" name="Google Shape;350;p6"/>
          <p:cNvCxnSpPr/>
          <p:nvPr/>
        </p:nvCxnSpPr>
        <p:spPr>
          <a:xfrm>
            <a:off x="3930003" y="4701874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1" name="Google Shape;351;p6"/>
          <p:cNvCxnSpPr/>
          <p:nvPr/>
        </p:nvCxnSpPr>
        <p:spPr>
          <a:xfrm>
            <a:off x="3930003" y="5451306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2" name="Google Shape;352;p6"/>
          <p:cNvCxnSpPr/>
          <p:nvPr/>
        </p:nvCxnSpPr>
        <p:spPr>
          <a:xfrm>
            <a:off x="3920270" y="3148180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53" name="Google Shape;353;p6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354" name="Google Shape;354;p6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6"/>
          <p:cNvSpPr/>
          <p:nvPr/>
        </p:nvSpPr>
        <p:spPr>
          <a:xfrm>
            <a:off x="3573780" y="5848146"/>
            <a:ext cx="4374949" cy="660474"/>
          </a:xfrm>
          <a:prstGeom prst="roundRect">
            <a:avLst>
              <a:gd name="adj" fmla="val 19009"/>
            </a:avLst>
          </a:prstGeom>
          <a:noFill/>
          <a:ln w="15875" cap="flat" cmpd="sng">
            <a:solidFill>
              <a:srgbClr val="1E53A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6"/>
          <p:cNvGrpSpPr/>
          <p:nvPr/>
        </p:nvGrpSpPr>
        <p:grpSpPr>
          <a:xfrm rot="342973">
            <a:off x="8985162" y="1364834"/>
            <a:ext cx="2626146" cy="5690472"/>
            <a:chOff x="13179161" y="1669241"/>
            <a:chExt cx="2626146" cy="5690472"/>
          </a:xfrm>
        </p:grpSpPr>
        <p:sp>
          <p:nvSpPr>
            <p:cNvPr id="358" name="Google Shape;358;p6"/>
            <p:cNvSpPr/>
            <p:nvPr/>
          </p:nvSpPr>
          <p:spPr>
            <a:xfrm>
              <a:off x="13179161" y="1669241"/>
              <a:ext cx="2626145" cy="4887986"/>
            </a:xfrm>
            <a:prstGeom prst="roundRect">
              <a:avLst>
                <a:gd name="adj" fmla="val 7604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9" name="Google Shape;359;p6"/>
            <p:cNvPicPr preferRelativeResize="0"/>
            <p:nvPr/>
          </p:nvPicPr>
          <p:blipFill rotWithShape="1">
            <a:blip r:embed="rId4">
              <a:alphaModFix/>
            </a:blip>
            <a:srcRect t="85473"/>
            <a:stretch/>
          </p:blipFill>
          <p:spPr>
            <a:xfrm>
              <a:off x="13189627" y="6535375"/>
              <a:ext cx="2615680" cy="824338"/>
            </a:xfrm>
            <a:custGeom>
              <a:avLst/>
              <a:gdLst/>
              <a:ahLst/>
              <a:cxnLst/>
              <a:rect l="l" t="t" r="r" b="b"/>
              <a:pathLst>
                <a:path w="2615680" h="824338" extrusionOk="0">
                  <a:moveTo>
                    <a:pt x="0" y="0"/>
                  </a:moveTo>
                  <a:lnTo>
                    <a:pt x="2615680" y="0"/>
                  </a:lnTo>
                  <a:lnTo>
                    <a:pt x="2615680" y="495312"/>
                  </a:lnTo>
                  <a:cubicBezTo>
                    <a:pt x="2615680" y="677028"/>
                    <a:pt x="2468370" y="824338"/>
                    <a:pt x="2286654" y="824338"/>
                  </a:cubicBezTo>
                  <a:lnTo>
                    <a:pt x="329026" y="824338"/>
                  </a:lnTo>
                  <a:cubicBezTo>
                    <a:pt x="147310" y="824338"/>
                    <a:pt x="0" y="677028"/>
                    <a:pt x="0" y="495312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360" name="Google Shape;360;p6"/>
            <p:cNvSpPr/>
            <p:nvPr/>
          </p:nvSpPr>
          <p:spPr>
            <a:xfrm>
              <a:off x="13179162" y="2233141"/>
              <a:ext cx="2626145" cy="434593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6"/>
          <p:cNvSpPr/>
          <p:nvPr/>
        </p:nvSpPr>
        <p:spPr>
          <a:xfrm rot="342973">
            <a:off x="9414233" y="1939931"/>
            <a:ext cx="2136203" cy="861914"/>
          </a:xfrm>
          <a:prstGeom prst="roundRect">
            <a:avLst>
              <a:gd name="adj" fmla="val 854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/>
          <p:nvPr/>
        </p:nvSpPr>
        <p:spPr>
          <a:xfrm rot="342973">
            <a:off x="9321161" y="2050577"/>
            <a:ext cx="23664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Платформа запуска продаж ваших товаров </a:t>
            </a:r>
            <a:b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розничных сетях!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 rot="342973">
            <a:off x="9430505" y="3068410"/>
            <a:ext cx="190548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Отсканируйте QR-code</a:t>
            </a:r>
            <a:endParaRPr sz="16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42973">
            <a:off x="6879623" y="842510"/>
            <a:ext cx="6827930" cy="682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42976">
            <a:off x="9363652" y="3849931"/>
            <a:ext cx="1764623" cy="176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811298" y="2612798"/>
            <a:ext cx="1278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6"/>
          <p:cNvPicPr preferRelativeResize="0"/>
          <p:nvPr/>
        </p:nvPicPr>
        <p:blipFill rotWithShape="1">
          <a:blip r:embed="rId8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6"/>
          <p:cNvPicPr preferRelativeResize="0"/>
          <p:nvPr/>
        </p:nvPicPr>
        <p:blipFill rotWithShape="1">
          <a:blip r:embed="rId9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"/>
          <p:cNvPicPr preferRelativeResize="0"/>
          <p:nvPr/>
        </p:nvPicPr>
        <p:blipFill rotWithShape="1">
          <a:blip r:embed="rId10">
            <a:alphaModFix/>
          </a:blip>
          <a:srcRect l="20334" t="55289" r="35385" b="3842"/>
          <a:stretch/>
        </p:blipFill>
        <p:spPr>
          <a:xfrm flipH="1">
            <a:off x="583139" y="2687259"/>
            <a:ext cx="239875" cy="14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"/>
          <p:cNvPicPr preferRelativeResize="0"/>
          <p:nvPr/>
        </p:nvPicPr>
        <p:blipFill rotWithShape="1">
          <a:blip r:embed="rId11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6"/>
          <p:cNvPicPr preferRelativeResize="0"/>
          <p:nvPr/>
        </p:nvPicPr>
        <p:blipFill rotWithShape="1">
          <a:blip r:embed="rId12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6"/>
          <p:cNvPicPr preferRelativeResize="0"/>
          <p:nvPr/>
        </p:nvPicPr>
        <p:blipFill rotWithShape="1">
          <a:blip r:embed="rId13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7"/>
          <p:cNvGrpSpPr/>
          <p:nvPr/>
        </p:nvGrpSpPr>
        <p:grpSpPr>
          <a:xfrm>
            <a:off x="442913" y="-15051"/>
            <a:ext cx="12313979" cy="6873051"/>
            <a:chOff x="442913" y="-15051"/>
            <a:chExt cx="12313979" cy="6873051"/>
          </a:xfrm>
        </p:grpSpPr>
        <p:sp>
          <p:nvSpPr>
            <p:cNvPr id="387" name="Google Shape;387;p7"/>
            <p:cNvSpPr/>
            <p:nvPr/>
          </p:nvSpPr>
          <p:spPr>
            <a:xfrm>
              <a:off x="3359441" y="-15051"/>
              <a:ext cx="9397451" cy="6873051"/>
            </a:xfrm>
            <a:custGeom>
              <a:avLst/>
              <a:gdLst/>
              <a:ahLst/>
              <a:cxnLst/>
              <a:rect l="l" t="t" r="r" b="b"/>
              <a:pathLst>
                <a:path w="9397451" h="6873051" extrusionOk="0">
                  <a:moveTo>
                    <a:pt x="4620648" y="3251985"/>
                  </a:moveTo>
                  <a:cubicBezTo>
                    <a:pt x="4575269" y="3251985"/>
                    <a:pt x="4538482" y="3288772"/>
                    <a:pt x="4538482" y="3334151"/>
                  </a:cubicBezTo>
                  <a:lnTo>
                    <a:pt x="4538482" y="4498928"/>
                  </a:lnTo>
                  <a:cubicBezTo>
                    <a:pt x="4538482" y="4544307"/>
                    <a:pt x="4575269" y="4581094"/>
                    <a:pt x="4620648" y="4581094"/>
                  </a:cubicBezTo>
                  <a:lnTo>
                    <a:pt x="6232726" y="4581094"/>
                  </a:lnTo>
                  <a:cubicBezTo>
                    <a:pt x="6278105" y="4581094"/>
                    <a:pt x="6314892" y="4544307"/>
                    <a:pt x="6314892" y="4498928"/>
                  </a:cubicBezTo>
                  <a:lnTo>
                    <a:pt x="6314892" y="3334151"/>
                  </a:lnTo>
                  <a:cubicBezTo>
                    <a:pt x="6314892" y="3288772"/>
                    <a:pt x="6278105" y="3251985"/>
                    <a:pt x="6232726" y="3251985"/>
                  </a:cubicBezTo>
                  <a:close/>
                  <a:moveTo>
                    <a:pt x="6529799" y="1872956"/>
                  </a:moveTo>
                  <a:cubicBezTo>
                    <a:pt x="6480746" y="1872956"/>
                    <a:pt x="6440981" y="1912721"/>
                    <a:pt x="6440981" y="1961774"/>
                  </a:cubicBezTo>
                  <a:lnTo>
                    <a:pt x="6440981" y="3042898"/>
                  </a:lnTo>
                  <a:cubicBezTo>
                    <a:pt x="6440981" y="3091951"/>
                    <a:pt x="6480746" y="3131716"/>
                    <a:pt x="6529799" y="3131716"/>
                  </a:cubicBezTo>
                  <a:lnTo>
                    <a:pt x="8266268" y="3131716"/>
                  </a:lnTo>
                  <a:cubicBezTo>
                    <a:pt x="8315321" y="3131716"/>
                    <a:pt x="8355086" y="3091951"/>
                    <a:pt x="8355086" y="3042898"/>
                  </a:cubicBezTo>
                  <a:lnTo>
                    <a:pt x="8355086" y="1961774"/>
                  </a:lnTo>
                  <a:cubicBezTo>
                    <a:pt x="8355086" y="1912721"/>
                    <a:pt x="8315321" y="1872956"/>
                    <a:pt x="8266268" y="1872956"/>
                  </a:cubicBezTo>
                  <a:close/>
                  <a:moveTo>
                    <a:pt x="276022" y="0"/>
                  </a:moveTo>
                  <a:lnTo>
                    <a:pt x="9121429" y="0"/>
                  </a:lnTo>
                  <a:cubicBezTo>
                    <a:pt x="9273872" y="0"/>
                    <a:pt x="9397451" y="123579"/>
                    <a:pt x="9397451" y="276022"/>
                  </a:cubicBezTo>
                  <a:lnTo>
                    <a:pt x="9397451" y="6597029"/>
                  </a:lnTo>
                  <a:cubicBezTo>
                    <a:pt x="9397451" y="6749472"/>
                    <a:pt x="9273872" y="6873051"/>
                    <a:pt x="9121429" y="6873051"/>
                  </a:cubicBezTo>
                  <a:lnTo>
                    <a:pt x="276022" y="6873051"/>
                  </a:lnTo>
                  <a:cubicBezTo>
                    <a:pt x="123579" y="6873051"/>
                    <a:pt x="0" y="6749472"/>
                    <a:pt x="0" y="6597029"/>
                  </a:cubicBezTo>
                  <a:lnTo>
                    <a:pt x="0" y="276022"/>
                  </a:lnTo>
                  <a:cubicBezTo>
                    <a:pt x="0" y="123579"/>
                    <a:pt x="123579" y="0"/>
                    <a:pt x="276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442913" y="4029726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3233351" y="3903908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3233351" y="4300148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7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392" name="Google Shape;392;p7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757518" y="6213092"/>
              <a:ext cx="45450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ru-RU" sz="1000" dirty="0" smtClean="0">
                  <a:solidFill>
                    <a:srgbClr val="84B4E0"/>
                  </a:solidFill>
                </a:rPr>
                <a:t>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7"/>
          <p:cNvSpPr/>
          <p:nvPr/>
        </p:nvSpPr>
        <p:spPr>
          <a:xfrm>
            <a:off x="3668395" y="255999"/>
            <a:ext cx="706056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Выставка World Food 2025</a:t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3699002" y="1113568"/>
            <a:ext cx="70299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Каждый участник получает возможность представить свой продукт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обсудить условия сотрудничества в комфортной деловой обстановке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0421" y="3236934"/>
            <a:ext cx="1914715" cy="1329109"/>
          </a:xfrm>
          <a:prstGeom prst="roundRect">
            <a:avLst>
              <a:gd name="adj" fmla="val 6827"/>
            </a:avLst>
          </a:prstGeom>
          <a:noFill/>
          <a:ln>
            <a:noFill/>
          </a:ln>
        </p:spPr>
      </p:pic>
      <p:sp>
        <p:nvSpPr>
          <p:cNvPr id="402" name="Google Shape;402;p7"/>
          <p:cNvSpPr/>
          <p:nvPr/>
        </p:nvSpPr>
        <p:spPr>
          <a:xfrm>
            <a:off x="10066485" y="2151133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38773" y="3454135"/>
            <a:ext cx="894711" cy="894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7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</a:rPr>
              <a:t>Фото ЦЗС™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7"/>
          <p:cNvPicPr preferRelativeResize="0"/>
          <p:nvPr/>
        </p:nvPicPr>
        <p:blipFill rotWithShape="1">
          <a:blip r:embed="rId7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7"/>
          <p:cNvPicPr preferRelativeResize="0"/>
          <p:nvPr/>
        </p:nvPicPr>
        <p:blipFill rotWithShape="1">
          <a:blip r:embed="rId8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"/>
          <p:cNvPicPr preferRelativeResize="0"/>
          <p:nvPr/>
        </p:nvPicPr>
        <p:blipFill rotWithShape="1">
          <a:blip r:embed="rId9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7"/>
          <p:cNvPicPr preferRelativeResize="0"/>
          <p:nvPr/>
        </p:nvPicPr>
        <p:blipFill rotWithShape="1">
          <a:blip r:embed="rId10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"/>
          <p:cNvPicPr preferRelativeResize="0"/>
          <p:nvPr/>
        </p:nvPicPr>
        <p:blipFill rotWithShape="1">
          <a:blip r:embed="rId11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Прямоугольник 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1117" y="1846053"/>
            <a:ext cx="4028536" cy="2691441"/>
          </a:xfrm>
          <a:prstGeom prst="rect">
            <a:avLst/>
          </a:prstGeom>
        </p:spPr>
      </p:pic>
      <p:pic>
        <p:nvPicPr>
          <p:cNvPr id="420" name="Прямоугольник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4928" y="1854679"/>
            <a:ext cx="1664898" cy="1302589"/>
          </a:xfrm>
          <a:prstGeom prst="rect">
            <a:avLst/>
          </a:prstGeom>
        </p:spPr>
      </p:pic>
      <p:pic>
        <p:nvPicPr>
          <p:cNvPr id="421" name="Скругленный прямоугольник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2491" y="4675517"/>
            <a:ext cx="2544792" cy="1820174"/>
          </a:xfrm>
          <a:prstGeom prst="rect">
            <a:avLst/>
          </a:prstGeom>
        </p:spPr>
      </p:pic>
      <p:pic>
        <p:nvPicPr>
          <p:cNvPr id="422" name="Скругленный прямоугольник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6936" y="4681268"/>
            <a:ext cx="2544792" cy="1820174"/>
          </a:xfrm>
          <a:prstGeom prst="rect">
            <a:avLst/>
          </a:prstGeom>
        </p:spPr>
      </p:pic>
      <p:pic>
        <p:nvPicPr>
          <p:cNvPr id="423" name="Скругленный прямоугольник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1382" y="4687019"/>
            <a:ext cx="2544792" cy="18201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8"/>
          <p:cNvGrpSpPr/>
          <p:nvPr/>
        </p:nvGrpSpPr>
        <p:grpSpPr>
          <a:xfrm>
            <a:off x="459903" y="-15051"/>
            <a:ext cx="12313979" cy="6873051"/>
            <a:chOff x="437414" y="-3810"/>
            <a:chExt cx="12313979" cy="6873051"/>
          </a:xfrm>
        </p:grpSpPr>
        <p:sp>
          <p:nvSpPr>
            <p:cNvPr id="425" name="Google Shape;425;p8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									</a:t>
              </a: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437414" y="4549059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227852" y="4423241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3227852" y="4819481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8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430" name="Google Shape;430;p8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</a:rPr>
                <a:t>6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8"/>
          <p:cNvSpPr/>
          <p:nvPr/>
        </p:nvSpPr>
        <p:spPr>
          <a:xfrm>
            <a:off x="3668395" y="255999"/>
            <a:ext cx="829323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Послушайте тех, </a:t>
            </a:r>
            <a:br>
              <a:rPr lang="ru-RU" sz="3600">
                <a:solidFill>
                  <a:srgbClr val="1E53A4"/>
                </a:solidFill>
              </a:rPr>
            </a:br>
            <a:r>
              <a:rPr lang="ru-RU" sz="3600">
                <a:solidFill>
                  <a:srgbClr val="1E53A4"/>
                </a:solidFill>
              </a:rPr>
              <a:t>кто уже был на ЦЗС™</a:t>
            </a:r>
            <a:r>
              <a:rPr lang="ru-RU" sz="40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8"/>
          <p:cNvGrpSpPr/>
          <p:nvPr/>
        </p:nvGrpSpPr>
        <p:grpSpPr>
          <a:xfrm>
            <a:off x="3792539" y="1736790"/>
            <a:ext cx="3855170" cy="2314907"/>
            <a:chOff x="3792539" y="1876093"/>
            <a:chExt cx="3855170" cy="2314907"/>
          </a:xfrm>
        </p:grpSpPr>
        <p:sp>
          <p:nvSpPr>
            <p:cNvPr id="434" name="Google Shape;434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3944199" y="2262231"/>
              <a:ext cx="2422095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/>
                <a:t>«Увелка»</a:t>
              </a:r>
              <a:endParaRPr dirty="0"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3900189" y="1876093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8"/>
          <p:cNvGrpSpPr/>
          <p:nvPr/>
        </p:nvGrpSpPr>
        <p:grpSpPr>
          <a:xfrm>
            <a:off x="7893918" y="1736789"/>
            <a:ext cx="3855170" cy="2314908"/>
            <a:chOff x="3792539" y="1876092"/>
            <a:chExt cx="3855170" cy="2314908"/>
          </a:xfrm>
        </p:grpSpPr>
        <p:sp>
          <p:nvSpPr>
            <p:cNvPr id="439" name="Google Shape;439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3987332" y="2270855"/>
              <a:ext cx="236650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 smtClean="0"/>
                <a:t>«Мельник»</a:t>
              </a:r>
              <a:r>
                <a:rPr lang="en-US" dirty="0" smtClean="0"/>
                <a:t/>
              </a:r>
              <a:endParaRPr dirty="0" smtClean="0"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" name="Google Shape;442;p8"/>
          <p:cNvGrpSpPr/>
          <p:nvPr/>
        </p:nvGrpSpPr>
        <p:grpSpPr>
          <a:xfrm>
            <a:off x="3792539" y="4083168"/>
            <a:ext cx="3855170" cy="2314908"/>
            <a:chOff x="3792539" y="1876092"/>
            <a:chExt cx="3855170" cy="2314908"/>
          </a:xfrm>
        </p:grpSpPr>
        <p:sp>
          <p:nvSpPr>
            <p:cNvPr id="443" name="Google Shape;443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3944198" y="2270857"/>
              <a:ext cx="2439349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 smtClean="0"/>
                <a:t>«Роса»</a:t>
              </a:r>
              <a:r>
                <a:rPr lang="en-US" dirty="0" smtClean="0"/>
                <a:t/>
              </a:r>
              <a:endParaRPr lang="en-US" sz="1100" dirty="0" smtClean="0"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8"/>
          <p:cNvSpPr/>
          <p:nvPr/>
        </p:nvSpPr>
        <p:spPr>
          <a:xfrm>
            <a:off x="7891310" y="4351822"/>
            <a:ext cx="3855300" cy="20463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2691" y="4617441"/>
            <a:ext cx="1032409" cy="103240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8"/>
          <p:cNvSpPr/>
          <p:nvPr/>
        </p:nvSpPr>
        <p:spPr>
          <a:xfrm>
            <a:off x="8794034" y="5720481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/>
          </a:p>
        </p:txBody>
      </p:sp>
      <p:pic>
        <p:nvPicPr>
          <p:cNvPr id="451" name="Google Shape;45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8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8"/>
          <p:cNvPicPr preferRelativeResize="0"/>
          <p:nvPr/>
        </p:nvPicPr>
        <p:blipFill rotWithShape="1">
          <a:blip r:embed="rId6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8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8"/>
          <p:cNvPicPr preferRelativeResize="0"/>
          <p:nvPr/>
        </p:nvPicPr>
        <p:blipFill rotWithShape="1">
          <a:blip r:embed="rId8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8"/>
          <p:cNvPicPr preferRelativeResize="0"/>
          <p:nvPr/>
        </p:nvPicPr>
        <p:blipFill rotWithShape="1">
          <a:blip r:embed="rId9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8"/>
          <p:cNvPicPr preferRelativeResize="0"/>
          <p:nvPr/>
        </p:nvPicPr>
        <p:blipFill rotWithShape="1">
          <a:blip r:embed="rId10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Прямоугольник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5306" y="2130725"/>
            <a:ext cx="897147" cy="57796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50898" y="2406770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Иван Петров</a:t>
            </a:r>
            <a:endParaRPr lang="ru-RU" sz="1100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3933645" y="2829464"/>
            <a:ext cx="3554083" cy="1138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 smtClean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467" name="Прямоугольник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2127850"/>
            <a:ext cx="897147" cy="577969"/>
          </a:xfrm>
          <a:prstGeom prst="rect">
            <a:avLst/>
          </a:prstGeom>
        </p:spPr>
      </p:pic>
      <p:pic>
        <p:nvPicPr>
          <p:cNvPr id="468" name="Прямоугольник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8310" y="4474234"/>
            <a:ext cx="897147" cy="57796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117456" y="2458528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 smtClean="0"/>
              <a:t>Анна Соколова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8005313" y="2855343"/>
            <a:ext cx="3648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000" dirty="0" smtClean="0"/>
              <a:t>«Разрозненные встречи с покупателями по всей стране — это прошлый век. В Центре Закупок Сетей™ мы за два дня решаем задачи, на которые раньше уходили месяцы. На последнем мероприятии мы заключили договоренности о поставках с 7 новыми региональными сетями, что позволило нам увеличить плановый объем отгрузки на 20%».</a:t>
            </a:r>
            <a:endParaRPr lang="ru-RU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3976777" y="4787660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 smtClean="0"/>
              <a:t>Елена Воробьева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3942272" y="5218981"/>
            <a:ext cx="3562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r>
              <a:rPr lang="en-US" sz="1000" dirty="0" smtClean="0"/>
              <a:t/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319</Words>
  <Application>Microsoft Office PowerPoint</Application>
  <PresentationFormat>Произвольный</PresentationFormat>
  <Paragraphs>121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Менеджер_004</cp:lastModifiedBy>
  <cp:revision>25</cp:revision>
  <dcterms:created xsi:type="dcterms:W3CDTF">2025-08-26T08:09:58Z</dcterms:created>
  <dcterms:modified xsi:type="dcterms:W3CDTF">2026-05-26T15:56:03Z</dcterms:modified>
</cp:coreProperties>
</file>