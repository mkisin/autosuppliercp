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62" r:id="rId6"/>
    <p:sldId id="263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pos="279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orient="horz" pos="255">
          <p15:clr>
            <a:srgbClr val="A4A3A4"/>
          </p15:clr>
        </p15:guide>
        <p15:guide id="4" orient="horz" pos="2614">
          <p15:clr>
            <a:srgbClr val="A4A3A4"/>
          </p15:clr>
        </p15:guide>
        <p15:guide id="5" pos="7401">
          <p15:clr>
            <a:srgbClr val="A4A3A4"/>
          </p15:clr>
        </p15:guide>
        <p15:guide id="6" orient="horz" pos="2047">
          <p15:clr>
            <a:srgbClr val="A4A3A4"/>
          </p15:clr>
        </p15:guide>
        <p15:guide id="7" pos="2389">
          <p15:clr>
            <a:srgbClr val="A4A3A4"/>
          </p15:clr>
        </p15:guide>
        <p15:guide id="8" pos="7680">
          <p15:clr>
            <a:srgbClr val="F26B43"/>
          </p15:clr>
        </p15:guide>
        <p15:guide id="9" pos="7">
          <p15:clr>
            <a:srgbClr val="F26B43"/>
          </p15:clr>
        </p15:guide>
        <p15:guide id="10" pos="370">
          <p15:clr>
            <a:srgbClr val="A4A3A4"/>
          </p15:clr>
        </p15:guide>
        <p15:guide id="11" pos="5042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iycLHMzGKAkpP54Qo2s5YLjaRw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90"/>
      </p:cViewPr>
      <p:guideLst>
        <p:guide orient="horz" pos="4065"/>
        <p:guide orient="horz" pos="255"/>
        <p:guide orient="horz" pos="2614"/>
        <p:guide orient="horz" pos="2047"/>
        <p:guide pos="279"/>
        <p:guide pos="7401"/>
        <p:guide pos="2389"/>
        <p:guide pos="7680"/>
        <p:guide pos="7"/>
        <p:guide pos="370"/>
        <p:guide pos="50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4" Type="http://schemas.openxmlformats.org/officeDocument/2006/relationships/slide" Target="slides/slide3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1.png"/><Relationship Id="rId5" Type="http://schemas.openxmlformats.org/officeDocument/2006/relationships/image" Target="../media/image19.png"/><Relationship Id="rId10" Type="http://schemas.openxmlformats.org/officeDocument/2006/relationships/image" Target="../media/image20.png"/><Relationship Id="rId4" Type="http://schemas.openxmlformats.org/officeDocument/2006/relationships/image" Target="../media/image18.jpe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10" Type="http://schemas.openxmlformats.org/officeDocument/2006/relationships/image" Target="../media/image13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10" Type="http://schemas.openxmlformats.org/officeDocument/2006/relationships/image" Target="../media/image24.png"/><Relationship Id="rId4" Type="http://schemas.openxmlformats.org/officeDocument/2006/relationships/image" Target="../media/image15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424" y="2033205"/>
            <a:ext cx="9156986" cy="4419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15581" y="-2060123"/>
            <a:ext cx="6066984" cy="1819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 descr="noroot 2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16973" y="375270"/>
            <a:ext cx="732115" cy="892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" descr="noroot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709222" y="445439"/>
            <a:ext cx="1046952" cy="82260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763975" y="2636047"/>
            <a:ext cx="8837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smtClean="0">
                <a:solidFill>
                  <a:schemeClr val="lt1"/>
                </a:solidFill>
              </a:rPr>
              <a:t>{{block1}}</a:t>
            </a:r>
            <a:endParaRPr sz="3600" dirty="0">
              <a:solidFill>
                <a:schemeClr val="lt1"/>
              </a:solidFill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993078" y="5655179"/>
            <a:ext cx="2315700" cy="3702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30-40 переговоров</a:t>
            </a:r>
            <a:endParaRPr sz="1600">
              <a:solidFill>
                <a:srgbClr val="1E53A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864450" y="5655175"/>
            <a:ext cx="1107300" cy="3702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2 дня</a:t>
            </a:r>
            <a:endParaRPr sz="1600">
              <a:solidFill>
                <a:srgbClr val="1E53A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23021" y="338354"/>
            <a:ext cx="1225402" cy="91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4424" y="404813"/>
            <a:ext cx="3517697" cy="932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0" y="0"/>
            <a:ext cx="12313979" cy="6873051"/>
            <a:chOff x="437414" y="-3810"/>
            <a:chExt cx="12313979" cy="6873051"/>
          </a:xfrm>
        </p:grpSpPr>
        <p:sp>
          <p:nvSpPr>
            <p:cNvPr id="103" name="Google Shape;103;p2"/>
            <p:cNvSpPr/>
            <p:nvPr/>
          </p:nvSpPr>
          <p:spPr>
            <a:xfrm>
              <a:off x="3353942" y="-3810"/>
              <a:ext cx="9397451" cy="6873051"/>
            </a:xfrm>
            <a:prstGeom prst="roundRect">
              <a:avLst>
                <a:gd name="adj" fmla="val 401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437414" y="1535311"/>
              <a:ext cx="3256090" cy="45212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27852" y="1409493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227852" y="1805733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3807042" y="5461819"/>
            <a:ext cx="5328050" cy="994622"/>
          </a:xfrm>
          <a:prstGeom prst="roundRect">
            <a:avLst>
              <a:gd name="adj" fmla="val 5901"/>
            </a:avLst>
          </a:prstGeom>
          <a:gradFill>
            <a:gsLst>
              <a:gs pos="0">
                <a:srgbClr val="1E53A4"/>
              </a:gs>
              <a:gs pos="100000">
                <a:srgbClr val="43C7F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9373056" y="5461819"/>
            <a:ext cx="1966901" cy="994622"/>
          </a:xfrm>
          <a:prstGeom prst="roundRect">
            <a:avLst>
              <a:gd name="adj" fmla="val 5901"/>
            </a:avLst>
          </a:prstGeom>
          <a:gradFill>
            <a:gsLst>
              <a:gs pos="0">
                <a:srgbClr val="1E53A4"/>
              </a:gs>
              <a:gs pos="100000">
                <a:srgbClr val="43C7F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5581" y="-2060123"/>
            <a:ext cx="6066984" cy="181946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811298" y="1605064"/>
            <a:ext cx="762067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rPr>
              <a:t>О нас</a:t>
            </a:r>
            <a:endParaRPr sz="1200">
              <a:solidFill>
                <a:srgbClr val="255B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493582" y="1605064"/>
            <a:ext cx="31771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>
              <a:solidFill>
                <a:srgbClr val="255BA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811298" y="2108931"/>
            <a:ext cx="1446655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Переговоры</a:t>
            </a:r>
            <a:endParaRPr sz="12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811298" y="3116665"/>
            <a:ext cx="1517775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Почему мы?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11298" y="3609235"/>
            <a:ext cx="2699804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Как заключить контракт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811298" y="4124399"/>
            <a:ext cx="2836777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</a:rPr>
              <a:t>Фото ЦЗС™</a:t>
            </a:r>
            <a:endParaRPr sz="12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11298" y="4628266"/>
            <a:ext cx="762067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Отзывы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3694772" y="468841"/>
            <a:ext cx="793110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Мы работаем для вас</a:t>
            </a:r>
            <a:endParaRPr sz="35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743956" y="1219031"/>
            <a:ext cx="1776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1E53A4"/>
                </a:solidFill>
              </a:rPr>
              <a:t>25</a:t>
            </a:r>
            <a:r>
              <a:rPr lang="ru-RU" sz="36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лет</a:t>
            </a:r>
            <a:endParaRPr sz="36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3764693" y="1832010"/>
            <a:ext cx="224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деловых переговоров</a:t>
            </a:r>
            <a:endParaRPr dirty="0"/>
          </a:p>
        </p:txBody>
      </p:sp>
      <p:sp>
        <p:nvSpPr>
          <p:cNvPr id="121" name="Google Shape;121;p2"/>
          <p:cNvSpPr/>
          <p:nvPr/>
        </p:nvSpPr>
        <p:spPr>
          <a:xfrm>
            <a:off x="9844815" y="1151875"/>
            <a:ext cx="248282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1E53A4"/>
                </a:solidFill>
              </a:rPr>
              <a:t>154</a:t>
            </a:r>
            <a:r>
              <a:rPr lang="ru-RU" sz="36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3500" dirty="0" smtClean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ЦЗС™</a:t>
            </a:r>
            <a:r>
              <a:rPr lang="ru-RU" sz="2000" dirty="0" smtClean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6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9938357" y="1810371"/>
            <a:ext cx="238353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проведено нами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7542154" y="1127532"/>
            <a:ext cx="2059545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1E53A4"/>
                </a:solidFill>
              </a:rPr>
              <a:t>2 073</a:t>
            </a:r>
            <a:r>
              <a:rPr lang="ru-RU" sz="40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сети</a:t>
            </a:r>
            <a:endParaRPr sz="36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7586890" y="1818148"/>
            <a:ext cx="2527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закупают на платформе</a:t>
            </a:r>
            <a:endParaRPr dirty="0"/>
          </a:p>
        </p:txBody>
      </p:sp>
      <p:sp>
        <p:nvSpPr>
          <p:cNvPr id="130" name="Google Shape;130;p2"/>
          <p:cNvSpPr/>
          <p:nvPr/>
        </p:nvSpPr>
        <p:spPr>
          <a:xfrm>
            <a:off x="3946407" y="5593259"/>
            <a:ext cx="5276723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Получите доступ к этим </a:t>
            </a:r>
            <a:r>
              <a:rPr lang="ru-RU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ресурсам </a:t>
            </a:r>
            <a:r>
              <a:rPr lang="ru-RU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 </a:t>
            </a:r>
            <a:r>
              <a:rPr lang="ru-RU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ru-RU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вашем </a:t>
            </a:r>
            <a:r>
              <a:rPr lang="ru-RU" sz="2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личном </a:t>
            </a:r>
            <a:r>
              <a:rPr lang="ru-RU" sz="2000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кабинете на сайте </a:t>
            </a:r>
            <a:r>
              <a:rPr lang="ru-RU" sz="20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ЦЗС</a:t>
            </a:r>
            <a:r>
              <a:rPr lang="ru-RU" sz="2000" b="1" dirty="0" smtClean="0">
                <a:solidFill>
                  <a:schemeClr val="bg1"/>
                </a:solidFill>
              </a:rPr>
              <a:t>™</a:t>
            </a:r>
            <a:endParaRPr sz="2000" b="1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8912426" y="5655290"/>
            <a:ext cx="666126" cy="666126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8707618" y="7633625"/>
            <a:ext cx="1163320" cy="244331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Подробнее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9876074" y="7630534"/>
            <a:ext cx="1954294" cy="254639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https://platforma-czs.ru</a:t>
            </a:r>
            <a:endParaRPr sz="10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2"/>
          <p:cNvGrpSpPr/>
          <p:nvPr/>
        </p:nvGrpSpPr>
        <p:grpSpPr>
          <a:xfrm>
            <a:off x="587375" y="6213092"/>
            <a:ext cx="760909" cy="269264"/>
            <a:chOff x="587375" y="6213092"/>
            <a:chExt cx="760909" cy="269264"/>
          </a:xfrm>
        </p:grpSpPr>
        <p:sp>
          <p:nvSpPr>
            <p:cNvPr id="135" name="Google Shape;135;p2"/>
            <p:cNvSpPr/>
            <p:nvPr/>
          </p:nvSpPr>
          <p:spPr>
            <a:xfrm>
              <a:off x="587375" y="6236798"/>
              <a:ext cx="760909" cy="215038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84B4E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750735" y="6213092"/>
              <a:ext cx="454510" cy="269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000" dirty="0" smtClean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ru-RU" sz="1000" dirty="0" smtClean="0">
                  <a:solidFill>
                    <a:srgbClr val="84B4E0"/>
                  </a:solidFill>
                  <a:latin typeface="Arial"/>
                  <a:ea typeface="Arial"/>
                  <a:cs typeface="Arial"/>
                  <a:sym typeface="Arial"/>
                </a:rPr>
                <a:t>/6</a:t>
              </a:r>
              <a:endParaRPr sz="1000" dirty="0">
                <a:solidFill>
                  <a:srgbClr val="84B4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 rot="10800000">
              <a:off x="607599" y="6241208"/>
              <a:ext cx="248786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rgbClr val="84B4E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2"/>
          <p:cNvSpPr/>
          <p:nvPr/>
        </p:nvSpPr>
        <p:spPr>
          <a:xfrm>
            <a:off x="5804296" y="1193152"/>
            <a:ext cx="1776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1E53A4"/>
                </a:solidFill>
              </a:rPr>
              <a:t>34</a:t>
            </a:r>
            <a:r>
              <a:rPr lang="ru-RU" sz="36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000" dirty="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года</a:t>
            </a:r>
            <a:endParaRPr sz="36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5807779" y="1832009"/>
            <a:ext cx="224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работы компании</a:t>
            </a:r>
            <a:endParaRPr dirty="0"/>
          </a:p>
        </p:txBody>
      </p:sp>
      <p:pic>
        <p:nvPicPr>
          <p:cNvPr id="140" name="Google Shape;14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13" y="416925"/>
            <a:ext cx="2550556" cy="676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779" y="1668254"/>
            <a:ext cx="162750" cy="16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"/>
          <p:cNvPicPr preferRelativeResize="0"/>
          <p:nvPr/>
        </p:nvPicPr>
        <p:blipFill rotWithShape="1">
          <a:blip r:embed="rId7">
            <a:alphaModFix/>
          </a:blip>
          <a:srcRect l="23206" t="43256" r="40744"/>
          <a:stretch/>
        </p:blipFill>
        <p:spPr>
          <a:xfrm>
            <a:off x="607827" y="2134874"/>
            <a:ext cx="190500" cy="18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"/>
          <p:cNvPicPr preferRelativeResize="0"/>
          <p:nvPr/>
        </p:nvPicPr>
        <p:blipFill rotWithShape="1">
          <a:blip r:embed="rId8">
            <a:alphaModFix/>
          </a:blip>
          <a:srcRect t="5947" b="5947"/>
          <a:stretch/>
        </p:blipFill>
        <p:spPr>
          <a:xfrm>
            <a:off x="621704" y="3185463"/>
            <a:ext cx="162744" cy="14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"/>
          <p:cNvPicPr preferRelativeResize="0"/>
          <p:nvPr/>
        </p:nvPicPr>
        <p:blipFill rotWithShape="1">
          <a:blip r:embed="rId9">
            <a:alphaModFix/>
          </a:blip>
          <a:srcRect l="31537" t="50673" r="43785"/>
          <a:stretch/>
        </p:blipFill>
        <p:spPr>
          <a:xfrm>
            <a:off x="636776" y="3636312"/>
            <a:ext cx="132600" cy="1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"/>
          <p:cNvPicPr preferRelativeResize="0"/>
          <p:nvPr/>
        </p:nvPicPr>
        <p:blipFill rotWithShape="1">
          <a:blip r:embed="rId10">
            <a:alphaModFix/>
          </a:blip>
          <a:srcRect l="19085" t="51196" r="37939"/>
          <a:stretch/>
        </p:blipFill>
        <p:spPr>
          <a:xfrm>
            <a:off x="607826" y="4189957"/>
            <a:ext cx="190500" cy="1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"/>
          <p:cNvPicPr preferRelativeResize="0"/>
          <p:nvPr/>
        </p:nvPicPr>
        <p:blipFill rotWithShape="1">
          <a:blip r:embed="rId11">
            <a:alphaModFix/>
          </a:blip>
          <a:srcRect l="23681" t="50661" r="36963"/>
          <a:stretch/>
        </p:blipFill>
        <p:spPr>
          <a:xfrm>
            <a:off x="621702" y="4704802"/>
            <a:ext cx="162750" cy="12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064275" y="5807231"/>
            <a:ext cx="387025" cy="36424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49" name="Google Shape;118;p2"/>
          <p:cNvSpPr/>
          <p:nvPr/>
        </p:nvSpPr>
        <p:spPr>
          <a:xfrm>
            <a:off x="3725906" y="2440418"/>
            <a:ext cx="7931101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 smtClean="0">
                <a:solidFill>
                  <a:srgbClr val="1E53A4"/>
                </a:solidFill>
              </a:rPr>
              <a:t>В 2025 году по категории </a:t>
            </a:r>
            <a:r>
              <a:rPr lang="en-US" sz="3500" dirty="0" smtClean="0">
                <a:solidFill>
                  <a:srgbClr val="1E53A4"/>
                </a:solidFill>
              </a:rPr>
              <a:t>{{block2}}</a:t>
            </a:r>
            <a:endParaRPr sz="35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119;p2"/>
          <p:cNvSpPr/>
          <p:nvPr/>
        </p:nvSpPr>
        <p:spPr>
          <a:xfrm>
            <a:off x="3787991" y="3786330"/>
            <a:ext cx="2138023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dirty="0" smtClean="0">
                <a:solidFill>
                  <a:srgbClr val="1E53A4"/>
                </a:solidFill>
              </a:rPr>
              <a:t>{{block3}}</a:t>
            </a:r>
            <a:endParaRPr sz="36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119;p2"/>
          <p:cNvSpPr/>
          <p:nvPr/>
        </p:nvSpPr>
        <p:spPr>
          <a:xfrm>
            <a:off x="6868984" y="3813040"/>
            <a:ext cx="2169508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500" dirty="0" smtClean="0">
                <a:solidFill>
                  <a:srgbClr val="1E53A4"/>
                </a:solidFill>
              </a:rPr>
              <a:t>{{block4}}</a:t>
            </a:r>
            <a:endParaRPr lang="en-US" sz="3600" dirty="0">
              <a:solidFill>
                <a:srgbClr val="1E53A4"/>
              </a:solidFill>
            </a:endParaRPr>
          </a:p>
        </p:txBody>
      </p:sp>
      <p:sp>
        <p:nvSpPr>
          <p:cNvPr id="52" name="Google Shape;119;p2"/>
          <p:cNvSpPr/>
          <p:nvPr/>
        </p:nvSpPr>
        <p:spPr>
          <a:xfrm>
            <a:off x="9524925" y="3761115"/>
            <a:ext cx="2107298" cy="6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500" dirty="0" smtClean="0">
                <a:solidFill>
                  <a:srgbClr val="1E53A4"/>
                </a:solidFill>
              </a:rPr>
              <a:t>{{block5}}</a:t>
            </a:r>
            <a:endParaRPr lang="en-US" sz="3600" dirty="0">
              <a:solidFill>
                <a:srgbClr val="1E53A4"/>
              </a:solidFill>
            </a:endParaRPr>
          </a:p>
        </p:txBody>
      </p:sp>
      <p:sp>
        <p:nvSpPr>
          <p:cNvPr id="54" name="Google Shape;120;p2"/>
          <p:cNvSpPr/>
          <p:nvPr/>
        </p:nvSpPr>
        <p:spPr>
          <a:xfrm>
            <a:off x="3753688" y="4563211"/>
            <a:ext cx="2240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деловых переговоров</a:t>
            </a:r>
            <a:endParaRPr dirty="0"/>
          </a:p>
        </p:txBody>
      </p:sp>
      <p:sp>
        <p:nvSpPr>
          <p:cNvPr id="55" name="Google Shape;120;p2"/>
          <p:cNvSpPr/>
          <p:nvPr/>
        </p:nvSpPr>
        <p:spPr>
          <a:xfrm>
            <a:off x="6684459" y="4566141"/>
            <a:ext cx="1888041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</a:rPr>
              <a:t>из них успешных</a:t>
            </a:r>
            <a:br>
              <a:rPr lang="ru-RU" dirty="0" smtClean="0">
                <a:solidFill>
                  <a:schemeClr val="dk1"/>
                </a:solidFill>
              </a:rPr>
            </a:br>
            <a:r>
              <a:rPr lang="ru-RU" dirty="0" smtClean="0">
                <a:solidFill>
                  <a:schemeClr val="dk1"/>
                </a:solidFill>
              </a:rPr>
              <a:t>переговоров</a:t>
            </a:r>
            <a:endParaRPr b="1" dirty="0"/>
          </a:p>
        </p:txBody>
      </p:sp>
      <p:sp>
        <p:nvSpPr>
          <p:cNvPr id="56" name="Google Shape;120;p2"/>
          <p:cNvSpPr/>
          <p:nvPr/>
        </p:nvSpPr>
        <p:spPr>
          <a:xfrm>
            <a:off x="9462827" y="4487011"/>
            <a:ext cx="22404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</a:rPr>
              <a:t>успешных переговоров у чемпиона по категории</a:t>
            </a:r>
            <a:endParaRPr dirty="0"/>
          </a:p>
        </p:txBody>
      </p:sp>
      <p:sp>
        <p:nvSpPr>
          <p:cNvPr id="53" name="Прямоугольник 52"/>
          <p:cNvSpPr/>
          <p:nvPr/>
        </p:nvSpPr>
        <p:spPr>
          <a:xfrm>
            <a:off x="9829800" y="5503985"/>
            <a:ext cx="1037492" cy="9056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 smtClean="0">
                <a:latin typeface="Calibri"/>
                <a:ea typeface="Calibri"/>
                <a:cs typeface="Calibri"/>
                <a:sym typeface="Calibri"/>
              </a:rPr>
              <a:t>{{pic1}}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3"/>
          <p:cNvGrpSpPr/>
          <p:nvPr/>
        </p:nvGrpSpPr>
        <p:grpSpPr>
          <a:xfrm>
            <a:off x="493560" y="-8125"/>
            <a:ext cx="12086170" cy="6873051"/>
            <a:chOff x="437414" y="-3810"/>
            <a:chExt cx="12313979" cy="6873051"/>
          </a:xfrm>
        </p:grpSpPr>
        <p:sp>
          <p:nvSpPr>
            <p:cNvPr id="155" name="Google Shape;155;p3"/>
            <p:cNvSpPr/>
            <p:nvPr/>
          </p:nvSpPr>
          <p:spPr>
            <a:xfrm>
              <a:off x="3353942" y="-3810"/>
              <a:ext cx="9397451" cy="6873051"/>
            </a:xfrm>
            <a:prstGeom prst="roundRect">
              <a:avLst>
                <a:gd name="adj" fmla="val 401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437414" y="2031373"/>
              <a:ext cx="3256090" cy="45212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227852" y="1905555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3227852" y="2301795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3"/>
          <p:cNvSpPr/>
          <p:nvPr/>
        </p:nvSpPr>
        <p:spPr>
          <a:xfrm>
            <a:off x="811298" y="1605064"/>
            <a:ext cx="762067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 нас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811298" y="2108931"/>
            <a:ext cx="1446655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Переговоры</a:t>
            </a:r>
            <a:endParaRPr sz="12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811298" y="3609235"/>
            <a:ext cx="2699804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Как заключить контракт</a:t>
            </a:r>
            <a:endParaRPr sz="12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811298" y="4124399"/>
            <a:ext cx="2836777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200">
                <a:solidFill>
                  <a:schemeClr val="lt1"/>
                </a:solidFill>
              </a:rPr>
              <a:t>Фото ЦЗС™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811298" y="4628266"/>
            <a:ext cx="762067" cy="289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Отзывы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3"/>
          <p:cNvGrpSpPr/>
          <p:nvPr/>
        </p:nvGrpSpPr>
        <p:grpSpPr>
          <a:xfrm>
            <a:off x="587375" y="6213092"/>
            <a:ext cx="760909" cy="269264"/>
            <a:chOff x="587375" y="6213092"/>
            <a:chExt cx="760909" cy="269264"/>
          </a:xfrm>
        </p:grpSpPr>
        <p:sp>
          <p:nvSpPr>
            <p:cNvPr id="167" name="Google Shape;167;p3"/>
            <p:cNvSpPr/>
            <p:nvPr/>
          </p:nvSpPr>
          <p:spPr>
            <a:xfrm>
              <a:off x="587375" y="6236798"/>
              <a:ext cx="760909" cy="215038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84B4E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750735" y="6213092"/>
              <a:ext cx="454510" cy="269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000" dirty="0" smtClean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3/6</a:t>
              </a:r>
              <a:endParaRPr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3"/>
          <p:cNvSpPr/>
          <p:nvPr/>
        </p:nvSpPr>
        <p:spPr>
          <a:xfrm>
            <a:off x="5835876" y="216200"/>
            <a:ext cx="6517149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0" dirty="0">
                <a:solidFill>
                  <a:srgbClr val="1E53A4"/>
                </a:solidFill>
              </a:rPr>
              <a:t>переговоров с сетями в </a:t>
            </a:r>
            <a:r>
              <a:rPr lang="ru-RU" sz="3500" dirty="0" smtClean="0">
                <a:solidFill>
                  <a:srgbClr val="1E53A4"/>
                </a:solidFill>
              </a:rPr>
              <a:t>категории </a:t>
            </a:r>
            <a:r>
              <a:rPr lang="en-US" sz="3500" dirty="0" smtClean="0">
                <a:solidFill>
                  <a:srgbClr val="1E53A4"/>
                </a:solidFill>
              </a:rPr>
              <a:t>{{block2}}</a:t>
            </a:r>
            <a:endParaRPr sz="4000" dirty="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4198566" y="5252751"/>
            <a:ext cx="519943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Ваша продукция окажется на полках интересующих вас сетей гораздо быстрее, чем вы ожидаете!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3674259" y="155953"/>
            <a:ext cx="2280963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30+</a:t>
            </a:r>
            <a:endParaRPr sz="84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2" name="Google Shape;172;p3"/>
          <p:cNvGrpSpPr/>
          <p:nvPr/>
        </p:nvGrpSpPr>
        <p:grpSpPr>
          <a:xfrm>
            <a:off x="3681841" y="1589425"/>
            <a:ext cx="2518555" cy="3290443"/>
            <a:chOff x="3681841" y="1849469"/>
            <a:chExt cx="2518555" cy="3290443"/>
          </a:xfrm>
        </p:grpSpPr>
        <p:sp>
          <p:nvSpPr>
            <p:cNvPr id="173" name="Google Shape;173;p3"/>
            <p:cNvSpPr/>
            <p:nvPr/>
          </p:nvSpPr>
          <p:spPr>
            <a:xfrm>
              <a:off x="3681841" y="1849469"/>
              <a:ext cx="2393495" cy="1384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8400">
                  <a:solidFill>
                    <a:srgbClr val="1E53A4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8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4343647" y="2659973"/>
              <a:ext cx="76335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rgbClr val="1E53A4"/>
                  </a:solidFill>
                  <a:latin typeface="Arial"/>
                  <a:ea typeface="Arial"/>
                  <a:cs typeface="Arial"/>
                  <a:sym typeface="Arial"/>
                </a:rPr>
                <a:t>часа</a:t>
              </a:r>
              <a:endParaRPr sz="48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695686" y="3539474"/>
              <a:ext cx="2504710" cy="16004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Виртуальный ассистент поможет подготовиться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к переговорам,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создать коммерческое предложение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 записаться к нужным сетям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688843" y="3170706"/>
              <a:ext cx="1773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ПОДГОТОВК</a:t>
              </a:r>
              <a:r>
                <a:rPr lang="ru-RU" sz="1800">
                  <a:solidFill>
                    <a:schemeClr val="dk1"/>
                  </a:solidFill>
                </a:rPr>
                <a:t>И</a:t>
              </a:r>
              <a:endParaRPr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3"/>
          <p:cNvGrpSpPr/>
          <p:nvPr/>
        </p:nvGrpSpPr>
        <p:grpSpPr>
          <a:xfrm>
            <a:off x="6315979" y="1604665"/>
            <a:ext cx="2585761" cy="2844316"/>
            <a:chOff x="3681842" y="1864709"/>
            <a:chExt cx="2585761" cy="2844316"/>
          </a:xfrm>
        </p:grpSpPr>
        <p:sp>
          <p:nvSpPr>
            <p:cNvPr id="178" name="Google Shape;178;p3"/>
            <p:cNvSpPr/>
            <p:nvPr/>
          </p:nvSpPr>
          <p:spPr>
            <a:xfrm>
              <a:off x="3681842" y="1864709"/>
              <a:ext cx="826376" cy="1384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8400">
                  <a:solidFill>
                    <a:srgbClr val="1E53A4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8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>
              <a:off x="4431181" y="2659973"/>
              <a:ext cx="59824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rgbClr val="1E53A4"/>
                  </a:solidFill>
                  <a:latin typeface="Arial"/>
                  <a:ea typeface="Arial"/>
                  <a:cs typeface="Arial"/>
                  <a:sym typeface="Arial"/>
                </a:rPr>
                <a:t>дня</a:t>
              </a:r>
              <a:endParaRPr sz="48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3695686" y="3539474"/>
              <a:ext cx="2571917" cy="1169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Личное общение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вместо месяцев ожиданий, отказов, длительных рассылок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 командировок </a:t>
              </a: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3688836" y="3170694"/>
              <a:ext cx="1563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ВСТРЕЧ</a:t>
              </a:r>
              <a:endParaRPr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3"/>
          <p:cNvGrpSpPr/>
          <p:nvPr/>
        </p:nvGrpSpPr>
        <p:grpSpPr>
          <a:xfrm>
            <a:off x="8779003" y="1589425"/>
            <a:ext cx="3187551" cy="2859556"/>
            <a:chOff x="3681841" y="1849469"/>
            <a:chExt cx="3187551" cy="2859556"/>
          </a:xfrm>
        </p:grpSpPr>
        <p:sp>
          <p:nvSpPr>
            <p:cNvPr id="183" name="Google Shape;183;p3"/>
            <p:cNvSpPr/>
            <p:nvPr/>
          </p:nvSpPr>
          <p:spPr>
            <a:xfrm>
              <a:off x="3681841" y="1849469"/>
              <a:ext cx="2393495" cy="138499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8400">
                  <a:solidFill>
                    <a:srgbClr val="1E53A4"/>
                  </a:solidFill>
                  <a:latin typeface="Arial"/>
                  <a:ea typeface="Arial"/>
                  <a:cs typeface="Arial"/>
                  <a:sym typeface="Arial"/>
                </a:rPr>
                <a:t>5-7</a:t>
              </a:r>
              <a:endParaRPr sz="8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>
              <a:off x="5260019" y="2653877"/>
              <a:ext cx="14943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rgbClr val="1E53A4"/>
                  </a:solidFill>
                </a:rPr>
                <a:t>подписано</a:t>
              </a:r>
              <a:endParaRPr sz="48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3695685" y="3539474"/>
              <a:ext cx="3173707" cy="1169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Автоматизированная система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 готовые шаблоны позволяют подписывать контракты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за минуты. Без рисков </a:t>
              </a:r>
              <a:b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ru-RU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и давления по срокам поставки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3688843" y="3170706"/>
              <a:ext cx="1859805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800">
                  <a:solidFill>
                    <a:schemeClr val="dk1"/>
                  </a:solidFill>
                </a:rPr>
                <a:t>КОНТРАКТОВ</a:t>
              </a:r>
              <a:endParaRPr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3"/>
          <p:cNvSpPr/>
          <p:nvPr/>
        </p:nvSpPr>
        <p:spPr>
          <a:xfrm>
            <a:off x="3698919" y="5260941"/>
            <a:ext cx="5829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rgbClr val="1E53A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>
            <a:off x="4198566" y="6010093"/>
            <a:ext cx="446413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u-RU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Перейдите по QR коду, </a:t>
            </a:r>
            <a:r>
              <a:rPr lang="ru-RU" dirty="0" smtClean="0">
                <a:solidFill>
                  <a:schemeClr val="dk1"/>
                </a:solidFill>
              </a:rPr>
              <a:t>на сайт </a:t>
            </a:r>
            <a:r>
              <a:rPr lang="ru-RU" b="1" dirty="0" smtClean="0">
                <a:solidFill>
                  <a:schemeClr val="tx1"/>
                </a:solidFill>
              </a:rPr>
              <a:t>ЦЗС™ </a:t>
            </a:r>
            <a:r>
              <a:rPr lang="ru-RU" dirty="0" smtClean="0">
                <a:solidFill>
                  <a:schemeClr val="tx1"/>
                </a:solidFill>
              </a:rPr>
              <a:t>и оставьте заявку на участие</a:t>
            </a:r>
            <a:endParaRPr sz="1400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/>
          <p:nvPr/>
        </p:nvSpPr>
        <p:spPr>
          <a:xfrm rot="-2700000">
            <a:off x="3750622" y="6119348"/>
            <a:ext cx="180609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>
              <a:solidFill>
                <a:srgbClr val="1E53A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23091" y="4917384"/>
            <a:ext cx="1650178" cy="165017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"/>
          <p:cNvSpPr/>
          <p:nvPr/>
        </p:nvSpPr>
        <p:spPr>
          <a:xfrm rot="9663654" flipH="1">
            <a:off x="9055431" y="6079969"/>
            <a:ext cx="814576" cy="215410"/>
          </a:xfrm>
          <a:custGeom>
            <a:avLst/>
            <a:gdLst/>
            <a:ahLst/>
            <a:cxnLst/>
            <a:rect l="l" t="t" r="r" b="b"/>
            <a:pathLst>
              <a:path w="1010920" h="267332" extrusionOk="0">
                <a:moveTo>
                  <a:pt x="0" y="267332"/>
                </a:moveTo>
                <a:cubicBezTo>
                  <a:pt x="122766" y="104772"/>
                  <a:pt x="202353" y="30689"/>
                  <a:pt x="370840" y="5712"/>
                </a:cubicBezTo>
                <a:cubicBezTo>
                  <a:pt x="539327" y="-19265"/>
                  <a:pt x="786553" y="41272"/>
                  <a:pt x="1010920" y="117472"/>
                </a:cubicBezTo>
              </a:path>
            </a:pathLst>
          </a:cu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13" y="416925"/>
            <a:ext cx="2550556" cy="676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"/>
          <p:cNvPicPr preferRelativeResize="0"/>
          <p:nvPr/>
        </p:nvPicPr>
        <p:blipFill rotWithShape="1">
          <a:blip r:embed="rId6">
            <a:alphaModFix/>
          </a:blip>
          <a:srcRect l="23769" t="45103" r="35376"/>
          <a:stretch/>
        </p:blipFill>
        <p:spPr>
          <a:xfrm>
            <a:off x="607827" y="1653783"/>
            <a:ext cx="190500" cy="162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"/>
          <p:cNvPicPr preferRelativeResize="0"/>
          <p:nvPr/>
        </p:nvPicPr>
        <p:blipFill rotWithShape="1">
          <a:blip r:embed="rId7">
            <a:alphaModFix/>
          </a:blip>
          <a:srcRect l="23206" t="43256" r="40744"/>
          <a:stretch/>
        </p:blipFill>
        <p:spPr>
          <a:xfrm>
            <a:off x="607827" y="2134874"/>
            <a:ext cx="190500" cy="18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"/>
          <p:cNvPicPr preferRelativeResize="0"/>
          <p:nvPr/>
        </p:nvPicPr>
        <p:blipFill rotWithShape="1">
          <a:blip r:embed="rId8">
            <a:alphaModFix/>
          </a:blip>
          <a:srcRect l="31537" t="50673" r="43785"/>
          <a:stretch/>
        </p:blipFill>
        <p:spPr>
          <a:xfrm>
            <a:off x="636776" y="3636312"/>
            <a:ext cx="132600" cy="1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"/>
          <p:cNvPicPr preferRelativeResize="0"/>
          <p:nvPr/>
        </p:nvPicPr>
        <p:blipFill rotWithShape="1">
          <a:blip r:embed="rId9">
            <a:alphaModFix/>
          </a:blip>
          <a:srcRect l="19085" t="51196" r="37939"/>
          <a:stretch/>
        </p:blipFill>
        <p:spPr>
          <a:xfrm>
            <a:off x="607826" y="4189957"/>
            <a:ext cx="190500" cy="1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"/>
          <p:cNvPicPr preferRelativeResize="0"/>
          <p:nvPr/>
        </p:nvPicPr>
        <p:blipFill rotWithShape="1">
          <a:blip r:embed="rId10">
            <a:alphaModFix/>
          </a:blip>
          <a:srcRect l="23681" t="50661" r="36963"/>
          <a:stretch/>
        </p:blipFill>
        <p:spPr>
          <a:xfrm>
            <a:off x="621702" y="4704802"/>
            <a:ext cx="162750" cy="12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6"/>
          <p:cNvGrpSpPr/>
          <p:nvPr/>
        </p:nvGrpSpPr>
        <p:grpSpPr>
          <a:xfrm>
            <a:off x="442913" y="-15051"/>
            <a:ext cx="12313979" cy="6873051"/>
            <a:chOff x="437414" y="-3810"/>
            <a:chExt cx="12313979" cy="6873051"/>
          </a:xfrm>
        </p:grpSpPr>
        <p:sp>
          <p:nvSpPr>
            <p:cNvPr id="328" name="Google Shape;328;p6"/>
            <p:cNvSpPr/>
            <p:nvPr/>
          </p:nvSpPr>
          <p:spPr>
            <a:xfrm>
              <a:off x="3353942" y="-3810"/>
              <a:ext cx="9397451" cy="6873051"/>
            </a:xfrm>
            <a:prstGeom prst="roundRect">
              <a:avLst>
                <a:gd name="adj" fmla="val 401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6"/>
            <p:cNvSpPr/>
            <p:nvPr/>
          </p:nvSpPr>
          <p:spPr>
            <a:xfrm>
              <a:off x="437414" y="3530600"/>
              <a:ext cx="3256090" cy="45212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6"/>
            <p:cNvSpPr/>
            <p:nvPr/>
          </p:nvSpPr>
          <p:spPr>
            <a:xfrm>
              <a:off x="3227852" y="3404782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6"/>
            <p:cNvSpPr/>
            <p:nvPr/>
          </p:nvSpPr>
          <p:spPr>
            <a:xfrm>
              <a:off x="3227852" y="3801022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3668395" y="237458"/>
            <a:ext cx="793110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rgbClr val="1E53A4"/>
                </a:solidFill>
              </a:rPr>
              <a:t>Всего 2 дня и вы в сети!</a:t>
            </a:r>
            <a:endParaRPr sz="40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4260769" y="1908270"/>
            <a:ext cx="40499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Получите доступ в личный кабинет</a:t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3699925" y="1087813"/>
            <a:ext cx="711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35" name="Google Shape;335;p6"/>
          <p:cNvSpPr/>
          <p:nvPr/>
        </p:nvSpPr>
        <p:spPr>
          <a:xfrm>
            <a:off x="4260769" y="2676842"/>
            <a:ext cx="432500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Сгенерируйте автоматическую презентацию вашего коммерческого предложения</a:t>
            </a:r>
            <a:endParaRPr/>
          </a:p>
        </p:txBody>
      </p:sp>
      <p:sp>
        <p:nvSpPr>
          <p:cNvPr id="336" name="Google Shape;336;p6"/>
          <p:cNvSpPr/>
          <p:nvPr/>
        </p:nvSpPr>
        <p:spPr>
          <a:xfrm>
            <a:off x="3699925" y="1811654"/>
            <a:ext cx="711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4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4260770" y="3471229"/>
            <a:ext cx="385360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Посмотрите короткие вебинары </a:t>
            </a:r>
            <a:b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 подготовке к переговорам</a:t>
            </a:r>
            <a:endParaRPr/>
          </a:p>
        </p:txBody>
      </p:sp>
      <p:sp>
        <p:nvSpPr>
          <p:cNvPr id="338" name="Google Shape;338;p6"/>
          <p:cNvSpPr/>
          <p:nvPr/>
        </p:nvSpPr>
        <p:spPr>
          <a:xfrm>
            <a:off x="3699925" y="2665522"/>
            <a:ext cx="711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4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4260769" y="4256625"/>
            <a:ext cx="404993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Получите подробный алгоритм </a:t>
            </a:r>
            <a:b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проведения переговоров</a:t>
            </a:r>
            <a:endParaRPr/>
          </a:p>
        </p:txBody>
      </p:sp>
      <p:sp>
        <p:nvSpPr>
          <p:cNvPr id="340" name="Google Shape;340;p6"/>
          <p:cNvSpPr/>
          <p:nvPr/>
        </p:nvSpPr>
        <p:spPr>
          <a:xfrm>
            <a:off x="3699925" y="3519096"/>
            <a:ext cx="711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4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4260769" y="1180554"/>
            <a:ext cx="40499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Выберите удобный пакет участия</a:t>
            </a:r>
            <a:endParaRPr/>
          </a:p>
        </p:txBody>
      </p:sp>
      <p:sp>
        <p:nvSpPr>
          <p:cNvPr id="342" name="Google Shape;342;p6"/>
          <p:cNvSpPr/>
          <p:nvPr/>
        </p:nvSpPr>
        <p:spPr>
          <a:xfrm>
            <a:off x="3699925" y="4256476"/>
            <a:ext cx="711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4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4294182" y="5049350"/>
            <a:ext cx="405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Примите участие в личных переговорах  </a:t>
            </a:r>
            <a:endParaRPr/>
          </a:p>
        </p:txBody>
      </p:sp>
      <p:sp>
        <p:nvSpPr>
          <p:cNvPr id="344" name="Google Shape;344;p6"/>
          <p:cNvSpPr/>
          <p:nvPr/>
        </p:nvSpPr>
        <p:spPr>
          <a:xfrm>
            <a:off x="3699925" y="4980317"/>
            <a:ext cx="71127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24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4343167" y="5889860"/>
            <a:ext cx="4049939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Заключите выгодные контракты </a:t>
            </a:r>
            <a:b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 нужными сетями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3687733" y="5842051"/>
            <a:ext cx="7112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36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7" name="Google Shape;347;p6"/>
          <p:cNvCxnSpPr/>
          <p:nvPr/>
        </p:nvCxnSpPr>
        <p:spPr>
          <a:xfrm>
            <a:off x="3920270" y="1544347"/>
            <a:ext cx="0" cy="261914"/>
          </a:xfrm>
          <a:prstGeom prst="straightConnector1">
            <a:avLst/>
          </a:prstGeom>
          <a:noFill/>
          <a:ln w="15875" cap="rnd" cmpd="sng">
            <a:solidFill>
              <a:srgbClr val="43C7F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8" name="Google Shape;348;p6"/>
          <p:cNvCxnSpPr/>
          <p:nvPr/>
        </p:nvCxnSpPr>
        <p:spPr>
          <a:xfrm>
            <a:off x="3920270" y="2286266"/>
            <a:ext cx="0" cy="261914"/>
          </a:xfrm>
          <a:prstGeom prst="straightConnector1">
            <a:avLst/>
          </a:prstGeom>
          <a:noFill/>
          <a:ln w="15875" cap="rnd" cmpd="sng">
            <a:solidFill>
              <a:srgbClr val="43C7F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49" name="Google Shape;349;p6"/>
          <p:cNvCxnSpPr/>
          <p:nvPr/>
        </p:nvCxnSpPr>
        <p:spPr>
          <a:xfrm>
            <a:off x="3930003" y="3960425"/>
            <a:ext cx="0" cy="261914"/>
          </a:xfrm>
          <a:prstGeom prst="straightConnector1">
            <a:avLst/>
          </a:prstGeom>
          <a:noFill/>
          <a:ln w="15875" cap="rnd" cmpd="sng">
            <a:solidFill>
              <a:srgbClr val="43C7F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0" name="Google Shape;350;p6"/>
          <p:cNvCxnSpPr/>
          <p:nvPr/>
        </p:nvCxnSpPr>
        <p:spPr>
          <a:xfrm>
            <a:off x="3930003" y="4701874"/>
            <a:ext cx="0" cy="261914"/>
          </a:xfrm>
          <a:prstGeom prst="straightConnector1">
            <a:avLst/>
          </a:prstGeom>
          <a:noFill/>
          <a:ln w="15875" cap="rnd" cmpd="sng">
            <a:solidFill>
              <a:srgbClr val="43C7F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1" name="Google Shape;351;p6"/>
          <p:cNvCxnSpPr/>
          <p:nvPr/>
        </p:nvCxnSpPr>
        <p:spPr>
          <a:xfrm>
            <a:off x="3930003" y="5451306"/>
            <a:ext cx="0" cy="261914"/>
          </a:xfrm>
          <a:prstGeom prst="straightConnector1">
            <a:avLst/>
          </a:prstGeom>
          <a:noFill/>
          <a:ln w="15875" cap="rnd" cmpd="sng">
            <a:solidFill>
              <a:srgbClr val="43C7F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52" name="Google Shape;352;p6"/>
          <p:cNvCxnSpPr/>
          <p:nvPr/>
        </p:nvCxnSpPr>
        <p:spPr>
          <a:xfrm>
            <a:off x="3920270" y="3148180"/>
            <a:ext cx="0" cy="261914"/>
          </a:xfrm>
          <a:prstGeom prst="straightConnector1">
            <a:avLst/>
          </a:prstGeom>
          <a:noFill/>
          <a:ln w="15875" cap="rnd" cmpd="sng">
            <a:solidFill>
              <a:srgbClr val="43C7F3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353" name="Google Shape;353;p6"/>
          <p:cNvGrpSpPr/>
          <p:nvPr/>
        </p:nvGrpSpPr>
        <p:grpSpPr>
          <a:xfrm>
            <a:off x="587375" y="6213092"/>
            <a:ext cx="760909" cy="269264"/>
            <a:chOff x="587375" y="6213092"/>
            <a:chExt cx="760909" cy="269264"/>
          </a:xfrm>
        </p:grpSpPr>
        <p:sp>
          <p:nvSpPr>
            <p:cNvPr id="354" name="Google Shape;354;p6"/>
            <p:cNvSpPr/>
            <p:nvPr/>
          </p:nvSpPr>
          <p:spPr>
            <a:xfrm>
              <a:off x="587375" y="6236798"/>
              <a:ext cx="760909" cy="215038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84B4E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750735" y="6213092"/>
              <a:ext cx="454510" cy="269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000" dirty="0" smtClean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r>
                <a:rPr lang="ru-RU" sz="1000" dirty="0" smtClean="0">
                  <a:solidFill>
                    <a:srgbClr val="84B4E0"/>
                  </a:solidFill>
                  <a:latin typeface="Arial"/>
                  <a:ea typeface="Arial"/>
                  <a:cs typeface="Arial"/>
                  <a:sym typeface="Arial"/>
                </a:rPr>
                <a:t>/6</a:t>
              </a:r>
              <a:endParaRPr sz="1000" dirty="0">
                <a:solidFill>
                  <a:srgbClr val="84B4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6" name="Google Shape;356;p6"/>
          <p:cNvSpPr/>
          <p:nvPr/>
        </p:nvSpPr>
        <p:spPr>
          <a:xfrm>
            <a:off x="3573780" y="5848146"/>
            <a:ext cx="4374949" cy="660474"/>
          </a:xfrm>
          <a:prstGeom prst="roundRect">
            <a:avLst>
              <a:gd name="adj" fmla="val 19009"/>
            </a:avLst>
          </a:prstGeom>
          <a:noFill/>
          <a:ln w="15875" cap="flat" cmpd="sng">
            <a:solidFill>
              <a:srgbClr val="1E53A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6"/>
          <p:cNvGrpSpPr/>
          <p:nvPr/>
        </p:nvGrpSpPr>
        <p:grpSpPr>
          <a:xfrm rot="342973">
            <a:off x="8985162" y="1364834"/>
            <a:ext cx="2626146" cy="5690472"/>
            <a:chOff x="13179161" y="1669241"/>
            <a:chExt cx="2626146" cy="5690472"/>
          </a:xfrm>
        </p:grpSpPr>
        <p:sp>
          <p:nvSpPr>
            <p:cNvPr id="358" name="Google Shape;358;p6"/>
            <p:cNvSpPr/>
            <p:nvPr/>
          </p:nvSpPr>
          <p:spPr>
            <a:xfrm>
              <a:off x="13179161" y="1669241"/>
              <a:ext cx="2626145" cy="4887986"/>
            </a:xfrm>
            <a:prstGeom prst="roundRect">
              <a:avLst>
                <a:gd name="adj" fmla="val 7604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59" name="Google Shape;359;p6"/>
            <p:cNvPicPr preferRelativeResize="0"/>
            <p:nvPr/>
          </p:nvPicPr>
          <p:blipFill rotWithShape="1">
            <a:blip r:embed="rId4">
              <a:alphaModFix/>
            </a:blip>
            <a:srcRect t="85473"/>
            <a:stretch/>
          </p:blipFill>
          <p:spPr>
            <a:xfrm>
              <a:off x="13189627" y="6535375"/>
              <a:ext cx="2615680" cy="824338"/>
            </a:xfrm>
            <a:custGeom>
              <a:avLst/>
              <a:gdLst/>
              <a:ahLst/>
              <a:cxnLst/>
              <a:rect l="l" t="t" r="r" b="b"/>
              <a:pathLst>
                <a:path w="2615680" h="824338" extrusionOk="0">
                  <a:moveTo>
                    <a:pt x="0" y="0"/>
                  </a:moveTo>
                  <a:lnTo>
                    <a:pt x="2615680" y="0"/>
                  </a:lnTo>
                  <a:lnTo>
                    <a:pt x="2615680" y="495312"/>
                  </a:lnTo>
                  <a:cubicBezTo>
                    <a:pt x="2615680" y="677028"/>
                    <a:pt x="2468370" y="824338"/>
                    <a:pt x="2286654" y="824338"/>
                  </a:cubicBezTo>
                  <a:lnTo>
                    <a:pt x="329026" y="824338"/>
                  </a:lnTo>
                  <a:cubicBezTo>
                    <a:pt x="147310" y="824338"/>
                    <a:pt x="0" y="677028"/>
                    <a:pt x="0" y="495312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360" name="Google Shape;360;p6"/>
            <p:cNvSpPr/>
            <p:nvPr/>
          </p:nvSpPr>
          <p:spPr>
            <a:xfrm>
              <a:off x="13179162" y="2233141"/>
              <a:ext cx="2626145" cy="4345937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6"/>
          <p:cNvSpPr/>
          <p:nvPr/>
        </p:nvSpPr>
        <p:spPr>
          <a:xfrm rot="342973">
            <a:off x="9414233" y="1939931"/>
            <a:ext cx="2136203" cy="861914"/>
          </a:xfrm>
          <a:prstGeom prst="roundRect">
            <a:avLst>
              <a:gd name="adj" fmla="val 8542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6"/>
          <p:cNvSpPr/>
          <p:nvPr/>
        </p:nvSpPr>
        <p:spPr>
          <a:xfrm rot="342973">
            <a:off x="9321161" y="2050577"/>
            <a:ext cx="236649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Платформа запуска продаж ваших товаров </a:t>
            </a:r>
            <a:b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 розничных сетях!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"/>
          <p:cNvSpPr/>
          <p:nvPr/>
        </p:nvSpPr>
        <p:spPr>
          <a:xfrm rot="342973">
            <a:off x="9430505" y="3068410"/>
            <a:ext cx="190548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Отсканируйте QR-code</a:t>
            </a:r>
            <a:endParaRPr sz="16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342973">
            <a:off x="6879623" y="842510"/>
            <a:ext cx="6827930" cy="6827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342976">
            <a:off x="9363652" y="3849931"/>
            <a:ext cx="1764623" cy="1764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2913" y="416925"/>
            <a:ext cx="2550556" cy="676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6"/>
          <p:cNvSpPr/>
          <p:nvPr/>
        </p:nvSpPr>
        <p:spPr>
          <a:xfrm>
            <a:off x="811298" y="1605064"/>
            <a:ext cx="762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 нас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"/>
          <p:cNvSpPr/>
          <p:nvPr/>
        </p:nvSpPr>
        <p:spPr>
          <a:xfrm>
            <a:off x="811298" y="2108931"/>
            <a:ext cx="14466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Переговоры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"/>
          <p:cNvSpPr/>
          <p:nvPr/>
        </p:nvSpPr>
        <p:spPr>
          <a:xfrm>
            <a:off x="811298" y="2612798"/>
            <a:ext cx="1278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Статистика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6"/>
          <p:cNvSpPr/>
          <p:nvPr/>
        </p:nvSpPr>
        <p:spPr>
          <a:xfrm>
            <a:off x="811298" y="3609235"/>
            <a:ext cx="2699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Как заключить контракт</a:t>
            </a:r>
            <a:endParaRPr sz="12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"/>
          <p:cNvSpPr/>
          <p:nvPr/>
        </p:nvSpPr>
        <p:spPr>
          <a:xfrm>
            <a:off x="811298" y="4124399"/>
            <a:ext cx="28368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200">
                <a:solidFill>
                  <a:schemeClr val="lt1"/>
                </a:solidFill>
              </a:rPr>
              <a:t>Фото ЦЗС™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6"/>
          <p:cNvSpPr/>
          <p:nvPr/>
        </p:nvSpPr>
        <p:spPr>
          <a:xfrm>
            <a:off x="811298" y="4628266"/>
            <a:ext cx="762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Отзывы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6"/>
          <p:cNvPicPr preferRelativeResize="0"/>
          <p:nvPr/>
        </p:nvPicPr>
        <p:blipFill rotWithShape="1">
          <a:blip r:embed="rId8">
            <a:alphaModFix/>
          </a:blip>
          <a:srcRect l="23769" t="45103" r="35376"/>
          <a:stretch/>
        </p:blipFill>
        <p:spPr>
          <a:xfrm>
            <a:off x="607827" y="1653783"/>
            <a:ext cx="190500" cy="162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6"/>
          <p:cNvPicPr preferRelativeResize="0"/>
          <p:nvPr/>
        </p:nvPicPr>
        <p:blipFill rotWithShape="1">
          <a:blip r:embed="rId9">
            <a:alphaModFix/>
          </a:blip>
          <a:srcRect l="23206" t="43256" r="40744"/>
          <a:stretch/>
        </p:blipFill>
        <p:spPr>
          <a:xfrm>
            <a:off x="607827" y="2134874"/>
            <a:ext cx="190500" cy="18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6"/>
          <p:cNvPicPr preferRelativeResize="0"/>
          <p:nvPr/>
        </p:nvPicPr>
        <p:blipFill rotWithShape="1">
          <a:blip r:embed="rId10">
            <a:alphaModFix/>
          </a:blip>
          <a:srcRect l="20334" t="55289" r="35385" b="3842"/>
          <a:stretch/>
        </p:blipFill>
        <p:spPr>
          <a:xfrm flipH="1">
            <a:off x="583139" y="2687259"/>
            <a:ext cx="239875" cy="140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6"/>
          <p:cNvPicPr preferRelativeResize="0"/>
          <p:nvPr/>
        </p:nvPicPr>
        <p:blipFill rotWithShape="1">
          <a:blip r:embed="rId11">
            <a:alphaModFix/>
          </a:blip>
          <a:srcRect l="31537" t="50673" r="43785"/>
          <a:stretch/>
        </p:blipFill>
        <p:spPr>
          <a:xfrm>
            <a:off x="636776" y="3636312"/>
            <a:ext cx="132600" cy="1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6"/>
          <p:cNvPicPr preferRelativeResize="0"/>
          <p:nvPr/>
        </p:nvPicPr>
        <p:blipFill rotWithShape="1">
          <a:blip r:embed="rId12">
            <a:alphaModFix/>
          </a:blip>
          <a:srcRect l="19085" t="51196" r="37939"/>
          <a:stretch/>
        </p:blipFill>
        <p:spPr>
          <a:xfrm>
            <a:off x="607826" y="4189957"/>
            <a:ext cx="190500" cy="1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6"/>
          <p:cNvPicPr preferRelativeResize="0"/>
          <p:nvPr/>
        </p:nvPicPr>
        <p:blipFill rotWithShape="1">
          <a:blip r:embed="rId13">
            <a:alphaModFix/>
          </a:blip>
          <a:srcRect l="23681" t="50661" r="36963"/>
          <a:stretch/>
        </p:blipFill>
        <p:spPr>
          <a:xfrm>
            <a:off x="621702" y="4704802"/>
            <a:ext cx="162750" cy="129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7"/>
          <p:cNvGrpSpPr/>
          <p:nvPr/>
        </p:nvGrpSpPr>
        <p:grpSpPr>
          <a:xfrm>
            <a:off x="442913" y="-15051"/>
            <a:ext cx="12313979" cy="6873051"/>
            <a:chOff x="442913" y="-15051"/>
            <a:chExt cx="12313979" cy="6873051"/>
          </a:xfrm>
        </p:grpSpPr>
        <p:sp>
          <p:nvSpPr>
            <p:cNvPr id="387" name="Google Shape;387;p7"/>
            <p:cNvSpPr/>
            <p:nvPr/>
          </p:nvSpPr>
          <p:spPr>
            <a:xfrm>
              <a:off x="3359441" y="-15051"/>
              <a:ext cx="9397451" cy="6873051"/>
            </a:xfrm>
            <a:custGeom>
              <a:avLst/>
              <a:gdLst/>
              <a:ahLst/>
              <a:cxnLst/>
              <a:rect l="l" t="t" r="r" b="b"/>
              <a:pathLst>
                <a:path w="9397451" h="6873051" extrusionOk="0">
                  <a:moveTo>
                    <a:pt x="4620648" y="3251985"/>
                  </a:moveTo>
                  <a:cubicBezTo>
                    <a:pt x="4575269" y="3251985"/>
                    <a:pt x="4538482" y="3288772"/>
                    <a:pt x="4538482" y="3334151"/>
                  </a:cubicBezTo>
                  <a:lnTo>
                    <a:pt x="4538482" y="4498928"/>
                  </a:lnTo>
                  <a:cubicBezTo>
                    <a:pt x="4538482" y="4544307"/>
                    <a:pt x="4575269" y="4581094"/>
                    <a:pt x="4620648" y="4581094"/>
                  </a:cubicBezTo>
                  <a:lnTo>
                    <a:pt x="6232726" y="4581094"/>
                  </a:lnTo>
                  <a:cubicBezTo>
                    <a:pt x="6278105" y="4581094"/>
                    <a:pt x="6314892" y="4544307"/>
                    <a:pt x="6314892" y="4498928"/>
                  </a:cubicBezTo>
                  <a:lnTo>
                    <a:pt x="6314892" y="3334151"/>
                  </a:lnTo>
                  <a:cubicBezTo>
                    <a:pt x="6314892" y="3288772"/>
                    <a:pt x="6278105" y="3251985"/>
                    <a:pt x="6232726" y="3251985"/>
                  </a:cubicBezTo>
                  <a:close/>
                  <a:moveTo>
                    <a:pt x="6529799" y="1872956"/>
                  </a:moveTo>
                  <a:cubicBezTo>
                    <a:pt x="6480746" y="1872956"/>
                    <a:pt x="6440981" y="1912721"/>
                    <a:pt x="6440981" y="1961774"/>
                  </a:cubicBezTo>
                  <a:lnTo>
                    <a:pt x="6440981" y="3042898"/>
                  </a:lnTo>
                  <a:cubicBezTo>
                    <a:pt x="6440981" y="3091951"/>
                    <a:pt x="6480746" y="3131716"/>
                    <a:pt x="6529799" y="3131716"/>
                  </a:cubicBezTo>
                  <a:lnTo>
                    <a:pt x="8266268" y="3131716"/>
                  </a:lnTo>
                  <a:cubicBezTo>
                    <a:pt x="8315321" y="3131716"/>
                    <a:pt x="8355086" y="3091951"/>
                    <a:pt x="8355086" y="3042898"/>
                  </a:cubicBezTo>
                  <a:lnTo>
                    <a:pt x="8355086" y="1961774"/>
                  </a:lnTo>
                  <a:cubicBezTo>
                    <a:pt x="8355086" y="1912721"/>
                    <a:pt x="8315321" y="1872956"/>
                    <a:pt x="8266268" y="1872956"/>
                  </a:cubicBezTo>
                  <a:close/>
                  <a:moveTo>
                    <a:pt x="276022" y="0"/>
                  </a:moveTo>
                  <a:lnTo>
                    <a:pt x="9121429" y="0"/>
                  </a:lnTo>
                  <a:cubicBezTo>
                    <a:pt x="9273872" y="0"/>
                    <a:pt x="9397451" y="123579"/>
                    <a:pt x="9397451" y="276022"/>
                  </a:cubicBezTo>
                  <a:lnTo>
                    <a:pt x="9397451" y="6597029"/>
                  </a:lnTo>
                  <a:cubicBezTo>
                    <a:pt x="9397451" y="6749472"/>
                    <a:pt x="9273872" y="6873051"/>
                    <a:pt x="9121429" y="6873051"/>
                  </a:cubicBezTo>
                  <a:lnTo>
                    <a:pt x="276022" y="6873051"/>
                  </a:lnTo>
                  <a:cubicBezTo>
                    <a:pt x="123579" y="6873051"/>
                    <a:pt x="0" y="6749472"/>
                    <a:pt x="0" y="6597029"/>
                  </a:cubicBezTo>
                  <a:lnTo>
                    <a:pt x="0" y="276022"/>
                  </a:lnTo>
                  <a:cubicBezTo>
                    <a:pt x="0" y="123579"/>
                    <a:pt x="123579" y="0"/>
                    <a:pt x="2760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7"/>
            <p:cNvSpPr/>
            <p:nvPr/>
          </p:nvSpPr>
          <p:spPr>
            <a:xfrm>
              <a:off x="442913" y="4029726"/>
              <a:ext cx="3256090" cy="45212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3233351" y="3903908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7"/>
            <p:cNvSpPr/>
            <p:nvPr/>
          </p:nvSpPr>
          <p:spPr>
            <a:xfrm>
              <a:off x="3233351" y="4300148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" name="Google Shape;391;p7"/>
          <p:cNvGrpSpPr/>
          <p:nvPr/>
        </p:nvGrpSpPr>
        <p:grpSpPr>
          <a:xfrm>
            <a:off x="587375" y="6213092"/>
            <a:ext cx="760909" cy="269264"/>
            <a:chOff x="587375" y="6213092"/>
            <a:chExt cx="760909" cy="269264"/>
          </a:xfrm>
        </p:grpSpPr>
        <p:sp>
          <p:nvSpPr>
            <p:cNvPr id="392" name="Google Shape;392;p7"/>
            <p:cNvSpPr/>
            <p:nvPr/>
          </p:nvSpPr>
          <p:spPr>
            <a:xfrm>
              <a:off x="587375" y="6236798"/>
              <a:ext cx="760909" cy="215038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84B4E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7"/>
            <p:cNvSpPr/>
            <p:nvPr/>
          </p:nvSpPr>
          <p:spPr>
            <a:xfrm>
              <a:off x="757518" y="6213092"/>
              <a:ext cx="454500" cy="269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000" dirty="0" smtClean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r>
                <a:rPr lang="ru-RU" sz="1000" dirty="0" smtClean="0">
                  <a:solidFill>
                    <a:srgbClr val="84B4E0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ru-RU" sz="1000" dirty="0" smtClean="0">
                  <a:solidFill>
                    <a:srgbClr val="84B4E0"/>
                  </a:solidFill>
                </a:rPr>
                <a:t>6</a:t>
              </a:r>
              <a:endParaRPr sz="1000" dirty="0">
                <a:solidFill>
                  <a:srgbClr val="84B4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4" name="Google Shape;394;p7"/>
          <p:cNvSpPr/>
          <p:nvPr/>
        </p:nvSpPr>
        <p:spPr>
          <a:xfrm>
            <a:off x="3668395" y="255999"/>
            <a:ext cx="706056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rgbClr val="1E53A4"/>
                </a:solidFill>
              </a:rPr>
              <a:t>Выставка World Food 2025</a:t>
            </a:r>
            <a:endParaRPr/>
          </a:p>
        </p:txBody>
      </p:sp>
      <p:sp>
        <p:nvSpPr>
          <p:cNvPr id="395" name="Google Shape;395;p7"/>
          <p:cNvSpPr/>
          <p:nvPr/>
        </p:nvSpPr>
        <p:spPr>
          <a:xfrm>
            <a:off x="3699002" y="1113568"/>
            <a:ext cx="70299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Каждый участник получает возможность представить свой продукт </a:t>
            </a:r>
            <a:b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 обсудить условия сотрудничества в комфортной деловой обстановке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10066485" y="2151133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8773" y="3454135"/>
            <a:ext cx="894711" cy="894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13" y="416925"/>
            <a:ext cx="2550556" cy="676317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7"/>
          <p:cNvSpPr/>
          <p:nvPr/>
        </p:nvSpPr>
        <p:spPr>
          <a:xfrm>
            <a:off x="811298" y="1605064"/>
            <a:ext cx="762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 нас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811298" y="2108931"/>
            <a:ext cx="14466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Переговоры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7"/>
          <p:cNvSpPr/>
          <p:nvPr/>
        </p:nvSpPr>
        <p:spPr>
          <a:xfrm>
            <a:off x="811298" y="3609235"/>
            <a:ext cx="2699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Как заключить контракт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811298" y="4124399"/>
            <a:ext cx="28368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1E53A4"/>
                </a:solidFill>
              </a:rPr>
              <a:t>Фото ЦЗС™</a:t>
            </a:r>
            <a:endParaRPr sz="12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811298" y="4628266"/>
            <a:ext cx="762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Отзывы</a:t>
            </a:r>
            <a:endParaRPr sz="12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7"/>
          <p:cNvPicPr preferRelativeResize="0"/>
          <p:nvPr/>
        </p:nvPicPr>
        <p:blipFill rotWithShape="1">
          <a:blip r:embed="rId6">
            <a:alphaModFix/>
          </a:blip>
          <a:srcRect l="23769" t="45103" r="35376"/>
          <a:stretch/>
        </p:blipFill>
        <p:spPr>
          <a:xfrm>
            <a:off x="607827" y="1653783"/>
            <a:ext cx="190500" cy="162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7"/>
          <p:cNvPicPr preferRelativeResize="0"/>
          <p:nvPr/>
        </p:nvPicPr>
        <p:blipFill rotWithShape="1">
          <a:blip r:embed="rId7">
            <a:alphaModFix/>
          </a:blip>
          <a:srcRect l="23206" t="43256" r="40744"/>
          <a:stretch/>
        </p:blipFill>
        <p:spPr>
          <a:xfrm>
            <a:off x="607827" y="2134874"/>
            <a:ext cx="190500" cy="18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7"/>
          <p:cNvPicPr preferRelativeResize="0"/>
          <p:nvPr/>
        </p:nvPicPr>
        <p:blipFill rotWithShape="1">
          <a:blip r:embed="rId8">
            <a:alphaModFix/>
          </a:blip>
          <a:srcRect l="31537" t="50673" r="43785"/>
          <a:stretch/>
        </p:blipFill>
        <p:spPr>
          <a:xfrm>
            <a:off x="636776" y="3636312"/>
            <a:ext cx="132600" cy="1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7"/>
          <p:cNvPicPr preferRelativeResize="0"/>
          <p:nvPr/>
        </p:nvPicPr>
        <p:blipFill rotWithShape="1">
          <a:blip r:embed="rId9">
            <a:alphaModFix/>
          </a:blip>
          <a:srcRect l="19085" t="51196" r="37939"/>
          <a:stretch/>
        </p:blipFill>
        <p:spPr>
          <a:xfrm>
            <a:off x="607826" y="4189957"/>
            <a:ext cx="190500" cy="1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7"/>
          <p:cNvPicPr preferRelativeResize="0"/>
          <p:nvPr/>
        </p:nvPicPr>
        <p:blipFill rotWithShape="1">
          <a:blip r:embed="rId10">
            <a:alphaModFix/>
          </a:blip>
          <a:srcRect l="23681" t="50661" r="36963"/>
          <a:stretch/>
        </p:blipFill>
        <p:spPr>
          <a:xfrm>
            <a:off x="621702" y="4704802"/>
            <a:ext cx="162750" cy="129264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Прямоугольник 34"/>
          <p:cNvSpPr/>
          <p:nvPr/>
        </p:nvSpPr>
        <p:spPr>
          <a:xfrm>
            <a:off x="3761117" y="1846053"/>
            <a:ext cx="4028536" cy="26914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{{pic2}}</a:t>
            </a:r>
            <a:endParaRPr lang="ru-RU" dirty="0"/>
          </a:p>
        </p:txBody>
      </p:sp>
      <p:sp>
        <p:nvSpPr>
          <p:cNvPr id="36" name="Прямоугольник 35"/>
          <p:cNvSpPr/>
          <p:nvPr/>
        </p:nvSpPr>
        <p:spPr>
          <a:xfrm>
            <a:off x="7944928" y="1854679"/>
            <a:ext cx="1664898" cy="1302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{{pic3}}</a:t>
            </a:r>
            <a:endParaRPr lang="ru-RU" dirty="0"/>
          </a:p>
        </p:txBody>
      </p:sp>
      <p:sp>
        <p:nvSpPr>
          <p:cNvPr id="38" name="Скругленный прямоугольник 37"/>
          <p:cNvSpPr/>
          <p:nvPr/>
        </p:nvSpPr>
        <p:spPr>
          <a:xfrm>
            <a:off x="3752491" y="4675517"/>
            <a:ext cx="2544792" cy="18201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{{pic4}}</a:t>
            </a:r>
            <a:endParaRPr lang="ru-RU" dirty="0"/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6466936" y="4681268"/>
            <a:ext cx="2544792" cy="18201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{{pic5}}</a:t>
            </a:r>
            <a:endParaRPr lang="ru-RU" dirty="0"/>
          </a:p>
        </p:txBody>
      </p:sp>
      <p:sp>
        <p:nvSpPr>
          <p:cNvPr id="33" name="Скругленный прямоугольник 32"/>
          <p:cNvSpPr/>
          <p:nvPr/>
        </p:nvSpPr>
        <p:spPr>
          <a:xfrm>
            <a:off x="9181382" y="4687019"/>
            <a:ext cx="2544792" cy="18201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{{pic6}}</a:t>
            </a:r>
            <a:endParaRPr lang="ru-RU" dirty="0"/>
          </a:p>
        </p:txBody>
      </p:sp>
      <p:sp>
        <p:nvSpPr>
          <p:cNvPr id="31" name="Прямоугольник 30"/>
          <p:cNvSpPr/>
          <p:nvPr/>
        </p:nvSpPr>
        <p:spPr>
          <a:xfrm>
            <a:off x="9900249" y="3257909"/>
            <a:ext cx="1664898" cy="1302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{{</a:t>
            </a:r>
            <a:r>
              <a:rPr lang="en-US" dirty="0" err="1" smtClean="0"/>
              <a:t>pic</a:t>
            </a:r>
            <a:r>
              <a:rPr lang="ru-RU" dirty="0" smtClean="0"/>
              <a:t>7</a:t>
            </a:r>
            <a:r>
              <a:rPr lang="en-US" dirty="0" smtClean="0"/>
              <a:t>}}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8"/>
          <p:cNvGrpSpPr/>
          <p:nvPr/>
        </p:nvGrpSpPr>
        <p:grpSpPr>
          <a:xfrm>
            <a:off x="459903" y="-15051"/>
            <a:ext cx="12313979" cy="6873051"/>
            <a:chOff x="437414" y="-3810"/>
            <a:chExt cx="12313979" cy="6873051"/>
          </a:xfrm>
        </p:grpSpPr>
        <p:sp>
          <p:nvSpPr>
            <p:cNvPr id="425" name="Google Shape;425;p8"/>
            <p:cNvSpPr/>
            <p:nvPr/>
          </p:nvSpPr>
          <p:spPr>
            <a:xfrm>
              <a:off x="3353942" y="-3810"/>
              <a:ext cx="9397451" cy="6873051"/>
            </a:xfrm>
            <a:prstGeom prst="roundRect">
              <a:avLst>
                <a:gd name="adj" fmla="val 401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 smtClean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									</a:t>
              </a: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437414" y="4549059"/>
              <a:ext cx="3256090" cy="45212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3227852" y="4423241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3227852" y="4819481"/>
              <a:ext cx="282030" cy="304699"/>
            </a:xfrm>
            <a:prstGeom prst="plaque">
              <a:avLst>
                <a:gd name="adj" fmla="val 4459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8"/>
          <p:cNvGrpSpPr/>
          <p:nvPr/>
        </p:nvGrpSpPr>
        <p:grpSpPr>
          <a:xfrm>
            <a:off x="587375" y="6213092"/>
            <a:ext cx="760909" cy="269264"/>
            <a:chOff x="587375" y="6213092"/>
            <a:chExt cx="760909" cy="269264"/>
          </a:xfrm>
        </p:grpSpPr>
        <p:sp>
          <p:nvSpPr>
            <p:cNvPr id="430" name="Google Shape;430;p8"/>
            <p:cNvSpPr/>
            <p:nvPr/>
          </p:nvSpPr>
          <p:spPr>
            <a:xfrm>
              <a:off x="587375" y="6236798"/>
              <a:ext cx="760909" cy="215038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84B4E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8"/>
            <p:cNvSpPr/>
            <p:nvPr/>
          </p:nvSpPr>
          <p:spPr>
            <a:xfrm>
              <a:off x="750735" y="6213092"/>
              <a:ext cx="454510" cy="269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000" dirty="0" smtClean="0">
                  <a:solidFill>
                    <a:schemeClr val="lt1"/>
                  </a:solidFill>
                </a:rPr>
                <a:t>6</a:t>
              </a:r>
              <a:r>
                <a:rPr lang="ru-RU" sz="1000" dirty="0" smtClean="0">
                  <a:solidFill>
                    <a:srgbClr val="84B4E0"/>
                  </a:solidFill>
                  <a:latin typeface="Arial"/>
                  <a:ea typeface="Arial"/>
                  <a:cs typeface="Arial"/>
                  <a:sym typeface="Arial"/>
                </a:rPr>
                <a:t>/6</a:t>
              </a:r>
              <a:endParaRPr sz="1000" dirty="0">
                <a:solidFill>
                  <a:srgbClr val="84B4E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2" name="Google Shape;432;p8"/>
          <p:cNvSpPr/>
          <p:nvPr/>
        </p:nvSpPr>
        <p:spPr>
          <a:xfrm>
            <a:off x="3668395" y="255999"/>
            <a:ext cx="8293233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rgbClr val="1E53A4"/>
                </a:solidFill>
              </a:rPr>
              <a:t>Послушайте тех, </a:t>
            </a:r>
            <a:br>
              <a:rPr lang="ru-RU" sz="3600">
                <a:solidFill>
                  <a:srgbClr val="1E53A4"/>
                </a:solidFill>
              </a:rPr>
            </a:br>
            <a:r>
              <a:rPr lang="ru-RU" sz="3600">
                <a:solidFill>
                  <a:srgbClr val="1E53A4"/>
                </a:solidFill>
              </a:rPr>
              <a:t>кто уже был на ЦЗС™</a:t>
            </a:r>
            <a:r>
              <a:rPr lang="ru-RU" sz="40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3" name="Google Shape;433;p8"/>
          <p:cNvGrpSpPr/>
          <p:nvPr/>
        </p:nvGrpSpPr>
        <p:grpSpPr>
          <a:xfrm>
            <a:off x="3792539" y="1736790"/>
            <a:ext cx="3855170" cy="2314907"/>
            <a:chOff x="3792539" y="1876093"/>
            <a:chExt cx="3855170" cy="2314907"/>
          </a:xfrm>
        </p:grpSpPr>
        <p:sp>
          <p:nvSpPr>
            <p:cNvPr id="434" name="Google Shape;434;p8"/>
            <p:cNvSpPr/>
            <p:nvPr/>
          </p:nvSpPr>
          <p:spPr>
            <a:xfrm>
              <a:off x="3792539" y="2144746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8"/>
            <p:cNvSpPr/>
            <p:nvPr/>
          </p:nvSpPr>
          <p:spPr>
            <a:xfrm>
              <a:off x="3944199" y="2262231"/>
              <a:ext cx="2422095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 smtClean="0"/>
                <a:t>{{block6}}</a:t>
              </a:r>
              <a:endParaRPr dirty="0"/>
            </a:p>
          </p:txBody>
        </p:sp>
        <p:sp>
          <p:nvSpPr>
            <p:cNvPr id="436" name="Google Shape;436;p8"/>
            <p:cNvSpPr/>
            <p:nvPr/>
          </p:nvSpPr>
          <p:spPr>
            <a:xfrm>
              <a:off x="3900189" y="1876093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8" name="Google Shape;438;p8"/>
          <p:cNvGrpSpPr/>
          <p:nvPr/>
        </p:nvGrpSpPr>
        <p:grpSpPr>
          <a:xfrm>
            <a:off x="7893918" y="1736789"/>
            <a:ext cx="3855170" cy="2314908"/>
            <a:chOff x="3792539" y="1876092"/>
            <a:chExt cx="3855170" cy="2314908"/>
          </a:xfrm>
        </p:grpSpPr>
        <p:sp>
          <p:nvSpPr>
            <p:cNvPr id="439" name="Google Shape;439;p8"/>
            <p:cNvSpPr/>
            <p:nvPr/>
          </p:nvSpPr>
          <p:spPr>
            <a:xfrm>
              <a:off x="3792539" y="2144746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8"/>
            <p:cNvSpPr/>
            <p:nvPr/>
          </p:nvSpPr>
          <p:spPr>
            <a:xfrm>
              <a:off x="3987332" y="2270855"/>
              <a:ext cx="2366504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 smtClean="0"/>
                <a:t>{{block9}}</a:t>
              </a:r>
              <a:endParaRPr dirty="0" smtClean="0"/>
            </a:p>
          </p:txBody>
        </p:sp>
        <p:sp>
          <p:nvSpPr>
            <p:cNvPr id="441" name="Google Shape;441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2" name="Google Shape;442;p8"/>
          <p:cNvGrpSpPr/>
          <p:nvPr/>
        </p:nvGrpSpPr>
        <p:grpSpPr>
          <a:xfrm>
            <a:off x="3792539" y="4083168"/>
            <a:ext cx="3855170" cy="2314908"/>
            <a:chOff x="3792539" y="1876092"/>
            <a:chExt cx="3855170" cy="2314908"/>
          </a:xfrm>
        </p:grpSpPr>
        <p:sp>
          <p:nvSpPr>
            <p:cNvPr id="443" name="Google Shape;443;p8"/>
            <p:cNvSpPr/>
            <p:nvPr/>
          </p:nvSpPr>
          <p:spPr>
            <a:xfrm>
              <a:off x="3792539" y="2144746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3944198" y="2270857"/>
              <a:ext cx="2439349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 smtClean="0"/>
                <a:t>{{block12}}</a:t>
              </a:r>
              <a:endParaRPr lang="en-US" sz="1100" dirty="0" smtClean="0"/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8" name="Google Shape;448;p8"/>
          <p:cNvSpPr/>
          <p:nvPr/>
        </p:nvSpPr>
        <p:spPr>
          <a:xfrm>
            <a:off x="7891310" y="4351822"/>
            <a:ext cx="3855300" cy="20463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02691" y="4617441"/>
            <a:ext cx="1032409" cy="1032409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8"/>
          <p:cNvSpPr/>
          <p:nvPr/>
        </p:nvSpPr>
        <p:spPr>
          <a:xfrm>
            <a:off x="8794034" y="5720481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/>
          </a:p>
        </p:txBody>
      </p:sp>
      <p:pic>
        <p:nvPicPr>
          <p:cNvPr id="451" name="Google Shape;45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13" y="416925"/>
            <a:ext cx="2550556" cy="67631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8"/>
          <p:cNvSpPr/>
          <p:nvPr/>
        </p:nvSpPr>
        <p:spPr>
          <a:xfrm>
            <a:off x="811298" y="1605064"/>
            <a:ext cx="762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 нас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811298" y="2108931"/>
            <a:ext cx="14466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Переговоры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811298" y="3609235"/>
            <a:ext cx="26997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Как заключить контракт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811298" y="4124399"/>
            <a:ext cx="28368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200">
                <a:solidFill>
                  <a:schemeClr val="lt1"/>
                </a:solidFill>
              </a:rPr>
              <a:t>Фото ЦЗС™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811298" y="4628266"/>
            <a:ext cx="762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1E53A4"/>
                </a:solidFill>
                <a:latin typeface="Arial"/>
                <a:ea typeface="Arial"/>
                <a:cs typeface="Arial"/>
                <a:sym typeface="Arial"/>
              </a:rPr>
              <a:t>Отзывы</a:t>
            </a:r>
            <a:endParaRPr sz="1200">
              <a:solidFill>
                <a:srgbClr val="1E53A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" name="Google Shape;459;p8"/>
          <p:cNvPicPr preferRelativeResize="0"/>
          <p:nvPr/>
        </p:nvPicPr>
        <p:blipFill rotWithShape="1">
          <a:blip r:embed="rId6">
            <a:alphaModFix/>
          </a:blip>
          <a:srcRect l="23769" t="45103" r="35376"/>
          <a:stretch/>
        </p:blipFill>
        <p:spPr>
          <a:xfrm>
            <a:off x="607827" y="1653783"/>
            <a:ext cx="190500" cy="162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8"/>
          <p:cNvPicPr preferRelativeResize="0"/>
          <p:nvPr/>
        </p:nvPicPr>
        <p:blipFill rotWithShape="1">
          <a:blip r:embed="rId7">
            <a:alphaModFix/>
          </a:blip>
          <a:srcRect l="23206" t="43256" r="40744"/>
          <a:stretch/>
        </p:blipFill>
        <p:spPr>
          <a:xfrm>
            <a:off x="607827" y="2134874"/>
            <a:ext cx="190500" cy="189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8"/>
          <p:cNvPicPr preferRelativeResize="0"/>
          <p:nvPr/>
        </p:nvPicPr>
        <p:blipFill rotWithShape="1">
          <a:blip r:embed="rId8">
            <a:alphaModFix/>
          </a:blip>
          <a:srcRect l="31537" t="50673" r="43785"/>
          <a:stretch/>
        </p:blipFill>
        <p:spPr>
          <a:xfrm>
            <a:off x="636776" y="3636312"/>
            <a:ext cx="132600" cy="16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8"/>
          <p:cNvPicPr preferRelativeResize="0"/>
          <p:nvPr/>
        </p:nvPicPr>
        <p:blipFill rotWithShape="1">
          <a:blip r:embed="rId9">
            <a:alphaModFix/>
          </a:blip>
          <a:srcRect l="19085" t="51196" r="37939"/>
          <a:stretch/>
        </p:blipFill>
        <p:spPr>
          <a:xfrm>
            <a:off x="607826" y="4189957"/>
            <a:ext cx="190500" cy="1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8"/>
          <p:cNvPicPr preferRelativeResize="0"/>
          <p:nvPr/>
        </p:nvPicPr>
        <p:blipFill rotWithShape="1">
          <a:blip r:embed="rId10">
            <a:alphaModFix/>
          </a:blip>
          <a:srcRect l="23681" t="50661" r="36963"/>
          <a:stretch/>
        </p:blipFill>
        <p:spPr>
          <a:xfrm>
            <a:off x="621702" y="4704802"/>
            <a:ext cx="162750" cy="12926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Прямоугольник 43"/>
          <p:cNvSpPr/>
          <p:nvPr/>
        </p:nvSpPr>
        <p:spPr>
          <a:xfrm>
            <a:off x="6435306" y="2130725"/>
            <a:ext cx="897147" cy="5779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{{logo1}}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3950898" y="2406770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{{block7}}</a:t>
            </a:r>
            <a:endParaRPr lang="ru-RU" sz="1100" dirty="0"/>
          </a:p>
        </p:txBody>
      </p:sp>
      <p:sp>
        <p:nvSpPr>
          <p:cNvPr id="47" name="Прямоугольник 46"/>
          <p:cNvSpPr/>
          <p:nvPr/>
        </p:nvSpPr>
        <p:spPr>
          <a:xfrm>
            <a:off x="3933645" y="2829464"/>
            <a:ext cx="3554083" cy="11386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 smtClean="0">
                <a:solidFill>
                  <a:schemeClr val="tx1"/>
                </a:solidFill>
              </a:rPr>
              <a:t>{{block8}}</a:t>
            </a:r>
            <a:endParaRPr lang="ru-RU" sz="1000" dirty="0" smtClean="0">
              <a:solidFill>
                <a:schemeClr val="tx1"/>
              </a:solidFill>
            </a:endParaRPr>
          </a:p>
          <a:p>
            <a:endParaRPr lang="ru-RU" dirty="0"/>
          </a:p>
        </p:txBody>
      </p:sp>
      <p:sp>
        <p:nvSpPr>
          <p:cNvPr id="46" name="Прямоугольник 45"/>
          <p:cNvSpPr/>
          <p:nvPr/>
        </p:nvSpPr>
        <p:spPr>
          <a:xfrm>
            <a:off x="10668000" y="2127850"/>
            <a:ext cx="897147" cy="5779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{{logo2}}</a:t>
            </a:r>
            <a:endParaRPr lang="ru-RU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6458310" y="4474234"/>
            <a:ext cx="897147" cy="5779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{{logo3}}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8117456" y="2458528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 smtClean="0"/>
              <a:t>{{block10}}</a:t>
            </a:r>
            <a:endParaRPr lang="ru-RU" sz="1100" dirty="0"/>
          </a:p>
        </p:txBody>
      </p:sp>
      <p:sp>
        <p:nvSpPr>
          <p:cNvPr id="50" name="TextBox 49"/>
          <p:cNvSpPr txBox="1"/>
          <p:nvPr/>
        </p:nvSpPr>
        <p:spPr>
          <a:xfrm>
            <a:off x="8005313" y="2855343"/>
            <a:ext cx="3648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1000" dirty="0" smtClean="0"/>
              <a:t>{{block11}}</a:t>
            </a:r>
            <a:endParaRPr lang="ru-RU" sz="1000" dirty="0"/>
          </a:p>
        </p:txBody>
      </p:sp>
      <p:sp>
        <p:nvSpPr>
          <p:cNvPr id="51" name="TextBox 50"/>
          <p:cNvSpPr txBox="1"/>
          <p:nvPr/>
        </p:nvSpPr>
        <p:spPr>
          <a:xfrm>
            <a:off x="3976777" y="4787660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 smtClean="0"/>
              <a:t>{{block13}}</a:t>
            </a:r>
            <a:endParaRPr lang="ru-RU" sz="1100" dirty="0"/>
          </a:p>
        </p:txBody>
      </p:sp>
      <p:sp>
        <p:nvSpPr>
          <p:cNvPr id="52" name="TextBox 51"/>
          <p:cNvSpPr txBox="1"/>
          <p:nvPr/>
        </p:nvSpPr>
        <p:spPr>
          <a:xfrm>
            <a:off x="3942272" y="5218981"/>
            <a:ext cx="35627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{{block14}}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323</Words>
  <Application>Microsoft Office PowerPoint</Application>
  <PresentationFormat>Произвольный</PresentationFormat>
  <Paragraphs>122</Paragraphs>
  <Slides>6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Менеджер_004</cp:lastModifiedBy>
  <cp:revision>26</cp:revision>
  <dcterms:created xsi:type="dcterms:W3CDTF">2025-08-26T08:09:58Z</dcterms:created>
  <dcterms:modified xsi:type="dcterms:W3CDTF">2026-05-27T10:45:25Z</dcterms:modified>
</cp:coreProperties>
</file>