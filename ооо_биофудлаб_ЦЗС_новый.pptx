
<file path=[Content_Types].xml><?xml version="1.0" encoding="utf-8"?>
<ns0:Types xmlns:ns0="http://schemas.openxmlformats.org/package/2006/content-types"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Default Extension="png" ContentType="image/png"/>
  <ns0:Override PartName="/ppt/slideMasters/slideMaster1.xml" ContentType="application/vnd.openxmlformats-officedocument.presentationml.slideMaster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presProps.xml" ContentType="application/vnd.openxmlformats-officedocument.presentationml.presProps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theme/theme1.xml" ContentType="application/vnd.openxmlformats-officedocument.theme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Default Extension="rels" ContentType="application/vnd.openxmlformats-package.relationships+xml"/>
  <ns0:Default Extension="xml" ContentType="application/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docProps/app.xml" ContentType="application/vnd.openxmlformats-officedocument.extended-properties+xml"/>
  <ns0:Override PartName="/ppt/tableStyles.xml" ContentType="application/vnd.openxmlformats-officedocument.presentationml.tableStyles+xml"/>
  <ns0:Override PartName="/docProps/custom.xml" ContentType="application/vnd.openxmlformats-officedocument.custom-properties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viewProps.xml" ContentType="application/vnd.openxmlformats-officedocument.presentationml.viewProps+xml"/>
  <ns0:Override PartName="/docProps/core.xml" ContentType="application/vnd.openxmlformats-package.core-properties+xml"/>
</ns0: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</p:sldIdLst>
  <p:sldSz cx="10693400" cy="7562850"/>
  <p:notesSz cx="10693400" cy="75628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-1428" y="-9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4483"/>
            <a:ext cx="9089390" cy="1588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245BA9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9CC9ED"/>
                </a:solidFill>
                <a:latin typeface="Century Gothic"/>
                <a:cs typeface="Century Gothic"/>
              </a:defRPr>
            </a:lvl1pPr>
          </a:lstStyle>
          <a:p>
            <a:pPr marL="57150">
              <a:lnSpc>
                <a:spcPts val="1200"/>
              </a:lnSpc>
            </a:pPr>
            <a:fld id="{81D60167-4931-47E6-BA6A-407CBD079E47}" type="slidenum">
              <a:rPr spc="-25" dirty="0">
                <a:solidFill>
                  <a:srgbClr val="FFFFFF"/>
                </a:solidFill>
              </a:rPr>
              <a:pPr marL="57150">
                <a:lnSpc>
                  <a:spcPts val="1200"/>
                </a:lnSpc>
              </a:pPr>
              <a:t>‹#›</a:t>
            </a:fld>
            <a:r>
              <a:rPr spc="-25" dirty="0"/>
              <a:t>/7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245BA9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9CC9ED"/>
                </a:solidFill>
                <a:latin typeface="Century Gothic"/>
                <a:cs typeface="Century Gothic"/>
              </a:defRPr>
            </a:lvl1pPr>
          </a:lstStyle>
          <a:p>
            <a:pPr marL="57150">
              <a:lnSpc>
                <a:spcPts val="1200"/>
              </a:lnSpc>
            </a:pPr>
            <a:fld id="{81D60167-4931-47E6-BA6A-407CBD079E47}" type="slidenum">
              <a:rPr spc="-25" dirty="0">
                <a:solidFill>
                  <a:srgbClr val="FFFFFF"/>
                </a:solidFill>
              </a:rPr>
              <a:pPr marL="57150">
                <a:lnSpc>
                  <a:spcPts val="1200"/>
                </a:lnSpc>
              </a:pPr>
              <a:t>‹#›</a:t>
            </a:fld>
            <a:r>
              <a:rPr spc="-25" dirty="0"/>
              <a:t>/7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0692002" cy="7560056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39998" y="0"/>
            <a:ext cx="7452004" cy="7560056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40994" y="1168070"/>
            <a:ext cx="2499004" cy="864006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40994" y="2212073"/>
            <a:ext cx="2499004" cy="432003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40994" y="2824073"/>
            <a:ext cx="2499004" cy="1295996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59994" y="359994"/>
            <a:ext cx="2519997" cy="69212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245BA9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6/25/2026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9CC9ED"/>
                </a:solidFill>
                <a:latin typeface="Century Gothic"/>
                <a:cs typeface="Century Gothic"/>
              </a:defRPr>
            </a:lvl1pPr>
          </a:lstStyle>
          <a:p>
            <a:pPr marL="57150">
              <a:lnSpc>
                <a:spcPts val="1200"/>
              </a:lnSpc>
            </a:pPr>
            <a:fld id="{81D60167-4931-47E6-BA6A-407CBD079E47}" type="slidenum">
              <a:rPr spc="-25" dirty="0">
                <a:solidFill>
                  <a:srgbClr val="FFFFFF"/>
                </a:solidFill>
              </a:rPr>
              <a:pPr marL="57150">
                <a:lnSpc>
                  <a:spcPts val="1200"/>
                </a:lnSpc>
              </a:pPr>
              <a:t>‹#›</a:t>
            </a:fld>
            <a:r>
              <a:rPr spc="-25" dirty="0"/>
              <a:t>/7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245BA9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6/25/2026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9CC9ED"/>
                </a:solidFill>
                <a:latin typeface="Century Gothic"/>
                <a:cs typeface="Century Gothic"/>
              </a:defRPr>
            </a:lvl1pPr>
          </a:lstStyle>
          <a:p>
            <a:pPr marL="57150">
              <a:lnSpc>
                <a:spcPts val="1200"/>
              </a:lnSpc>
            </a:pPr>
            <a:fld id="{81D60167-4931-47E6-BA6A-407CBD079E47}" type="slidenum">
              <a:rPr spc="-25" dirty="0">
                <a:solidFill>
                  <a:srgbClr val="FFFFFF"/>
                </a:solidFill>
              </a:rPr>
              <a:pPr marL="57150">
                <a:lnSpc>
                  <a:spcPts val="1200"/>
                </a:lnSpc>
              </a:pPr>
              <a:t>‹#›</a:t>
            </a:fld>
            <a:r>
              <a:rPr spc="-25" dirty="0"/>
              <a:t>/7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0692002" cy="756005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3239998" y="0"/>
            <a:ext cx="7452359" cy="7560309"/>
          </a:xfrm>
          <a:custGeom>
            <a:avLst/>
            <a:gdLst/>
            <a:ahLst/>
            <a:cxnLst/>
            <a:rect l="l" t="t" r="r" b="b"/>
            <a:pathLst>
              <a:path w="7452359" h="7560309">
                <a:moveTo>
                  <a:pt x="7452004" y="0"/>
                </a:moveTo>
                <a:lnTo>
                  <a:pt x="252006" y="0"/>
                </a:lnTo>
                <a:lnTo>
                  <a:pt x="227303" y="1221"/>
                </a:lnTo>
                <a:lnTo>
                  <a:pt x="178850" y="10854"/>
                </a:lnTo>
                <a:lnTo>
                  <a:pt x="133214" y="29758"/>
                </a:lnTo>
                <a:lnTo>
                  <a:pt x="92138" y="57208"/>
                </a:lnTo>
                <a:lnTo>
                  <a:pt x="57210" y="92136"/>
                </a:lnTo>
                <a:lnTo>
                  <a:pt x="29769" y="133209"/>
                </a:lnTo>
                <a:lnTo>
                  <a:pt x="10865" y="178850"/>
                </a:lnTo>
                <a:lnTo>
                  <a:pt x="1223" y="227303"/>
                </a:lnTo>
                <a:lnTo>
                  <a:pt x="0" y="252006"/>
                </a:lnTo>
                <a:lnTo>
                  <a:pt x="0" y="7308049"/>
                </a:lnTo>
                <a:lnTo>
                  <a:pt x="4860" y="7357214"/>
                </a:lnTo>
                <a:lnTo>
                  <a:pt x="19189" y="7404493"/>
                </a:lnTo>
                <a:lnTo>
                  <a:pt x="42486" y="7448054"/>
                </a:lnTo>
                <a:lnTo>
                  <a:pt x="73812" y="7486243"/>
                </a:lnTo>
                <a:lnTo>
                  <a:pt x="112006" y="7517576"/>
                </a:lnTo>
                <a:lnTo>
                  <a:pt x="155562" y="7540879"/>
                </a:lnTo>
                <a:lnTo>
                  <a:pt x="202841" y="7555201"/>
                </a:lnTo>
                <a:lnTo>
                  <a:pt x="252006" y="7560056"/>
                </a:lnTo>
                <a:lnTo>
                  <a:pt x="7452004" y="7560056"/>
                </a:lnTo>
                <a:lnTo>
                  <a:pt x="745200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00005" y="4658995"/>
            <a:ext cx="3959999" cy="581926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600005" y="5420931"/>
            <a:ext cx="3959999" cy="387946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40994" y="1348067"/>
            <a:ext cx="2499004" cy="432003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40994" y="1960067"/>
            <a:ext cx="2499004" cy="2160003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59994" y="359994"/>
            <a:ext cx="2519997" cy="69212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6/25/2026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9CC9ED"/>
                </a:solidFill>
                <a:latin typeface="Century Gothic"/>
                <a:cs typeface="Century Gothic"/>
              </a:defRPr>
            </a:lvl1pPr>
          </a:lstStyle>
          <a:p>
            <a:pPr marL="57150">
              <a:lnSpc>
                <a:spcPts val="1200"/>
              </a:lnSpc>
            </a:pPr>
            <a:fld id="{81D60167-4931-47E6-BA6A-407CBD079E47}" type="slidenum">
              <a:rPr spc="-25" dirty="0">
                <a:solidFill>
                  <a:srgbClr val="FFFFFF"/>
                </a:solidFill>
              </a:rPr>
              <a:pPr marL="57150">
                <a:lnSpc>
                  <a:spcPts val="1200"/>
                </a:lnSpc>
              </a:pPr>
              <a:t>‹#›</a:t>
            </a:fld>
            <a:r>
              <a:rPr spc="-25" dirty="0"/>
              <a:t>/7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0692002" cy="756005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587305" y="360248"/>
            <a:ext cx="5034915" cy="482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245BA9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70" y="1739455"/>
            <a:ext cx="9624060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33450"/>
            <a:ext cx="3421888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00163" y="6789623"/>
            <a:ext cx="305434" cy="165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rgbClr val="9CC9ED"/>
                </a:solidFill>
                <a:latin typeface="Century Gothic"/>
                <a:cs typeface="Century Gothic"/>
              </a:defRPr>
            </a:lvl1pPr>
          </a:lstStyle>
          <a:p>
            <a:pPr marL="57150">
              <a:lnSpc>
                <a:spcPts val="1200"/>
              </a:lnSpc>
            </a:pPr>
            <a:fld id="{81D60167-4931-47E6-BA6A-407CBD079E47}" type="slidenum">
              <a:rPr spc="-25" dirty="0">
                <a:solidFill>
                  <a:srgbClr val="FFFFFF"/>
                </a:solidFill>
              </a:rPr>
              <a:pPr marL="57150">
                <a:lnSpc>
                  <a:spcPts val="1200"/>
                </a:lnSpc>
              </a:pPr>
              <a:t>‹#›</a:t>
            </a:fld>
            <a:r>
              <a:rPr spc="-25" dirty="0"/>
              <a:t>/7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Relationships xmlns="http://schemas.openxmlformats.org/package/2006/relationships"><Relationship Id="rId3" Type="http://schemas.openxmlformats.org/officeDocument/2006/relationships/image" Target="../media/image6.png" /><Relationship Id="rId2" Type="http://schemas.openxmlformats.org/officeDocument/2006/relationships/image" Target="../media/image11.png" /><Relationship Id="rId1" Type="http://schemas.openxmlformats.org/officeDocument/2006/relationships/slideLayout" Target="../slideLayouts/slideLayout2.xml" /><Relationship Id="rId5" Type="http://schemas.openxmlformats.org/officeDocument/2006/relationships/hyperlink" Target="https://online-czs.ru/buyers/51/" TargetMode="External" /><Relationship Id="rId4" Type="http://schemas.openxmlformats.org/officeDocument/2006/relationships/image" Target="../media/image12.png" /><Relationship Id="rId6" Type="http://schemas.openxmlformats.org/officeDocument/2006/relationships/image" Target="../media/generated_6.png" /><Relationship Id="rId7" Type="http://schemas.openxmlformats.org/officeDocument/2006/relationships/image" Target="../media/generated_7.png" /><Relationship Id="rId8" Type="http://schemas.openxmlformats.org/officeDocument/2006/relationships/image" Target="../media/generated_8.png" /><Relationship Id="rId9" Type="http://schemas.openxmlformats.org/officeDocument/2006/relationships/image" Target="../media/generated_9.png" /><Relationship Id="rId10" Type="http://schemas.openxmlformats.org/officeDocument/2006/relationships/image" Target="../media/generated_10.png" /><Relationship Id="rId11" Type="http://schemas.openxmlformats.org/officeDocument/2006/relationships/image" Target="../media/generated_11.png" /><Relationship Id="rId12" Type="http://schemas.openxmlformats.org/officeDocument/2006/relationships/image" Target="../media/generated_12.png" /><Relationship Id="rId13" Type="http://schemas.openxmlformats.org/officeDocument/2006/relationships/image" Target="../media/generated_13.png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platforma-czs.ru/prodexpo/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1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6.xml.rels><?xml version='1.0' encoding='utf-8'?>
<Relationships xmlns="http://schemas.openxmlformats.org/package/2006/relationships"><Relationship Id="rId3" Type="http://schemas.openxmlformats.org/officeDocument/2006/relationships/image" Target="../media/image23.png" /><Relationship Id="rId2" Type="http://schemas.openxmlformats.org/officeDocument/2006/relationships/image" Target="../media/image22.png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25.png" /><Relationship Id="rId5" Type="http://schemas.openxmlformats.org/officeDocument/2006/relationships/image" Target="../media/image6.png" /><Relationship Id="rId4" Type="http://schemas.openxmlformats.org/officeDocument/2006/relationships/image" Target="../media/image24.png" /><Relationship Id="rId7" Type="http://schemas.openxmlformats.org/officeDocument/2006/relationships/image" Target="../media/generated_1.png" /><Relationship Id="rId8" Type="http://schemas.openxmlformats.org/officeDocument/2006/relationships/image" Target="../media/generated_2.png" /><Relationship Id="rId9" Type="http://schemas.openxmlformats.org/officeDocument/2006/relationships/image" Target="../media/generated_3.png" /><Relationship Id="rId10" Type="http://schemas.openxmlformats.org/officeDocument/2006/relationships/image" Target="../media/generated_4.png" /><Relationship Id="rId11" Type="http://schemas.openxmlformats.org/officeDocument/2006/relationships/image" Target="../media/generated_5.png" /></Relationships>
</file>

<file path=ppt/slides/_rels/slide7.xml.rels><?xml version='1.0' encoding='utf-8'?>
<Relationships xmlns="http://schemas.openxmlformats.org/package/2006/relationships"><Relationship Id="rId3" Type="http://schemas.openxmlformats.org/officeDocument/2006/relationships/image" Target="../media/image23.png" /><Relationship Id="rId2" Type="http://schemas.openxmlformats.org/officeDocument/2006/relationships/image" Target="../media/image22.png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26.png" /><Relationship Id="rId5" Type="http://schemas.openxmlformats.org/officeDocument/2006/relationships/image" Target="../media/image6.png" /><Relationship Id="rId4" Type="http://schemas.openxmlformats.org/officeDocument/2006/relationships/image" Target="../media/image24.png" /><Relationship Id="rId7" Type="http://schemas.openxmlformats.org/officeDocument/2006/relationships/image" Target="../media/generated_14.png" /><Relationship Id="rId8" Type="http://schemas.openxmlformats.org/officeDocument/2006/relationships/image" Target="../media/generated_15.png" /><Relationship Id="rId9" Type="http://schemas.openxmlformats.org/officeDocument/2006/relationships/image" Target="../media/generated_16.png" 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hyperlink" Target="https://platforma-czs.ru/prodexpo_tariff" TargetMode="External"/><Relationship Id="rId3" Type="http://schemas.openxmlformats.org/officeDocument/2006/relationships/image" Target="../media/image28.png"/><Relationship Id="rId7" Type="http://schemas.openxmlformats.org/officeDocument/2006/relationships/hyperlink" Target="https://t.me/Moonlight_my" TargetMode="External"/><Relationship Id="rId12" Type="http://schemas.openxmlformats.org/officeDocument/2006/relationships/image" Target="../media/image13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32.png"/><Relationship Id="rId5" Type="http://schemas.openxmlformats.org/officeDocument/2006/relationships/image" Target="../media/image30.png"/><Relationship Id="rId10" Type="http://schemas.openxmlformats.org/officeDocument/2006/relationships/hyperlink" Target="mailto:manager19@imperia-forums.ru" TargetMode="External"/><Relationship Id="rId4" Type="http://schemas.openxmlformats.org/officeDocument/2006/relationships/image" Target="../media/image29.png"/><Relationship Id="rId9" Type="http://schemas.openxmlformats.org/officeDocument/2006/relationships/hyperlink" Target="https://wa.me/+79006574280" TargetMode="External"/><Relationship Id="rId1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2541"/>
            <a:ext cx="10692130" cy="7560309"/>
            <a:chOff x="0" y="0"/>
            <a:chExt cx="10692130" cy="756030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0692002" cy="756005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69519" y="1603083"/>
              <a:ext cx="9952990" cy="2689225"/>
            </a:xfrm>
            <a:custGeom>
              <a:avLst/>
              <a:gdLst/>
              <a:ahLst/>
              <a:cxnLst/>
              <a:rect l="l" t="t" r="r" b="b"/>
              <a:pathLst>
                <a:path w="9952990" h="2689225">
                  <a:moveTo>
                    <a:pt x="9700958" y="0"/>
                  </a:moveTo>
                  <a:lnTo>
                    <a:pt x="252006" y="0"/>
                  </a:lnTo>
                  <a:lnTo>
                    <a:pt x="227308" y="1221"/>
                  </a:lnTo>
                  <a:lnTo>
                    <a:pt x="178857" y="10854"/>
                  </a:lnTo>
                  <a:lnTo>
                    <a:pt x="133221" y="29758"/>
                  </a:lnTo>
                  <a:lnTo>
                    <a:pt x="92143" y="57208"/>
                  </a:lnTo>
                  <a:lnTo>
                    <a:pt x="57215" y="92136"/>
                  </a:lnTo>
                  <a:lnTo>
                    <a:pt x="29771" y="133209"/>
                  </a:lnTo>
                  <a:lnTo>
                    <a:pt x="10865" y="178850"/>
                  </a:lnTo>
                  <a:lnTo>
                    <a:pt x="1223" y="227298"/>
                  </a:lnTo>
                  <a:lnTo>
                    <a:pt x="0" y="251993"/>
                  </a:lnTo>
                  <a:lnTo>
                    <a:pt x="0" y="2436647"/>
                  </a:lnTo>
                  <a:lnTo>
                    <a:pt x="4860" y="2485801"/>
                  </a:lnTo>
                  <a:lnTo>
                    <a:pt x="19189" y="2533078"/>
                  </a:lnTo>
                  <a:lnTo>
                    <a:pt x="42491" y="2576639"/>
                  </a:lnTo>
                  <a:lnTo>
                    <a:pt x="73812" y="2614828"/>
                  </a:lnTo>
                  <a:lnTo>
                    <a:pt x="112012" y="2646160"/>
                  </a:lnTo>
                  <a:lnTo>
                    <a:pt x="155574" y="2669463"/>
                  </a:lnTo>
                  <a:lnTo>
                    <a:pt x="202847" y="2683786"/>
                  </a:lnTo>
                  <a:lnTo>
                    <a:pt x="252006" y="2688640"/>
                  </a:lnTo>
                  <a:lnTo>
                    <a:pt x="9700958" y="2688640"/>
                  </a:lnTo>
                  <a:lnTo>
                    <a:pt x="9750117" y="2683786"/>
                  </a:lnTo>
                  <a:lnTo>
                    <a:pt x="9797389" y="2669463"/>
                  </a:lnTo>
                  <a:lnTo>
                    <a:pt x="9840952" y="2646160"/>
                  </a:lnTo>
                  <a:lnTo>
                    <a:pt x="9879152" y="2614828"/>
                  </a:lnTo>
                  <a:lnTo>
                    <a:pt x="9910473" y="2576639"/>
                  </a:lnTo>
                  <a:lnTo>
                    <a:pt x="9933774" y="2533078"/>
                  </a:lnTo>
                  <a:lnTo>
                    <a:pt x="9948103" y="2485801"/>
                  </a:lnTo>
                  <a:lnTo>
                    <a:pt x="9952964" y="2436647"/>
                  </a:lnTo>
                  <a:lnTo>
                    <a:pt x="9952964" y="251993"/>
                  </a:lnTo>
                  <a:lnTo>
                    <a:pt x="9948103" y="202839"/>
                  </a:lnTo>
                  <a:lnTo>
                    <a:pt x="9933774" y="155562"/>
                  </a:lnTo>
                  <a:lnTo>
                    <a:pt x="9910473" y="112001"/>
                  </a:lnTo>
                  <a:lnTo>
                    <a:pt x="9879152" y="73812"/>
                  </a:lnTo>
                  <a:lnTo>
                    <a:pt x="9840952" y="42479"/>
                  </a:lnTo>
                  <a:lnTo>
                    <a:pt x="9797389" y="19176"/>
                  </a:lnTo>
                  <a:lnTo>
                    <a:pt x="9750117" y="4854"/>
                  </a:lnTo>
                  <a:lnTo>
                    <a:pt x="9700958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9529" y="3742194"/>
              <a:ext cx="9592945" cy="360045"/>
            </a:xfrm>
            <a:custGeom>
              <a:avLst/>
              <a:gdLst/>
              <a:ahLst/>
              <a:cxnLst/>
              <a:rect l="l" t="t" r="r" b="b"/>
              <a:pathLst>
                <a:path w="9592945" h="360045">
                  <a:moveTo>
                    <a:pt x="791997" y="180022"/>
                  </a:moveTo>
                  <a:lnTo>
                    <a:pt x="784237" y="127749"/>
                  </a:lnTo>
                  <a:lnTo>
                    <a:pt x="761644" y="80010"/>
                  </a:lnTo>
                  <a:lnTo>
                    <a:pt x="726186" y="40868"/>
                  </a:lnTo>
                  <a:lnTo>
                    <a:pt x="680885" y="13703"/>
                  </a:lnTo>
                  <a:lnTo>
                    <a:pt x="629653" y="876"/>
                  </a:lnTo>
                  <a:lnTo>
                    <a:pt x="612013" y="0"/>
                  </a:lnTo>
                  <a:lnTo>
                    <a:pt x="179971" y="0"/>
                  </a:lnTo>
                  <a:lnTo>
                    <a:pt x="127723" y="7759"/>
                  </a:lnTo>
                  <a:lnTo>
                    <a:pt x="79984" y="30353"/>
                  </a:lnTo>
                  <a:lnTo>
                    <a:pt x="40855" y="65811"/>
                  </a:lnTo>
                  <a:lnTo>
                    <a:pt x="13690" y="111112"/>
                  </a:lnTo>
                  <a:lnTo>
                    <a:pt x="863" y="162356"/>
                  </a:lnTo>
                  <a:lnTo>
                    <a:pt x="0" y="180022"/>
                  </a:lnTo>
                  <a:lnTo>
                    <a:pt x="863" y="197662"/>
                  </a:lnTo>
                  <a:lnTo>
                    <a:pt x="13690" y="248894"/>
                  </a:lnTo>
                  <a:lnTo>
                    <a:pt x="40855" y="294208"/>
                  </a:lnTo>
                  <a:lnTo>
                    <a:pt x="79984" y="329666"/>
                  </a:lnTo>
                  <a:lnTo>
                    <a:pt x="127723" y="352259"/>
                  </a:lnTo>
                  <a:lnTo>
                    <a:pt x="179971" y="360006"/>
                  </a:lnTo>
                  <a:lnTo>
                    <a:pt x="612013" y="360006"/>
                  </a:lnTo>
                  <a:lnTo>
                    <a:pt x="664248" y="352259"/>
                  </a:lnTo>
                  <a:lnTo>
                    <a:pt x="711987" y="329666"/>
                  </a:lnTo>
                  <a:lnTo>
                    <a:pt x="751128" y="294208"/>
                  </a:lnTo>
                  <a:lnTo>
                    <a:pt x="778294" y="248894"/>
                  </a:lnTo>
                  <a:lnTo>
                    <a:pt x="791121" y="197662"/>
                  </a:lnTo>
                  <a:lnTo>
                    <a:pt x="791997" y="180022"/>
                  </a:lnTo>
                  <a:close/>
                </a:path>
                <a:path w="9592945" h="360045">
                  <a:moveTo>
                    <a:pt x="2663990" y="180022"/>
                  </a:moveTo>
                  <a:lnTo>
                    <a:pt x="2656230" y="127749"/>
                  </a:lnTo>
                  <a:lnTo>
                    <a:pt x="2633649" y="80010"/>
                  </a:lnTo>
                  <a:lnTo>
                    <a:pt x="2598191" y="40868"/>
                  </a:lnTo>
                  <a:lnTo>
                    <a:pt x="2552890" y="13703"/>
                  </a:lnTo>
                  <a:lnTo>
                    <a:pt x="2501646" y="876"/>
                  </a:lnTo>
                  <a:lnTo>
                    <a:pt x="2484018" y="0"/>
                  </a:lnTo>
                  <a:lnTo>
                    <a:pt x="1043978" y="0"/>
                  </a:lnTo>
                  <a:lnTo>
                    <a:pt x="991730" y="7759"/>
                  </a:lnTo>
                  <a:lnTo>
                    <a:pt x="943991" y="30353"/>
                  </a:lnTo>
                  <a:lnTo>
                    <a:pt x="904849" y="65811"/>
                  </a:lnTo>
                  <a:lnTo>
                    <a:pt x="877697" y="111112"/>
                  </a:lnTo>
                  <a:lnTo>
                    <a:pt x="864857" y="162356"/>
                  </a:lnTo>
                  <a:lnTo>
                    <a:pt x="863993" y="180022"/>
                  </a:lnTo>
                  <a:lnTo>
                    <a:pt x="864857" y="197662"/>
                  </a:lnTo>
                  <a:lnTo>
                    <a:pt x="877697" y="248894"/>
                  </a:lnTo>
                  <a:lnTo>
                    <a:pt x="904849" y="294208"/>
                  </a:lnTo>
                  <a:lnTo>
                    <a:pt x="943991" y="329666"/>
                  </a:lnTo>
                  <a:lnTo>
                    <a:pt x="991730" y="352259"/>
                  </a:lnTo>
                  <a:lnTo>
                    <a:pt x="1043978" y="360006"/>
                  </a:lnTo>
                  <a:lnTo>
                    <a:pt x="2484018" y="360006"/>
                  </a:lnTo>
                  <a:lnTo>
                    <a:pt x="2536253" y="352259"/>
                  </a:lnTo>
                  <a:lnTo>
                    <a:pt x="2583992" y="329666"/>
                  </a:lnTo>
                  <a:lnTo>
                    <a:pt x="2623134" y="294208"/>
                  </a:lnTo>
                  <a:lnTo>
                    <a:pt x="2650299" y="248894"/>
                  </a:lnTo>
                  <a:lnTo>
                    <a:pt x="2663113" y="197662"/>
                  </a:lnTo>
                  <a:lnTo>
                    <a:pt x="2663990" y="180022"/>
                  </a:lnTo>
                  <a:close/>
                </a:path>
                <a:path w="9592945" h="360045">
                  <a:moveTo>
                    <a:pt x="9592945" y="180022"/>
                  </a:moveTo>
                  <a:lnTo>
                    <a:pt x="9585185" y="127749"/>
                  </a:lnTo>
                  <a:lnTo>
                    <a:pt x="9562605" y="80010"/>
                  </a:lnTo>
                  <a:lnTo>
                    <a:pt x="9527134" y="40868"/>
                  </a:lnTo>
                  <a:lnTo>
                    <a:pt x="9481845" y="13703"/>
                  </a:lnTo>
                  <a:lnTo>
                    <a:pt x="9430601" y="876"/>
                  </a:lnTo>
                  <a:lnTo>
                    <a:pt x="9412973" y="0"/>
                  </a:lnTo>
                  <a:lnTo>
                    <a:pt x="2915983" y="0"/>
                  </a:lnTo>
                  <a:lnTo>
                    <a:pt x="2863723" y="7759"/>
                  </a:lnTo>
                  <a:lnTo>
                    <a:pt x="2815983" y="30353"/>
                  </a:lnTo>
                  <a:lnTo>
                    <a:pt x="2776855" y="65811"/>
                  </a:lnTo>
                  <a:lnTo>
                    <a:pt x="2749689" y="111112"/>
                  </a:lnTo>
                  <a:lnTo>
                    <a:pt x="2736862" y="162356"/>
                  </a:lnTo>
                  <a:lnTo>
                    <a:pt x="2735999" y="180022"/>
                  </a:lnTo>
                  <a:lnTo>
                    <a:pt x="2736862" y="197662"/>
                  </a:lnTo>
                  <a:lnTo>
                    <a:pt x="2749689" y="248894"/>
                  </a:lnTo>
                  <a:lnTo>
                    <a:pt x="2776855" y="294208"/>
                  </a:lnTo>
                  <a:lnTo>
                    <a:pt x="2815983" y="329666"/>
                  </a:lnTo>
                  <a:lnTo>
                    <a:pt x="2863723" y="352259"/>
                  </a:lnTo>
                  <a:lnTo>
                    <a:pt x="2915983" y="360006"/>
                  </a:lnTo>
                  <a:lnTo>
                    <a:pt x="9412973" y="360006"/>
                  </a:lnTo>
                  <a:lnTo>
                    <a:pt x="9465208" y="352259"/>
                  </a:lnTo>
                  <a:lnTo>
                    <a:pt x="9512948" y="329666"/>
                  </a:lnTo>
                  <a:lnTo>
                    <a:pt x="9552076" y="294208"/>
                  </a:lnTo>
                  <a:lnTo>
                    <a:pt x="9579254" y="248894"/>
                  </a:lnTo>
                  <a:lnTo>
                    <a:pt x="9592069" y="197662"/>
                  </a:lnTo>
                  <a:lnTo>
                    <a:pt x="9592945" y="18002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9519" y="369532"/>
              <a:ext cx="3149993" cy="86399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42479" y="369519"/>
              <a:ext cx="2880004" cy="762063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546100" y="1876425"/>
            <a:ext cx="2560320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100" dirty="0" smtClean="0">
                <a:solidFill>
                  <a:srgbClr val="FFFFFF"/>
                </a:solidFill>
                <a:latin typeface="Century Gothic"/>
                <a:cs typeface="Century Gothic"/>
              </a:rPr>
              <a:t>ООО "БиоФудЛаб"</a:t>
            </a:r>
            <a:r>
              <a:rPr lang="ru-RU" sz="1100" dirty="0" smtClean="0">
                <a:solidFill>
                  <a:srgbClr val="FFFFFF"/>
                </a:solidFill>
                <a:latin typeface="Century Gothic"/>
                <a:cs typeface="Century Gothic"/>
              </a:rPr>
              <a:t/>
            </a:r>
            <a:r>
              <a:rPr lang="en-US" sz="1100" dirty="0" smtClean="0">
                <a:solidFill>
                  <a:srgbClr val="FFFFFF"/>
                </a:solidFill>
                <a:latin typeface="Century Gothic"/>
                <a:cs typeface="Century Gothic"/>
              </a:rPr>
              <a:t/>
            </a:r>
            <a:endParaRPr sz="1100" dirty="0">
              <a:latin typeface="Century Gothic"/>
              <a:cs typeface="Century Gothic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46100" y="2257425"/>
            <a:ext cx="9556115" cy="45076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400"/>
              </a:lnSpc>
              <a:spcBef>
                <a:spcPts val="95"/>
              </a:spcBef>
            </a:pPr>
            <a:r>
              <a:rPr lang="en-US" sz="2850" b="1" spc="155" dirty="0" smtClean="0">
                <a:solidFill>
                  <a:srgbClr val="FFFFFF"/>
                </a:solidFill>
                <a:latin typeface="Arial"/>
                <a:cs typeface="Arial"/>
              </a:rPr>
              <a:t>Получатель
Шифрина Елена Владимировна,
Генеральный директор</a:t>
            </a:r>
            <a:endParaRPr sz="2850" dirty="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50658" y="3810343"/>
            <a:ext cx="38989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214E85"/>
                </a:solidFill>
                <a:latin typeface="Century Gothic"/>
                <a:cs typeface="Century Gothic"/>
              </a:rPr>
              <a:t>2</a:t>
            </a:r>
            <a:r>
              <a:rPr sz="1100" spc="-10" dirty="0">
                <a:solidFill>
                  <a:srgbClr val="214E85"/>
                </a:solidFill>
                <a:latin typeface="Century Gothic"/>
                <a:cs typeface="Century Gothic"/>
              </a:rPr>
              <a:t> </a:t>
            </a:r>
            <a:r>
              <a:rPr sz="1100" spc="-25" dirty="0">
                <a:solidFill>
                  <a:srgbClr val="214E85"/>
                </a:solidFill>
                <a:latin typeface="Century Gothic"/>
                <a:cs typeface="Century Gothic"/>
              </a:rPr>
              <a:t>дня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38922" y="3810343"/>
            <a:ext cx="134937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214E85"/>
                </a:solidFill>
                <a:latin typeface="Century Gothic"/>
                <a:cs typeface="Century Gothic"/>
              </a:rPr>
              <a:t>30-</a:t>
            </a:r>
            <a:r>
              <a:rPr sz="1100" dirty="0">
                <a:solidFill>
                  <a:srgbClr val="214E85"/>
                </a:solidFill>
                <a:latin typeface="Century Gothic"/>
                <a:cs typeface="Century Gothic"/>
              </a:rPr>
              <a:t>40 </a:t>
            </a:r>
            <a:r>
              <a:rPr sz="1100" spc="-10" dirty="0">
                <a:solidFill>
                  <a:srgbClr val="214E85"/>
                </a:solidFill>
                <a:latin typeface="Century Gothic"/>
                <a:cs typeface="Century Gothic"/>
              </a:rPr>
              <a:t>переговоров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739193" y="3810343"/>
            <a:ext cx="1950085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100" dirty="0" smtClean="0">
                <a:solidFill>
                  <a:srgbClr val="214E85"/>
                </a:solidFill>
                <a:latin typeface="Century Gothic"/>
                <a:cs typeface="Century Gothic"/>
              </a:rPr>
              <a:t>Категория «Полезные снеки»</a:t>
            </a:r>
            <a:r>
              <a:rPr lang="en-US" sz="1100" dirty="0" smtClean="0">
                <a:solidFill>
                  <a:srgbClr val="214E85"/>
                </a:solidFill>
                <a:latin typeface="Century Gothic"/>
                <a:cs typeface="Century Gothic"/>
              </a:rPr>
              <a:t/>
            </a:r>
            <a:r>
              <a:rPr lang="en-US" sz="1100" dirty="0" smtClean="0">
                <a:solidFill>
                  <a:srgbClr val="214E85"/>
                </a:solidFill>
                <a:latin typeface="Century Gothic"/>
                <a:cs typeface="Century Gothic"/>
              </a:rPr>
              <a:t/>
            </a:r>
            <a:endParaRPr sz="1100" dirty="0">
              <a:latin typeface="Century Gothic"/>
              <a:cs typeface="Century Gothic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16826" y="5190287"/>
            <a:ext cx="25444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Century Gothic"/>
                <a:cs typeface="Century Gothic"/>
              </a:rPr>
              <a:t>Среди</a:t>
            </a:r>
            <a:r>
              <a:rPr sz="1400" spc="6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400" dirty="0">
                <a:solidFill>
                  <a:srgbClr val="FFFFFF"/>
                </a:solidFill>
                <a:latin typeface="Century Gothic"/>
                <a:cs typeface="Century Gothic"/>
              </a:rPr>
              <a:t>участников</a:t>
            </a:r>
            <a:r>
              <a:rPr sz="1400" spc="6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400" dirty="0">
                <a:solidFill>
                  <a:srgbClr val="FFFFFF"/>
                </a:solidFill>
                <a:latin typeface="Century Gothic"/>
                <a:cs typeface="Century Gothic"/>
              </a:rPr>
              <a:t>от</a:t>
            </a:r>
            <a:r>
              <a:rPr sz="1400" spc="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entury Gothic"/>
                <a:cs typeface="Century Gothic"/>
              </a:rPr>
              <a:t>сетей: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0" y="0"/>
            <a:ext cx="10692130" cy="7560309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10692003" y="0"/>
                </a:moveTo>
                <a:lnTo>
                  <a:pt x="10682478" y="0"/>
                </a:lnTo>
                <a:lnTo>
                  <a:pt x="10682478" y="9525"/>
                </a:lnTo>
                <a:lnTo>
                  <a:pt x="10682478" y="7550531"/>
                </a:lnTo>
                <a:lnTo>
                  <a:pt x="9525" y="7550531"/>
                </a:lnTo>
                <a:lnTo>
                  <a:pt x="9525" y="9525"/>
                </a:lnTo>
                <a:lnTo>
                  <a:pt x="10682478" y="9525"/>
                </a:lnTo>
                <a:lnTo>
                  <a:pt x="10682478" y="0"/>
                </a:lnTo>
                <a:lnTo>
                  <a:pt x="0" y="0"/>
                </a:lnTo>
                <a:lnTo>
                  <a:pt x="0" y="7560056"/>
                </a:lnTo>
                <a:lnTo>
                  <a:pt x="10692003" y="7560056"/>
                </a:lnTo>
                <a:lnTo>
                  <a:pt x="1069200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3596830" y="6090285"/>
            <a:ext cx="324231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Century Gothic"/>
                <a:cs typeface="Century Gothic"/>
              </a:rPr>
              <a:t>и</a:t>
            </a:r>
            <a:r>
              <a:rPr sz="14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400" spc="-90" dirty="0">
                <a:solidFill>
                  <a:srgbClr val="FFFFFF"/>
                </a:solidFill>
                <a:latin typeface="Century Gothic"/>
                <a:cs typeface="Century Gothic"/>
              </a:rPr>
              <a:t>еще</a:t>
            </a:r>
            <a:r>
              <a:rPr sz="1400" spc="-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4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entury Gothic"/>
                <a:cs typeface="Century Gothic"/>
                <a:hlinkClick r:id="rId5"/>
              </a:rPr>
              <a:t>40</a:t>
            </a:r>
            <a:r>
              <a:rPr sz="1400" u="sng" spc="-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entury Gothic"/>
                <a:cs typeface="Century Gothic"/>
                <a:hlinkClick r:id="rId5"/>
              </a:rPr>
              <a:t> </a:t>
            </a:r>
            <a:r>
              <a:rPr sz="14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entury Gothic"/>
                <a:cs typeface="Century Gothic"/>
                <a:hlinkClick r:id="rId5"/>
              </a:rPr>
              <a:t>сетей</a:t>
            </a:r>
            <a:r>
              <a:rPr sz="1400" u="sng" spc="-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entury Gothic"/>
                <a:cs typeface="Century Gothic"/>
                <a:hlinkClick r:id="rId5"/>
              </a:rPr>
              <a:t> </a:t>
            </a:r>
            <a:r>
              <a:rPr sz="14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entury Gothic"/>
                <a:cs typeface="Century Gothic"/>
                <a:hlinkClick r:id="rId5"/>
              </a:rPr>
              <a:t>по</a:t>
            </a:r>
            <a:r>
              <a:rPr sz="1400" u="sng" spc="-1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entury Gothic"/>
                <a:cs typeface="Century Gothic"/>
                <a:hlinkClick r:id="rId5"/>
              </a:rPr>
              <a:t> </a:t>
            </a:r>
            <a:r>
              <a:rPr sz="1400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entury Gothic"/>
                <a:cs typeface="Century Gothic"/>
                <a:hlinkClick r:id="rId5"/>
              </a:rPr>
              <a:t>вашей</a:t>
            </a:r>
            <a:r>
              <a:rPr sz="1400" u="sng" spc="-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entury Gothic"/>
                <a:cs typeface="Century Gothic"/>
                <a:hlinkClick r:id="rId5"/>
              </a:rPr>
              <a:t> </a:t>
            </a:r>
            <a:r>
              <a:rPr sz="1400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entury Gothic"/>
                <a:cs typeface="Century Gothic"/>
                <a:hlinkClick r:id="rId5"/>
              </a:rPr>
              <a:t>категории</a:t>
            </a:r>
            <a:endParaRPr sz="1400" dirty="0">
              <a:latin typeface="Century Gothic"/>
              <a:cs typeface="Century Gothic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16826" y="6716242"/>
            <a:ext cx="17970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Century Gothic"/>
                <a:cs typeface="Century Gothic"/>
              </a:rPr>
              <a:t>Место </a:t>
            </a:r>
            <a:r>
              <a:rPr sz="1400" spc="-10" dirty="0">
                <a:solidFill>
                  <a:srgbClr val="FFFFFF"/>
                </a:solidFill>
                <a:latin typeface="Century Gothic"/>
                <a:cs typeface="Century Gothic"/>
              </a:rPr>
              <a:t>проведения: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596830" y="6718655"/>
            <a:ext cx="489966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FFFFFF"/>
                </a:solidFill>
                <a:latin typeface="Century Gothic"/>
                <a:cs typeface="Century Gothic"/>
              </a:rPr>
              <a:t>10</a:t>
            </a:r>
            <a:r>
              <a:rPr sz="17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700" dirty="0">
                <a:solidFill>
                  <a:srgbClr val="FFFFFF"/>
                </a:solidFill>
                <a:latin typeface="Century Gothic"/>
                <a:cs typeface="Century Gothic"/>
              </a:rPr>
              <a:t>и</a:t>
            </a:r>
            <a:r>
              <a:rPr sz="17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700" dirty="0">
                <a:solidFill>
                  <a:srgbClr val="FFFFFF"/>
                </a:solidFill>
                <a:latin typeface="Century Gothic"/>
                <a:cs typeface="Century Gothic"/>
              </a:rPr>
              <a:t>11</a:t>
            </a:r>
            <a:r>
              <a:rPr sz="1700" spc="-3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700" spc="-35" dirty="0">
                <a:solidFill>
                  <a:srgbClr val="FFFFFF"/>
                </a:solidFill>
                <a:latin typeface="Century Gothic"/>
                <a:cs typeface="Century Gothic"/>
              </a:rPr>
              <a:t>февраля </a:t>
            </a:r>
            <a:r>
              <a:rPr sz="1700" dirty="0">
                <a:solidFill>
                  <a:srgbClr val="FFFFFF"/>
                </a:solidFill>
                <a:latin typeface="Century Gothic"/>
                <a:cs typeface="Century Gothic"/>
              </a:rPr>
              <a:t>2026,</a:t>
            </a:r>
            <a:r>
              <a:rPr sz="17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700" dirty="0">
                <a:solidFill>
                  <a:srgbClr val="FFFFFF"/>
                </a:solidFill>
                <a:latin typeface="Century Gothic"/>
                <a:cs typeface="Century Gothic"/>
              </a:rPr>
              <a:t>Москва,</a:t>
            </a:r>
            <a:r>
              <a:rPr sz="1700" spc="-3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700" dirty="0">
                <a:solidFill>
                  <a:srgbClr val="FFFFFF"/>
                </a:solidFill>
                <a:latin typeface="Century Gothic"/>
                <a:cs typeface="Century Gothic"/>
              </a:rPr>
              <a:t>Крокус</a:t>
            </a:r>
            <a:r>
              <a:rPr sz="17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Century Gothic"/>
                <a:cs typeface="Century Gothic"/>
              </a:rPr>
              <a:t>Экспо</a:t>
            </a:r>
            <a:endParaRPr sz="1700">
              <a:latin typeface="Century Gothic"/>
              <a:cs typeface="Century Gothic"/>
            </a:endParaRPr>
          </a:p>
        </p:txBody>
      </p:sp>
      <p:sp>
        <p:nvSpPr>
          <p:cNvPr id="7170" name="AutoShape 2" descr="data:image/png;base64,iVBORw0KGgoAAAANSUhEUgAABFkAAAHwCAYAAAB9trC/AAAQAElEQVR4Aez9jZ3kRJZ/D2c+DjyMBctYsGDBDyxYsGDAgmksoLGgGQtgLIC1AMYCWAtgLRjWgvrfky0VWVlSpt4VN3T6o2hlKaWIGydCL/erG5H/v5P/JCABCUhAAisTeHp6+jDSJzfpi/j7bU/6Ibb/tFD6LvLpKwcbbu36YGUcZi8BCUhAAhKQgAT2IGCZGxBQZNkAskVIQAISqIlACBYfRGqFCUSKVsBAzGiFkV9in+cl6v9bpJ9u0nfx99c96bPY/slC6YvIp68cbLi169/Phr//0NaJNXVs60vdWw4KMwHZRQISkIAEJDCdgEdKoA4Ciix1tKO1kIAEJLAIgdAU2oiTz+IzYsK7WCMukC7iQxT070itMIFI0QoYiBmtMPJR7FPL0taJNXVs60vdWw4XNsGKNaxI8CPBEjHmw1qAWA8JSEAChyNghSUgAQkMJKDIMhCUu0lAAhKohUAIATj8OP4IAERmIAj8Ftufoo5txMkP8Rkx4U2sERdIRmsEjAcLjGBFgh8JlogxF8bBmTXMEbBoA9qC/R9k7dcSkIAEugm4VQISkIAEyiGgyFJOW2iJBCQggcUIhCPfRqTgxOPM49QTZYGQgsOP448AQGQGDr5RFovRf5gRrGGOgEUb0Ba0TzTbE23EZ9qMtkMQY/+HmbqDBAoloFkSkIAEJCCBQxFQZDlUc1tZCUigNgJPT0/t/Cg45G1UCkJKG5GCE48zj1NPlEVtCGqrD21EW9FmtB2CGJEv0dRPiC+08ZunpyfEF/atrf4b18fiJCABCUhAAhKQwLIEFFmW5WluEpCABFYjEI71R5EYWoKggsPN3CgkHHEc8jYqZTUbzHhDAq+LQnyhjd/FV7Q5US8k+gJ9gr5h1EvAcZGABCQgAQlIQAJ7EVBk2Yu85UpAAhK4QyDEFIb74DTjPONEE53ySxzC0BIEFRzu3SIZwg6XMgjQB+gL9An6BlEvCi9ltI1WSEACEpCABCRwQAKKLAdsdKssgcoJpKxeiCoM/0BQ+SE+E53CcB+cZpxnnOiU9dLoXQj0CS/0LfqY/WmXZrFQCUhAAhKQgASOQECR5QitbB0LIqApEjidQkRpo1SY3PSX+JsoFYZ/fB18PouEkxwrFwksRoA+Rd+ij10io6Lf0ffog0RMOcxoMdRmJAEJSEACEpDAkQkoshy59W/r7t8SkMBqBMKhJVKFSUuJUCERpcLkph+tVqgZS+A+AfoefZC+yDAjEn2UeV/uH+m3EpCABCQgAQlIQAKdBNKILJ3Wu1ECEpBAHgJMVorzasRAnjY7mqX0Tfrod0eruPWVgAQkIAEJSKAsApmtUWTJ3HraLgEJpCDw9PTEUA2iBlLYq5ESkIAEJCABCUhAAr0E/EICdwkostzF45cSkIAEFiHAXBiLZGQmEpCABCQgAQlIoJ+A30hAAnsTUGTZuwUsXwISOAKB/zpCJa2jBCQgAQlI4C4Bv5SABCRwAAIvRJanp6c3kfjVgYyJseQHaLJ5VYz25VckMrbvEJsZkjEPUOVHR/t/EWkIy9L2yR4J4k/mVn5uWb19CcR17aNIpV23jmYPPw9+m7jnMOl3m4q+T+/biy1dAhKQgARqIfBCZIlK/REJZyBjyu6EBfpNlr9FKRnbd4jN9oFo3AfL3+P7ISxL2+fXsDvlEo4f/VLHImXraXQiApxjpV23lrQnQ15fR3+5TUyi/FNsb9O/45rYLr/EB4SoH2LdijMXMSb2d5GABJISiPO5Fb35tbr23G7XvOy9nOexX7v2RXnSttbsfgK3IsuP/bsW/83/K97CnQ2MixkPoTh8O1uyWvH2gTtom/bPOPnq7+fz+fc7VSv9K/tl6S2kfTMJeLgEJhHgfoR4xHNJK85cxJi4X7EgyCDC4KgRaY1DxnPMpMI8SAIS2IwA5ynnNr9W157b7fqHsOJynl+tf+OE70itEMt14Da1ok3X+jaCjmvHdcK+KN5FAusReCGyhCNDJMvP6xW3as6czKsWUEHmtTPiQa2CZlqtClnbP7P4S2PaL6GwV7JcCUggKwEcIe5bOGrvohI4ZggvOGREvyC8INTEVy4SkECFBDi/uQZ0pVa06VrfRtBx7bhOXEc6NJ3LJq4vt4JO+/e72KNL1DE6p8LON7dKL0SWJrP/btbZVh9Ex+dkzGb3lvbWPvkmfYAL8ZZMM5WVtf3/lQnyta3NNak3DPZ6Xz9LQAISkMAgAlxTEa8RXnjTjcNEtAtvrxFmBmWSfae4v/BmvsvhK3Jbdt7afxgCXF/wJbrSm6DQJeoMjc7hetUKNqy5bl2fr5zTbcKOKM4lK4EukSVrJAttwE2XtambwBH4ZBUSults2a3cMIbmWMp+f5zP58yRLBmZl9L22iEBCUhgCAGEFaJdeHuN4EKUyxGed7i/dDl8pW4b0pbuI4GaCRAMwHnbJq5b1+frdbQNETWhpV4WPiPKkK6FGQWZgnvLK5ElHBommMw6/4FzH/R0tjhFeeDgQaRnj0yb79pKPe/ucMQvo/1RxEnZqp9Z9IW1oh8UTBKQgAS2I8BzAEILjglviY/w7LMdXUuSgAS2JsDze5cw04oyXOviUf+yIMSQ2qFN7VAmr4Mbt9orkaUpP6tjg6K3bydqABa4Ooqz92FcYlCKC2yCXU3i4ryrARMLzzp88RT9kGtRVu4Tm8vDJCABCRRDAMeEt8Q4IIotxTSLhkhAAisS4LmT1A5taocyEeUXj6ZP7ZAlronMa6XvvERjdOTRJ7KkdWyijnSsWLncEODNzs2mav+0D7xu2qwiW+ahQkc65173OLdIQAISKIMAgrdiSxltoRUSkMDGBG6K40U0fhLXROa1IhqmFWCIgGmHIyG+IFTfHO6fQwl0iizn3HMgOGTopvWfnp5w9njIuPmm2j//Vm3NpleMC+r0o/c58te4FvGLZ/uUPr9Ur0XzGZqDBCQggaUI8ByEY8GbXJ6LlsrXfCQggWkEPKosAvgK7TwxiC9EASLAIL4Q+cLQI4WXgW3WKbI0x2Z9g0wHaargqiGQNYqhMX/06qMQlrwINNiCBao1D5fNljSrf6axtNtQH+K7ubhVAhKQwJ4EeD5gzhZSxnvjnuwOVLZVlYAEggDXSHxrBGqGHiG8kIh4YbgRPkbs5nJL4J7I8q/bnZP8rYP9uqGO6OxxQXhN4phbsrZ/1rmhmI+F/seN6Zg9zlpLQAISKJ8A90acBdblW3ttoZ8lIAEJ7EcAoZqIF4YbERnIdRTR5Yt4seuzb9Mu90SWrJEsVA0Hh/XhU3R2Hh6O2OGPFr1zr69nHLby+/l85pfO7tWr5O/sfyW3jrZJQAKrEUiWMc9HRLTgLCQzXXMlIAEJFEGgFV2+C2sYXoTwQpQL22PTMZdekSUcnN8DCSlW6ZaMTuVakI/q7DFukIentbhmyjej6Jg2iqXpGIibzUdXEpBAIQQ0QwJ9BHAImHfA54Y+Qm6XgAQkMIwAQ4gQrolwITGfy+EEl16RpWGYNZolo1PZIF98dWQWR677pSM1kUyXz8n+S/sLZ8GcGwkpGXLN3ZeApUtAAjsT4JkBocXr984NYfESkEA1BLieMp8LYksb4XIIMfuRyJLV0fkwHB1UtGp66JSKNAzo3FMOr+GYo0bxXLddyqiuc+5fOKsviuW6R/lZAhKQQL0EeHbEEWBdby2tmQQkIIHtCXBdJcKFIUXM4YKwvb0VG5V4V2QJR4eQ/aw/oVp1ww3sH0f/KWOd3dMp43kwKoLuVN6/lMJWeRi1SAISkMAuBHjLSkQLDsEuBlioBCQggcoJMHEu11kiXBiuyXW3qirfFVmamiK0NB9TrXR0TqejiwwfPD097SkynPb8F3XngpXxITFrBB2/KgTzo593e3Z7y5aABCSwBAGu5UyIy3qJ/MxDAhKQgAReE/gwNhHdgtjyLnwX/o5N+ZchIktWh+fQjk50UpzrOx01f+cdWIMjDxnKeg5kFXbpkocV9ai8SQISkEBFBHiG4k2rQktFjWpVJCCBIglwnX0TliG2MJSI62/8mXcZIrJs7/AsxDOEhiM7PEcfKtT2oqxCQ2v/nHXGaK5fz+dz1l81o62OLOpRf5MEJCCBmgjwwoqfJa2pTtZFAhKQQHkE/rSIoUTpxZaHIkvj8Pz6Z71TfTqyyHJkceG6kx55EuSM/T+tqNt0Os+7BoQrCUhAApUQ+Cxe2vGGtZLqWA0JSGAsAfffhcC12EKkyy5GTC30ocjSZJx1yNAh3yrHwwBvXtKHWTV9b4lVRrFhVr0T94F/zqr4jgc3zNPdBHZEZtESkIAEshBgrgCerbLYq53HIWBNJVA7gVZseZupokNFlqy/9vFROD5HdHocKvTyLDwij4zC0h/n8zlr1Bw97oj9jHqbJCABCRyBgMOGRreyB0hAAhJYhAD+/Nfh1zOMKIWPM0hkaRyfPxZBtH0mKRpiYSwOWXgJFLHtaJE9GedjySrmtr3tiNeatu6uJSABCeQiMN5aniVSvUkdX0WPkIAEJFA0Afw5JiTn19/4XKyxg0SWxvqsDlBGZ7NBPn4VCh/hrEV3uvG1WuSIoznAGeubdVgiP93MOce5t0hnNRMJSODYBKx9sQT+Hs9ZXO+LNVDDJCABCRyAAAEFv8T1uNj5ssaILP9K2mA0QlLTJ5md0bmeVNGRBx1mfp644NAHCKsbiWj33TNPegvz3QFqgAQ2IGAREjgyAe6tDhs6cg+w7hKQQCkEuB4zXxaRLcWJ32NElqyRLPy6THHgV+ydzgvRDZdfB+Bk7P62rq0ZHf6fz+dz1iGJ9J7DiHhUttykZRKQgARWJ/BJ8zJj9YIsQAISkIAEHhLA7yGqpajAisEiS+MAZX3TDPyHLZR9h7jpIyY5ZKG/IQ/RD6L6GR3+tEOFgjfL4ws7e5kkIAEJSKAGAu9qqIR1kIAEJFAJAV6kM0/Ld+EP83n3ag0WWRpLszpCGZ3OBvmolY7efVzV94PmwjJaaLuPbZNvs0bKMR+L590mXcRCJCABCRRDgElw+VnRYgzSEAlIQAISOHFdLmL40FiRxUiWU9H/ahwqtCTwIzjDGaN1fj+fz78v2dAb51W9eLcxT4uTgAQkkIHA1xmM1EYJSEACByPAy2aGD+3qE40SWcIR+jUaKaMz9EG84Qd4mL/kUk5eUT+HCj1uDvrBrifcYxNn75Hx17TSRrE0rVV7n2qq6UoCEpCABK4IMOffEV7eXFXZjxKQgARSEGDIEBEtRLYsbPCw7EaJLE2WWR2i2h0hb/RNB32wqj3qIGM/yDoMkaFCiLcInA+6nV9LQAISOBENnD3xsu3kv2cCf3/+5AcJSEACexOw/FsCzNGyyy/CTRFZ/nVrfZK/a3euHSo0rCNmFCEG1ayJZsrm8P9xPp9xOgbVscCdqu1PBbLWJAmkJhDXuk8rSB9HHV4t0TB/jfTpVfo8Pn8T6ftINQsz/NJQtvtuNImLBLYnYIkS2InAh9w6cgAAEABJREFUF+EjIbYQ3bKZCaNFlrizGsmyWfMMKyg6Djd43qgPO+DYexHeWyurjNFaWa8n7VlUu3jb1tO1BCQggV4C8WzI3Fo/x7pNP8bnt5G+jPRxHPiXSAgviC5/xOeaFqNZ8remNZCABOomwLAhhg9tJrSMFlka/ikdoxAjMjqhDfK7K9+m38Xz6sta+0HG+ViyRsYxVIgLda2C3auTZqUNvOEmkuk68fZ7SPoqbOLNOY7bkP3Z59s45rosPmNDbHaRgATWIhBCC1GLCC9fRhlEvbDOOMdfmP9qWfkZ7FV5bpCABCQggfEEeGbfTGiZKrJkdYxqfetca73Gnz7Djqh1aFXGB72Ugm3TzTLybkxfbYVoQeJtNaIGCREEMYT013C2rheGHtwOoeDt95D0bWTEW3MctyH7s89XccxtedgQm98vQQYHEFtJOILUgUSdqBspdnORgAROExDEmYbg8n2sOdc4x7KLLUTIej+Y0Bc8RAISkMDGBDYTWqaKLFkdo+oiGJ6ennibXl29Vj7hPgpuDLFauZjtso/6cNGgL2xX6PySfo2H7Mxh40cTN3GEEBgQGxAdcI4QIq5FilbAYIgAogYJEQQxhEQe83vOijlEn7we9oAjSB1I1KmtX+x2PocZDIOAAVE1MIENjDL366hWHYu1KJ/A+XzmnOE8IsqsfIP7LcwYSdpfG7+RgAQkUC8BfKbVI1omiSxxU+RBOWOINc51Nkf0URf37ckjQt3f1yZMZazPP7ubJs3WjMwfwUUcQCTA4UE0QEBoRRSiUBAZEBsQHRAgEE4y3gsecRj0fdwLEQphQFQNTGADo7/Ed+fIBH5E8sASZxK2MI6vXCQgAQjEuUJkC0Il50vW88NnMRrTJAEJSCAHgYvQsqapk0SWxiAeFpuPqVa13QiP9jZ9qc5WG7eM9cl6DWE+Fq4j2QVb+COmtM4NwsBfzuczIgHDahANEBAOK6LMvdicz2f4EckDyy/jb9gyASgJhxL2rfgytziPl0BqAnF+cE3ivMh4zWHIUFURsqk7k8ZLYDwBBF6uQVumjNe68WTLPYLgi9V+3nmOyPLf5TK7a1k1IZ1P74cK4ezdrbBfdhKojVu2qAqGZIy/uXQ25S4bM11H2gcHoimIqiAiJfyZMw4/YgpRGIgB7LcLzKMVej6feXMPc9i34ss5ODBsgjairXjQs00CistxCMS5wX0hq9CS7T58nI5lTSXwmACRqTwXbZnaSOG49L1fwkzmquIaSGqfB3gmYKoOngsYTRK7uSxE4PLzzgvl9SKbySJLdAUaOuMDYE03wdqEghedc+0/QqRalN/a9vblH/XI2Ke5WfRVKcP2kvsO12ZuyNycEVSIUOGhgWgKoiq8QRfaw+K+ykMebURb0WZEvPDAxfw3RB3RtoVar1kSWIZAnAc8W9LnWS+T6Ta5ZBLftyFiKRKQwCgCcf3jJSQvYUjt8wDPBJ/HdzwX8FzHSxmeDRBiiIhtnw+yXTNHsVlxZ4QWfuJ50SImiyyNFRkf+GoK6Rw6RKRpLlc3BGrhl7EeWX+hjKFCjOMsJSwcwQTBipts+0aEmzA3ZG7OfH/T7f0zE4F4qOKBi/lviDqibXm4ah+saHsfqjI1qLYOIhD9nogWrmuD9i9kJ+4NhZiiGRKQQM0E4hrJswFCDBGx7fNB+2KGl2y8bMvop+/VbN8t/dJ6rsiywJChXViW/BZ6EJDoCMwHkb4egyq73k618EsXyRI3B5zD9Vp23Zz35I1owhwevOXlbQaJtxvcZHFK1q25uRdBIM6f9sGKtuehimFGOKScV4ouRbSSRswlEP2ca10mJ0GRZW6je7wEJDCLQFw3EV94ycbLtusXM4WJLrOqudbBPzT+9SL5zxVZeKBbxJCNM6khpLMWgWDjpn9R3AdxMqV+KAr7Eduy1SHrdaPtPFtGDuEww+taVGEODyIbEFxam1wfmEA8VDHMCKFN0eXA/aDSqnPtS1O1uCfvKcKn4aShEiiaQGXGxTMCL2YuoktUjRczRLogYvOMGZtcGgL4VD81n2evZoks0Wg0Tsa3pzXcBLd09GZ3tIIz+FvBtg0xLaPYljUCjqFCXIDXvn7w5paoBIb/MJ8KjrOiypCzwX0uBOLefCu6MLyIt1gZ79eXOvnfMQlEX0ZMxhnIAoB7RBZbtTMhAU2WwBwCcU1l4n0iXXhh1wouvMybk21Nx/KLQ2+XqNAskaUxIKPDlDqCId6UcBPP6Fw3XaaoVXaOGaOyEBGK6gQjjFmjvyBW40TwZgFRhfBOohJ0iEc0jLv2E4iHqvYtFsOKeKgiOoA+R9/rP9BvJFAGAQTCMix5bEW2yNLHNRq+h3tKQALJCMTzAYLL5fkzTOcFH8J2fDz08nX42rNfqC4hsmRVv9ZwlrbqkbMbfitDE5STfSLkbH2BN+yZL+BLiVowYDb4NlqFNwrc6HR6E1w0MpsYD1S8xSIyij6H4MLDFX2RPpm5atpeKYHos/TNmeJ8pXCslgQkIIEFCMR1lmcDXvC1v1p09GsuE+ES1DCZ7myRJRqFt60ZHYOlnKXJ8GccmGGoUKZ+kVJwC5WVX7ghzehKmx+aMfLtGtKcvsI5wVsCJqslMRs8267z97MENiUQ93DEPfoiD1ZEuii4bNoCp9PJ8oYQ+OeQnQrYJ/OzZQH4NEECEtibQDwXEP3KMGMSUa97m7RH+fhXX88peLbI0hSeMZrlk3BSZylUTd33WM1x9LayF2c6S7/IOi9Lhn5w29+y9Ilbu5mPhaihsdcMRJRWWCFqhbcEvJV9lb8bJLA3gXiwItKsFVwu5vifBAohcPS3qoU0g2ZIQAJHIRDPBIgtDC9GbDniNfhNaAU8+09q8qVEFhzqSQbsfNBkcHvZHY2NYz3W0dvDXJzpLP2CSY4yML1tx2xvzPhZOUSH23pk+XtoBBkiisLK+q1qCRKQwEEIxMM+11XSQWpsNSUgAQmUQSCuv4gtCC2ko12Hv5vaCkuJLFnVrWxOKu081NFj373SxZmOkxKhJctQMsSrvXhNLTebSJj1OtG2z70+wk2HYRZEq/z1fD4bsdJScy0BCUhgGQKZRfplCJiLBCQggZ0IhF+H2MLQYiYjz+LfzaXF3J2Tfm1oEZEloAM6owOVzUmlo9xz9Pi+hIS40tpx/bndVuI6g3j1zO3p6YlfMJgWffOcy+YfskQ2vQITvBmbSbr9jrGqn8c10DlWbsn4twQkIIFlCfzPstmZmwQkIAEJjCUQz7yIDszhltH3H1td9v974wfweXBaRGRpSsvoQDFMpMtxaqpU1ioaGIElg2N9PUHdqH6xI3HY7lj86KKz2UsFM1+Mr3nzNpUxqn+JGw2/0JJFSKQNTBKQgAQkIAEJSEACEphMIJ5/GbXA8CGGx0/OJ8mB+N6jJ8FdUmTJ6kANjWYpoR9kiLbgpMMJvfCKkzCNA9qIWBe7E/yXbagbv2BCxFsCtJ0m/mdsJWqF4UCk76NvZ65PVMdFAhKQgAQkIAEJSEAC0wjEs/BlqHwczbD5WFW3tBX6IvxERhG0fz9cLyayBGQc64yAMzmr12/THzbuTjt0iSpd23Yy726xGUQsfuUGRTWTOAj0f/Ff1hTXNyJWSFznslZDuyUggf0IKMrux96SJSABCVRIoIwqxTMyz8YMH8ri700F927MgYuJLE2hGeFmEC5wrLET57pBXezqeqhQa6RDhloSy6yzCSzUOuO1AbtNEpCABJYgwEPoEvmYhwQkIIHyCWjhoQiE0PJHpM+j0kyKG6sql0+enp4G+2BLiywZ31Z/EMBGhf/s1G0yRNy8GCp0xSmLg21fuGq0BT/+GhfejFFuCyIwKwlIQAISkIAESiCgDRKQwDoE4nmfSXGZt3CdAvbPdfDcLIuKLAE2izN920SDVanbAzf8m0iWDYubVFRn+0e/IEy687tJpax70N/WzX6R3DP01+uKZp2v6boOfpaABCQgAQmsTcD8JSABCaQmEH4fcxgyKS7+X+q6dBhPNMugH81ZVGRpDMniTDfmXlZFR4k0kTaDGvRSm/3+uzcs6N53+1n8uuSixazoC/SDDJFX12SztP21zX6WgAQkIIEXBHb/gwnIdzfigQFGbT4A5NcSkED9BEJo4QVrrULLoGiWNUSWjEOGinas41TMEF3BWDxOqDC3c8kivn3YCBmdlShgY7Yolkf9ogCkmiABCaQnYAWOQICXDKXX839LN1D7JCABCWxBIIQW5iKrUWjhl4Ye3o/WEFmyONMv+lc41iU7r6WLQLC82+5xohEydncfMikklcy76KirjvbL0uYdprtJAssQMBcJSGARAhmiOHnWWaSyZiIBCUggO4Hw/6oVWh61zeIiS8AkVBKgj8ou7fsiRZYQf3ioeKiWFQBzyJCQIfsUUJVTyZFDJQtAXW2XMbKtqx61brNeEpCABIonEM9CWe59GZ9/i29/DZSABPISCG2A6yK/PJS3Eq8tf+grLi6yNDbcGzbS7FLc6r+Ks+i9QQ8b8f1uu/7PkJAhEQtD9tm1Ik3hH8UDXXE/lx02IbgVZ1fDrG81o837snS7BCQgAQkcjECpz2i3zYAzcbvNvyUgAQkcmkAILWgDNf3qENNL3BX/1xJZskQsXHf4Ih3rMPBuA8b3JSyDHOk4wQijHbRvAZW6z30fA4uMtrqD4uemze/s4lcSkIAEJCCBhwRKvCffGv2797xbJP4tAQlI4D2BuD7yq0Ok9xvy/383EGIVkSUgolbhUGfDV5QT20QujB4qtAP0MaJaluEjJb41yzYfy5h+sUO3tUgJSEACEiidQDwLfRE2Zoji5Nk3THWRgAQkIIEeAl/F9loi/j6L+1PvvWkVkSXgsXTdbNhecirNsb6rkBUCcuhQodZcI1laEuPXGd7kXdcqS1tf2+xnCUhAAhIoi8Cgn8sswOQsL5EKQKUJEpDAgQg8V/V8PhOEwbAh1s/bE3/o9c3WFFkyvsUuKpIlOlxvw8V3pSyjHOk4udJMjBzqZDH8w5bS+uaj/kfYNG39aD+/l4AEJCABCXQSiHsfUSwZInqxP+PLRew2SeDABKz61gTCFySS5Zuty12pvN4AjTVFllHO90oVH5stk9gUcTOPBwvsII2tw9b7TxHT/rm1kRPL6z1xJuY357BsIkvG839O+3isBCQgAQksSCCegwjDfrdglmtm5YuFNekeNW/rLYFKCYTQ8m1UrQZhunfI0GoiS8AjDAilKhimWkpxZouJonjQelNOkCwOeEltUJLg86BLXL42bPqCwf8kIAEJSGAige/iOISWWBW/ZHmuWQykGUlAAhKYSYBhQzOzKOLwTn9xNZGlqfKUKIfm0N1WpTizGeZj+bER00Y1VhzDMJIMAtwH8Sbto1GVW2HnsIGHzN3tGFG1sfP0jMjaXSUgAQlIoHYCcd9jmFDng+uAuu+xS5YI3T3YWKYEJCCBVwQaf7CGYUOdP0yytsiSUdE6bgkAABAASURBVNnfPZIlHi4YJpTBqZ4jomV5IClB7Nq9T766Mt7fMCW66X6OfisBCUigCgJW4hGBeAZCYCGK5dGupXz/azgLGV4clcJLOyQgAQm0BBg2xMv39u+M684XAquKLM1Nh2FDmYCVEL3Q2VgFQpwjos05dksUJbRFKdFVQ7nPEd+GluF+EpDA0gTMTwI7E0gosEDsH/xnkoAEJCCBcQRCK0AnyB7N0qkdrCqyNJizONONuZfV3pEDJURPXEDc+W/SUKE2vzipUC0zvPkpYTLkvftj22xD1xnP+aF1c7+dCFisBCRQN4EQWN5GDTNFsIS5JxwE73kn/0lAAhKYRiB8wu/jSPzCWKVdXvlqW4gsGd9q7xY5EA8ZRxgq1J5BWYYM7RbN0vQH+kTLrPQ1YdM8dJZu55L2mZcEJCABCUwkEPe5jyL9Eod/HSnb8n04CN7zsrWa9kpAAqURyB7N8mpeli1ElozzM7xSozbsibs59CPruMSbmyXyGGn2pN13E93C2pl9MXLYdskoqm5LyNIkIAEJSOAUwgqRokSuILBkmIeuq9UcKtRFxW0SyEcg0wvNfHQfWBxidfZollf3sNVFloCGwp9OaImb/15iR/VDhdrz7Hw+ExqWYcjQJ9Ef+IWf1vQt13sKPFPqmUU4m1I3j5GABCQggZkE4n5K5Ariym+RFZPcxirlQhQLzzEpjddoCUjgBQFFlhc4dvkjs2jNS4MXfWh1kaVponRvt8PuV2E/sW3VJR48aJxXStiqhU7LfMn2zCLA7SW6ZYpk+T1E1Qyi2bRe71ESkIAEJDCaAM82kT6L9C4SwgqRK5nFFRjwAvErPpgkIAEJSGARAkSzcG1dJLMpmcw85oUPv5XIkvHt9h7O7V6O/Ng+tWR7ZpmXZfOIkngY5WTdK4JmbJ9g/yyCGbaaJCABCUhgJgHuU5GI9iR9EZ/fNumnWP8S6SmKQFj5IdZvIvEyKVbpl3/ES4XMzkD6BrACEjgYgeqr21xTl/Qxt2aG3/Zc5iYiS0AjnJL0XHCCD4Szbu3gbh49M6EdFp3YNPoGkQ8Z+oai2+POsmSE0+PS3EMCEpBAHgKEErcCRKlrhJF76TdEk+sU+IlK+SnWJIYAMXktiXvmiwfO2KeWhahNfgmplvpYDwnMJODhEliMQJaX710V/s/rjZuILE2BGZWpzSJL4qEFQWez8po2mbJao/Nn6BsfRBtt3T4ZRLfnPhSCWYZ2fLbXDxKQgAQ2JEAEB+JDyQlh5F6iDhsiK7aoL4u1TMNeE3CLBCSQhkD4EkTFZ3j53sX0xT1yS5HlX13WFL5tSyd3awd+Kvo1HOk1hJup9bt33NZDhnjYvWdPSd+t0S9Kqp+2SEACEpCABL5tnIBFSJiJBCQgAQm8IpDVp3gRvbmZyBI3pYzAtnRyt3bgX/XoARsYKrS4uhh9wyFDN/B3iJq5sWD0nw4VGo3MAyQgAQkUS0DDXhPg+eeb15vdIgEJSEACCxLIGJhxqX74b89Cy2Yiy6Xk0ymb0MIY6hehP6cV/kWDHHmoUEs0Q9+gPzyfPK3hK623jKJaogqE9y2Rj3lIQAISeEDAryWwC4HP46WQk93ugt5CJSCBoxCI62wGn7CvOfDpL99tLbJkfNu9xTCeLcq4NPjM/9bs9FmGDP1tJsOhh28ZRTXUpr79Volw6ivM7RIomoDGSUACNRL4Mh78ibqtsW7WSQISkEBpBLK+vH1+Gb+1yJIR2BYRBYcdKtSe0c3DC6G47aZS16uLH01k0/NJWiqIK7syntdX5h/nozWVgAQkIIHRBL6PZ5TvRx/lARKQgAQkMJVA1iFD+0SyxE0KJzrbm4BVnerGoc4QybJFpMmakTJTT/Lb4/hp77WHkGXoD9dclugb1/n5WQISkIAEJFACASI1/TWhElpCGyQggSMRyPoC9z/aRto6koVys0Hjp3vXFFqyONRbCCCFDiej275Ia7fZFtFTLyo0448/QjzNJpzOqK6HSkACEpDAQQhwb/v0IHW1mhKQgARKIsD1tyR7htry/CJ+D5EliyN9DXNNkWXeUKFrK9f7/Hs40kQhrVdC5BxlIMBlmFRu7TZbs78F6UWXLcS3RQ02MwlIQAISkMADAjzgfxrPJRmeSR5Uxa8lIAEJ5CLQXHtTX39XFVm6mjOgZXGkr81fM7Jg7aiI63pM/bylI71lWVN5fNIM85p6fO9xkS9zsTyroL07lvNFRtG0HHpaIgEJSEACpRHgOVWBpbRW0R4JSCAFgQWNROxeMLtNsnr24TYXWZrqZXCkG1Mvq1Wc6nCoMwgsANhyzo0sTvtabZcpioW+wcMoa5MEJCABCUggOwEmuVVgyd6K2i+BbgJuzUVg9VEUK+DYXWTJOGPwGs7v2sNOlug7DBXaTEk8n88IcBnCw9ZquzWjppboD9d5/BztlaGtrm32swQkIAEJSKCLAD/T7CS3XWTctgEBi5CABG4I/O/N36n+NJJleHOt4fyuFQ0xvFaP90T0eLzXsnvsUebYGqwhumHDWvmS99IpS9TR0vU2PwlIQAISqIcAb0s/jpcG/kxzX5u6XQISkIAERhHYRWSJGxlvvzeLjhhFpH/nRZ3fZqjQB/3FFfPNlkOF2kpncN751alFRbLoE/SxDH2ibacMYlhrq2sJSEACEqiQwMwqfRvHI7BkeyYNs10kIAEJVE0AATxtBXcRWRpaGRzpxtTL6qNwgp/HWV22zPtvreEm86x6efSmQ4XaokOEw3lHiGs3lbpeug0RWUqt661d9I3UF7/bCvm3BCQggYUJmF25BLh/MffKV/HMkeF5o1ySWiYBCUhgHQJcp9fJeYNc9xRZcKQ3qOKiRSzpBC8aBbFoLf/MbM822rPsPwnc/7Rkf6CkpUUb8lwrZWiftepuvhKogIBVkMBhCXwTNSd6xYnbA4SLBCQgAQksT2A3kSXeHBCamU2hWmRelqenJwSWDMNC9hgq1PbyDJFOH0Zb8pPLrc2T15EP/WGRvCYbMe7ADO0zrkbuXQ4BLZGABCSwPAFElb/G8+fbSEavLM/XHCUgAQlIoCGwm8jSlM8Nr/mYYoU4soShGSIWGA6CELZEfUfnEQ9AREpkeAj62+jKdR+wdFRMdynLbP0j2ifbubtMzU+nkxlJQAISkEAqAtyvGBpEyvZyLxVojZWABCQggfcE9hZZsr0NZ7LTJaINlhJr3rfiOv/zULJOzsNzRWgZvvc+ey4ljiwRJbUVgQztshULy5GABCQggTIJ8ByDsELic5lWapUEJCABCXQRWHIu1K78V922t8iS8aY3y6l+yjNUaGEBbFI//teko7Y9aKkJkTMIby3ZDO3S2upaAhKQgASOReD7qC5zriiuBAgXCUhAAkkJKLJMbbjz+cxwkP2FlnEVmBtxMPf4cdZO25vhICVEK5RgwxCCswSSEN64iJCGlFXCPlnapQRW2iABCUhAAusTYHjzV1HMX+LZ8stI/B1/ukhAAhKQgAQ6CKy8ae9IFqpXQsQEdgxNsxzqKGTu8ZHF6ksRTnQ8JCHCFWHLA+Jz59iZFR31wLalv/61aZel8zU/CUhAAhKQwBgCzK/ybRxA1ArpW+9PQcNFAhJIT8AKXAj8x+X/pP+VILJkcKJfNO/T09MkpziOYz6XDBELJQlfJdnyoh9c/fFJtC2/DnS1adTHDNFNbYX2/MWp1gbXEpCABCRwTAI8MxKxwq8Ekb4KYcWolWP2BWu9DwFLlcBWBDL4zL0sdhdZ4ubImwhSr5EFfjE1cmGpX6JZE0kpQ4XaOvJA1X4ueT0nQmnOsVszyTa8b2s+licBCUhAAssQ4NmQZwBEFeZXiUfG8+fn85mIFb5bphRzqYiAVZGABCoiQHBCtuowCuNi8+4iy8WK04mb6CnRv0mRLFG/DM50UW0RD1N01qJsinbsWiYJb09PT1xA5kTBdNmy1rbfoz18Y7gWXfOVgAQkcEwCiPdMVvtNVP/LSK2gQqRKK6qwT3yVeNF0CUhAAhIYRCD8I3wj0qD9C9rp2U8qRWTJ9msl/KLMqIaPzoIznSHsqcThOSXadHs+TxXeph53W/4Wf2cQu7bgYBkSkIAEqiKwc2V4NvrvEPHfRvo+koLKzg1i8RKQgAR2JoDfvLMJ84ovQmSJG2pG522sc+xQoel9NUP/+CCEtCmRSpMiYKajnHVkNjF0VmU9WAISKIKARtRPAJHlh7iH/hSJz/XX2BpKQAISkMA9AmP97Ht5bfkdIzAu5RUhslwsyTdkaKxzPMUBb9BstipSzAgRjg5bpG03LTO2T3B4motItEOGNoCpSQIbEbAYCUhgQQLcD38LoeVdpFHRwgvaYFYSkIAEJLA/gUw/CnJN63/aP0oSWTIMCWm5seZhgPXDFA8LhDxleDtTcqRChv4xuE/QaaJfjNqfY3ZMCiw7wp9UtAdJQAISyEngTZj9S9wjM7ycClNdJCABCUhgYQKZfKTrqhMYcPm7JJEl2xjcD+MBYKhwkmGoEB2iZEe6ZNtgR6JPIKjxeUiaEvkyJN819llU5FrDQPOUgAQkUDABJsP7NOybmpgQlolhSdwPeWZ6fpiLfGtbeL5iCBHJqJbaWtf6SEACEughEP51ZoGde/2lZsWILOfzmZ/jezbsYl35/w1V2TJ0lh+jDYp9YGts26J/zO11Y9p6aP+Za9MSx/NAv0Q+5iEBCUjgiAT+iPvYzzMSE8IyMSyJX9zhF3j+EvmdAybCDSLMt/E5w30yzBy8cE9lCBHrwQe5owQkIAEJpCWQdagQwNEzWJ+KEVku1pxO2Ry5h5EIocbxNoZ0mv9v1RwyRCr8c1UCy2T+sE9QTPQL3syNiXrhsL3Sr/Eg/3zR2MsIy5WABCQggdcE4vqMeIMI81V8/jhSK7x8H3sX+/IkbBu6cL8kosW5WoYScz8JSEACeQlkFdV5mfLsLy0nsizTkBkc/euaDolEyNJRCD++rluJnzPY+FEIKENEtSz9gn6Q7bzEZpMEJCCBwxIIoQXhheiWvwaEryI9P/jF56wLc7XwC0RZXlBk5azdEpCABIYRWHiv8KHwrYf4UQuXvEh2LyJJixJZeCiIKmZ66/JBdIZHN/sM87EUPVQo+sRlif7BQ+KLDnz5orz/hggomULhMohb5fUCLZKABCSwM4G4b/Jm7dtYI7Ywn0umZ6wuejxzIbR80fWl2yQgAQm0BFynJJDBb+4D+8JHLUpkaSzO5tD1OtQhwKDE8UDQVK3YVaZIhQxDhoYIKCi1xXaIK8N+j4fzFxeNq+/8KAEJSEACSQjEtfxtmIrYku05K8x+sTB86Lt4xnr3Yqt/SCAPAS2VgARuCMQ1nWt7r199s3uJf/7r2qgSRZYXBl4bW+jnew51lo6S6YErg62fNReKzi4b3yG+kTq/L2xjtnmSCsOnORKQgATKIRBCC5Etn4dFpOxRLW/ifkpUCw/mUSWXZQiYiwQkIIFdCBChmPm/ire2AAAQAElEQVR6/uKldIkiSwYn+rrn3YtIyBDylGKoUAs8HhBrGDKURXwDe6YoJ+w1SUACEpDAAwJxL+VZ6+PY7cVDYfxd9vLaOp7BEFqyvLh4XQO3SEACEpAABP7Of0kTkf/4qM/mFyeyxI2fNyupbvrxJuWV0xzbuOFnGCqULXKIzpt9yNC96CfqV1IykqWk1tAWCUigWALZDIvnLR4IPw27EVxilXbhWeuXeO5inbYSGi4BCUjgqATi+k0UC75zVgSv/KXiRJaGbAYnujH1supyml8JL5c9y/sv48NVBpvvtT9v3srrCa8tShXl9Np8t0hAAg0BVxLoJBBCSzt86PvOHfJsJMSciBaFljxtpqUSkIAEWgJftx+Srl9F/pcqsrxSgwoH3uU0Zxgq9Gs8YPEmq3C8L81rbC492olfnnoltIRSywMgD4MvK1XmXxmjnMokqVV3CPiVBCSwN4G4r34ZNmR79gqTXyzcWxFaeCP64gv/kIAEJCCBMgmEb8Q1O3MUC2Bf3T+LFFniZo8Dncn5/yg6CDd3IJ/iMx0FZ/ryd8H/ZYsYukaZwfbMEU6wzhAxhJ3rJXOWgAQkcBwCTIbL81fmGvMsxi8Pdb38ylwvbZeABCRQHYHwmblmZ49i6Yz8L1JkaXrQK0Wo2V7q6jpq4fpzqfZiV2YnOkP/6OoHXcILbTE6rXxAyiinlZmYvQQkIIFqCcQLLubEY44W1tnr+UM8vGd42ZWds/ZLQAISmEPgTRxMcEKs0i6vhgpRk5JFlk6DMbrQdO08X38u1NzTmk70ae1/8TDI27bSo50+vH7Ii8+otVnermUQsdbuZuYvAQlI4FAE4t6KwFKD0ML9lqFD2R/eD9X/rKwEJHAcAuEXcX3OHsVCg3UGLZQssqzk5MFilXRxnqPDcGPvimBYpdAZmWYYbvOoep2d+tFBG39/3RcufWTj8qcWl03knFpPj5OABCQggSsCIbTwEoM5Wq62pvzI8xgRLaxTVkCjJSABCVRM4Lvt6rZaSZ1DhSitWJElbvK8TcngRMOR1EYtXDvVbC81ZWLbxzCDUPRfV8ZniHDCXH5tIpvIid0mCUhAAhJYgEA8g/GM8NUCWe2dBUOGftjbCMuXgAQk0EvggF88PT0xTCjTy+e+Vup9KV2syNLUJNuvm9BZrp3qphrFrVIPFWppxkMgb9tKHzLEpMiEw2E2/YN16YmH69Jt1D4JSEACEliRQNxjv43ss/+0c1Th9Ek80NfwxpS6mCSwKQELk8DSBOJ6jPj99dL57pAfL6V775GliyzZnD0ElgyRLBkiQIaeKxn6yGdxQUFo4aIytF577pdN3NyTlWVLQAISqJZACC0MG+KFRvY6fhH3Yd6cZq+H9v9JwE8SkEAyAnEdZvgmojfrZNa/MrdXYGHPokWWuLkTpUDC1gwpS6RCTUNBMghGDBPK0jc4zzIIV9hpkoAEJCCB9QnUMBEulN7FA/5GL8IoziQBCUhAAjcE3sXfWV46h6l3l3/c+7ZokaUxXIevAbHQ6vcQr2p4K3XB0dSldCGOhzqinC42F/7fz8GU+ZAKN1PzJCABCUhgEoGRBzX3BISWkUcWuft3IbTU8oBfJGCNkoAEJNBFIK69RBN+0fVdwm3fx73xrv+ZQWRx6MKyPa9G0SpDnRBalm3JdXLrncBpneLMVQISkMCfBPxUJoF4mOTlDEOHyjRwuFWEqCO0sB5+lHtKQAISkMBkAiGwIK4QxTI5j8IOfDiSoniRJW7sONC+WV+uZz3sFMsVtVlONdZpM3g3BXG+3WzyTwlI4HQ6CUEChyYQz2OMPydl50AkC3MCZK+H9ktAAhIonkAILFxzaxJYiPp/OPVG8SJL03MeVqTZz9V9AlUNFWqrGg9+vGG7G7LV7uv6LgH6hxzvIir1S+2SgAQksD6BuN8SzcI9d/3C1i2BCenfrluEuUtAAhI4NoFGYPkpKNQUPfhN1OfhkkVkcQjDw6YctEPNUQoKcYO6wN2d1ukfd4v0SwlIQAISSEaA+VlqiDD+OhyALEN5k3URzZWABI5OIK6vRLDUJrAMimKh7bOILDrQtNb8VPOwmklC3HykVeXg/EdVNaeVkYAEJLA8gfP5jMDy+fI575Ij87N8uEvJFioBCUigUgIhsCBg1yaw0FqDoljYMYXIEjd0hjDUEJ4K86Fp6f0YClItw+gjRGHw4Lc0t6Pk90fD8Cj1tZ4SkIAEJDCRQNwvePk1+GFzYjFbHEYI+w9bFGQZEpCABI5AIAQWJrnlusr1taYq84tC3PsG1WmiyDIo76V3GlyppQuuJD9EiEqq0luNI9Sxt/Izv/D8mgnQwyUgAQkciUAILcxpUsO946NwCmqalPFI3dC6SkACmxF4XFBzLa11YvFRLxYyiSw1D3V53Gvn73GE4TRHqOP8ntCdg+y6ubhVAhKQgAT6CTBsqIYo0jfhHBDe3l9Tv5GABMoloGW7Eojr5weRGB70ZldD1iv8m3ixwMiawSWkEVmiYgx1qeFGPrhxFtyRoSA1vG26iyT6CJEs9pG7lHq/hF3vl34hAQlIQAISuCUQ913uuQgtt19l/Nv5WTK2WgKbNVECNRMIcQWB+reo4yeRalwQV74dW7E0IktTMR3BBsTI1ZG4HamuI7tB7+6/Ng/KvTv4hQQkIAEJSKCLQNw/eIkzKoy6K58CtjF/APMIFGDKZiZYkAQkIIFJBEJcIXqFayaJ6+ekfBIc9GXc53ihMMrUbCKLv34yqnmfdz7SUJAj1fW5gWd+kNlMgB4uAQlI4MgE4gGU+VmIOF4Qwy5ZMT8LddmlcAuVgAQkkIFACCxMbkv0ClEsGUyeauOoyW6vC8kmshilcN16wz4zVOgw3OJBj7qOVhuHoax2L5hVWzkrJgEJSGBxAmbYRYBhQzXcf78OB6LWsPeudnObBCQggUEEuDZGYu4VJretOXoFHgwT+ooPU1IqkSUcaG7eNbwpmdJWU485ogN9xDpP7R9V/7T3VCgeJ4HMBLRdAnsQiGc0Hki/3KPsFcpkfpbaHYgVsJmlBCRQI4EQVj6MhLCCwHIUEXrSMKG2/VOJLI3R/spQA2Lg6ohDQY5Y54Hd4dVujKV/tdENEliJgNlKQAIVEwihhZccpOy1/DAq8C6SiwQkIIHDEghhpRVXGBrEEKGjsPg27mezfKSMIsusCh+lZzT1PNRQoabOpzgpanjAa6uz9lpB6pmwHyQgAQlIYAECRLMQ1bJAVrtm8UU4GLXPN7ArYAuXgATKJBDXvk8iEbVyNHGFBuEHQSYPEyIDUjqRJRxohgvVcPOG/9rpyGJDXXVfqafE+SSnldiarQQkIIEjEoj7CkO7EVpqqL7DhmpoResgAQk8JBCiClErb2KNsILAcpRhQddsuH8xv9j1tkmf04ksTS2NZmlAPFhtEqXwwIa9vj5y3YcyV2AZSsr9JCABCUhgMIEQWnhO+3bwAeXuyLwszENQroVaJgEJSGAigRBU+Blmovb4GWbEFYZJMlxyYo7pD2MelkWCObKKLEMd6PQtPacC8ZBzZCf6yHUf2m08j4aScj8JSEACEhhL4Js4YJGH1chnz+WzcEQcNrRnC1i2BCSwGIG4nhGx0gor/46MEZJrusZFlSYtXy3pO2cVWXhDMonegQ46tMgQJwnhXodmMKCvex4NgOQuEpCABCQwnkBzH14k7Hp86Ysf8S4cE6JaFs/YDCUggSMR2L6uXLsiIRZzHfslLCBiRWElQFwt38c9a9Hoy5QiS0DQgb7qFT0fjVI4nWTQ0zliM5M61fCGMariIgEJSEACJRKI5zXm0Zs9gWABdSN8/usC7NAECaxHwJyrIBCCCpPWMrcKc0ohqhCtwnCgN1HBjyK5vCSAT7T4PGIpRZaGy7+atatuAkZxnE4yOPX+M4qlF41fSEACEpDAUgRCaOHtYA33HJyWI04EuVRXmJWPB0tgbQIhTvwU6W2TECpICKxrFz06/7CRIT/Yx7AfbMb232L7U2TGpLXMrfJFfFZUCQh3Fl4EfHrn+8lfZRZZdKD7m/3HeKgh2qd/jwN80zCwn3S39T+7N7tVAhKQgAQksDgBhg3V8FyC43ILx78HEMD5M+1KQIHwcT+FERFrJIQK0kW4aFoOIaNNDL1B3GgTgsdtGiRwRN6tYHJ9PMN72rxZt+Ve7ImqMOQH+xj2g73YXqQgFLaWuhDR/2njLy5uY1qRJYAAhrQ4lAoydJjMn40oiz9ZtJ/+iPMH5bb927UEJCABCVRJoIxKxT0HgWXxcOwdavdROERvdyjXIiUggf0JIGS0iaE3iBttQvC4Tb/E9eLhEtVqBZPr4xne0+bNui1XISWALbBwT/q8uTctkN3rLNKKLE1VjFJoQNys5PInEFn8yaL9JJOWhGsJSGA/ApZ8KALxMMu9h6FD2ev9dXhNg95QZ6+o9ktAAhKokAACCxEsq75wzi6yOC/L657vUKErJvFQx4nEg93V1sN/NLrn8F1AAI8I+L0EJLAKgW8i11UfbCP/LZYfQmjx14a2IG0ZEpCABJYjgF+4usCCualFlnCgcZ6BRV1M7wnoQL/ncP2/Ytw1jdOphgkITwf+Z9UlIAEJpCQQz208s9UwbIiQfUL4U7aDRktAAhI4IAHuP5sILLBNLbJQgUg6jAHhakF4uvrTj0FAJgGhWX5uHnKbP5demZ8EJCABCUign0Dcg4hk+ap/jzTf+GtDaZpKQyUggYMT4L7zcXP/2QRFDSKLkRt/dhUd6D9ZPH+KE4oJkn89PW859AfPl0M3v5WXgAQksD+BuC8zN0sNL8m+c9jQ/v1JCyQgAQncIYDAQgQL/uCd3Zb9qgaRpYab9GmhZtWB7gf5z/6vDvWNUT2Ham4rKwEJSKBYAp+HZYRvxyrt4rChtE2n4RKQwAEI4PcgsGx+rxkishTNP96GoEqhUBVt50bG0ZE2KipdMbI5nX5vzpeT/yQgAQlIQAJ7Eoj7EQ+9NczP4rChPTuSZUtAAmsQqCHPb+M+83kk7jWb1ye9yNIQM5rldPo1OhGC08l/rwk0bI4uxik0ve4abpGABCQggZ0IxL2Z+xJDh3ayYLFiHTa0GEozksAjAn4vgYcEvoz7y65zf9UisjgU5HSSwcPz7fCMHE72uI+4hwQkIAEJbEughp91dtjQtn2m3NK0TAIS2JMAAQdMcPv9nkZQdhUiSyhVRCjsEgoExEISb4MKMaVYM47M6I84T4z4KrZrapgEJCCBYxKIexPPbw4b2qD5LUICEpBAxQTwcxBY0AV2r2YVIktD8cgOtEOFmk5wbxUPcqibRZx49+xc6TsuPCtlbbYSkIAEJCCB6QTO5zP35l1Du6db/+JIhw29wOEfEpCABDYh8E34ebtMcNtXu5pEln/1VfIA2x0qNLyRj8rKoULD+4h7SkACErgi4MctCMQDMnOzZH9h5rChLTqLZUhAAhJ4T4AX6ESvvH3/Zzn/1ySyuqhONwAAEABJREFUZL8xz+kVR677WG5HZXXUeo/tH+4vgVwEtFYCdRFg2BDDhzLXyl8bytx62i4BCWQhgDCPwEIkZHE2VyOyxBsQbspHHBLhUKERp1X0ExTPIk/GEdUYuyt9hPNj7HHuL4FZBDxYAhKQwBgCcY/mXvX5mGMK3ddhQ4U2jGZJQALpCeDLMTToq+aeUWSFqhFZGrpHHBJxRGGpae7Jq6MxO+oQqXsdxO8kIAEJSKBAAvHQzD2aN5QFWjfYJIcNDUbljhKQgAQGE+DX6Ihe4T4x+KA9dqxNZCke+AqNrAM9HmrhzMZX6MERRzwvHiDxawlIQAISKJVACC1Mgps96tRhQ6V2MO2SgASyEcCXQVx5G/cHIh6Lt78qkSWgc0MmhKh48AsZ+HtT54WyG5BNBbs0zI7ST+wjFfRZqyABCUjggARqmJ/FYUMH7LhWWQISWIwA/tqX4bsxPAg/f7GM186oKpGlgYXS1XysfuVkptOb+CjsjlLP6T3BIyUgAQlIoDgC8VDNAzWh4cXZNsIghw2NgOWuEpCABBoCRKtw/Sd65ftmW+eq1I01iixHmpflaMNeljyPjsLuX0tCMy8JSEACEpDAVgRCaGFuluwvCxw2tFWHsRwJlEVAa6YRQFT5a1z/0wwN6qpmdSJLNEj2m3FXO3VtcxhIF5WB26Kf8IaMELSBR+TcLep5lPMhZwNptQQkIAEJPCLgsKFHhPxeAqMJeIAEiiPQiisMDyKSpTgDxxhUncjSVP4IjuUR6tg052qr2hnWXr/VOoYZS0ACEpBAGQTiZQEP29l/1tlhQ2O6k/tKQAJHIcD1/VpcqeYFeK0iyxGGSBxluMuaF5naGR5p6Nya/cS8JSABCUhgRwIhtDDfHkOHdrTifdEz/nfY0Ax4HioBCVRFAHGFOVcYFkTkSjXiSttKtYostb/Bd6hQ24NnrOOhrfYhQzyUziDkoRKQgAQkkIhA1abGPfurqCD37VilXfy1obRNp+ESkMACBLiGI6r8Ja7pqedcecSiSpElGg01jPSo/lm/r11E2rJdamX5a3MebMnSsiQgAQn0EHCzBBYhkH1+FocNLdINzEQCEkhEgKgVhgTxS0EkPicyf5qpVYosDYpanWeqd4ThUNRzi1TrkCGHCm3ReyyjDgLWQgISSEEgXh7wFpQQ8xT29hjpsKEeMG6WgASqIsD1GmG8HRLE31VV8F5lahZZanUy/4iHjJoFpHv9dfHvgiUnPArr4nnvnKF9ZOcGWKp485GABCQggT8JxH2buVmy3+McNvRnk/pJAhKohwB+FUM7EVYuUStxza7Rz3rYYtWKLNGgzEdRY6Nmf7B42Cl32KE2pghxXOTWRmn+EpCABCQggT0I8HY08zOew4b26DWWKQEJrEEAn+NaWPk2/PCap+0YxLBakaWpPUJL87GaVa0ROgs30KjsamNam2g0qjHdWQISkIAE6iYQD/AILJ8nr6XDhpI3oOZL4KAEEFCYVwWxmwlsiVhRWLnpDLWLLGU6zzeNMOJPIhR0oEcAG7JrPKzBlAe2Ibtn2Ke2fp+BuTZKQAISkMCGBOLezYu07POzOGxowz5jURKQwCQCiCr4SkSrIKgwFIhfCPo+rsM1+U+T4PQd9Epk6dsx6XZuwElN7zSbDt75hRtnE6iJbW39fnbjmoEEJCABCdRHIB7w30atCFWPVcrFYUMpm02jJVAXgavaIJrgRzD3FdGCCCqkz+N6S7RK5uvtVTXX/1i1yBKdAeWtps5ghMJ650QtbH+Mfs8Fcj1S5iwBCUhAAhIohwCOQOb7nsOGyulLWlIeAS1ahwDXTMQUhv0QEfhpFIOYwvCfT8OX+CoSPgW+dHzlMpZA1SJLA6MW59mhQk2DrrHiQhL5csGJVerlX6mt13gJSEACEpDACAJx/8YJIIx9xFHF7eqwoeKaZIhB7iOBYgkgoJBaEYVrJEIKAkpcNs+tmMKwn7fn8/nnSFxLi61QNsOOILLUMgyklnqUfI7UwLiGOpTcR7RNAhKQgAQKIxDOAY5E5vsfw4a+WxSrmUlAArURQDRpE9EnpGfxJCpLJEpcDi8LYgrpy/gLEYWhPggpHB+7uqxNoHqRJTrWr5FqWJjBee3+cOj8o5NwIYpV6kUV+tC92MpLQAISKJ/AShbynJT5HvjZ09PTZyuxMVsJSGB/AkxhgcjRJoRhhJI2XQsmRJ1ciyY4J4gmbUI4IT2LJ7FD5uvf/q2zsAXViywL8zI7CUhAAhKQgATKI8DDZfugOme91rH/LA9ZXRaFg8GQX+ZnWasNt8j3g6GtEvXFwYqViwQGEcCxH9q9jrgffPoSkXJ95z/XHASRF6mnRfhlnlYkYc1kspzHbboWTIg64b52xLaoos6KLFU0o5WQgAQkIIH6CVjDPgLxQPt7pPZBtcQ1D+l95rt9IQLRB4heLrH9h9pkP1moL5hNOgIIClNEDsSPTqEjCLTCx21ESFwqXi2IHn2JSPe+c5jJYRFEXqQo2+XgBBRZDt4BrL4EJCCBRQiYiQQkIAEJSEACEjidEExuh760ggcTrr5SOGIDQsgUkQPxo1PoiDxb4QN7Tv6TwJYEFFm2pG1ZEpDALgQsVAISkIAEJCABCUhgfQIhbhBZeDv0pRU8GNa3vhGWIIGdCSiy7NwAFn94AgKQgAQkIAEJSEACEpCABCQggUoIKLJU0pDrVMNcJSABCUhAAhKQgAQkIAEJSEACEhhKIK/IMrSG7icBCUhAAhKQgAQkIAEJSEACEpBAXgKJLFdkSdRYmioBCUhAAhKQgAQkIAEJSEACZRHQGglcE1BkuabhZwlIQAISkIAEJCABCUhAAvUQsCYSkMDGBBRZNgZucRKQgAQkIAEJSEACEpAABEwSkIAE6iOgyFJfm1ojCUhAAhKQgAQkIIG5BDxeAhKQgAQkMIGAIssEaB4iAQlIQAISkIAE9iRg2RKQgAQkIAEJlElAkaXMdtEqCUhAAhKQQFYC2i0BCUhAAhKQgAQOS0CR5bBNb8UlIAEJHJGAdZaABCQgAQlIQAISkMB6BBRZ1mNrzhKQgATGEXBvCUhAAhKQgAQkIAEJSCA1AUWW1M2n8RLYjoAlSUACEpCABCQgAQlIQAISkMB9Aoos9/n4bQ4CWikBCUhAAhKQgAQkIAEJSEACEtidgCLL6k1gARKQgAQkIAEJSEACEpCABCQgAQnUT+B0UmQ5QitbRwlIQAISkIAEJCABCUhAAhI4NgFrvwkBRZZNMFuIBCQgAQlIQAISkIAEJCABCfQRcLsEaiGgyFJLS1oPCUhAAhKQgAQkIAEJSGANAuYpAQlIYDABRZbBqNxRAhKQgAQkIAEJSEACpRHQHglIQAISKImAIktJraEtEpCABCQgAQlIoCYC1kUCEpCABCRwMAKKLAdrcKsrAQlIQAISkMB7Av4vAQlIQAISkIAEliagyLI0UfOTgAQkIAEJzCdgDhKQgAQkIAEJSEACCQkosiRsNE2WgAQksC8BS5eABCQgAQlIQAISkIAEuggosnRRcZsEJJCXgJZLQAISkEB6Ak9PTx9G+uQqvYnPb2emz+L4Ns+P0kOyAhKQgAQkUCQBRZYim0WjaiVgvSQgAQlIQAJHJxBCRyugtMLJd7Htp0i/RLoswei3SD9dpXfx+euZ6Yc4vs3zuawo8LdIlI8dCDlfxN+IMR/E/i4SkIAEJCCBUQQUWUbhqnpnKycBCUhAAhKQgAQWIxBCBWIK0SMIFz/E3xdhIwpoBZRWOPkitn0Saa/okg+jbMrHDoSc7+JvxJh/h80srQCDKKT4EnBchhOIDvRRJPrNvcQ58ighAtIXt0zvwvYuu27roiA5vEu45wEIJBFZym+JuAB9EOn2guPfT08y+JOBN6DyT2UtlIAEJCCBCQTiGYjnoFZQwQn8d2SDmEL0CMLFZ/H3XiJKFD1raQUYRKFWfCH6BacX4SVrvWZByX5w9FkiluirU1IrwEU295fg9Esk+s29xDnyKCEC0he3TG/C9i67butyzYNzo2XaijScJxefIPJzkcAAArl3UWRZrv24wd5ecPz7dJLBnwzoI8v1OHOSgAQkIAEJ7EQg3EqiVHBSERoQUxBVWkEFJ7D2FwtEv+D0IrxcInSCCY4lb/293+/UL0cWSxvSV6ek2vv3SJQvdr/m2oo0nCcXnyDOk3bhvGnPmVaE4dgXmRX5h0ZJ4AEBRZYHgPxaAhKQgAQkIAEJSOB0Cs+ISBXeTCOqkBhWg9CgY/S+g+Csfx0fcR55s88QKYQo+QQUl20IJCoFMbI9Z1oRhiiYuNQ8Ib4g4CJaEgGjqJWoYTX1dFJksRdIQAISkIAEJCABCbwi8PT+F34QCRALnmIHIlV4M61oEDAeLDiFDJFCiMJxRHjhbf2R2T1A5tcSeCaA+IKAi2hJBAyiJQnxReHlGZMfSiWgyFJqy2iXBCQgAQlIQAIS2JhAI6wgBjCPRButgliwsSVbF7d6eby15209ggsJxgouq2O3gIoIIFwivlwLL5xLRLwgBns+VdTY2auiyJK9BbVfAhKQgAQkIIG6CaxcuxBWmLQWJ4VIFYQVxABEgZVLPmz2OIMwxkFsI1xwIA8LxIpLYCIBziUiXtqIMc4pRZeJMD1sOQKKLMuxNCcJSEACEpDA4QhY4bwEQlz5KNLFOYlasDZiJUBsvCBmIbgwFALnkDf1G5tgcRKohsCt6IKIyTxSnGfVVNKKlE9AkaX8NtJCCUhAAhKYRsCjJCCBGwIhqrRRKwwHIvEW2CiKG047/UlbMOcEb+MZTmS77NQQFlsNAcQV5pFCbGmFTMXkapq33IoospTbNlomAQlUTcDKSUACEtiOQIgrH0Z6GyUyHIioFZyP+NOlQAK8jSe6BbGF6Bb+LtBMTZJAKgKIlgiZTOSt4JKq6fIZq8iSr820WALrE7AECUhAAhKogkAIK4griCqIK0wYiaNRRd0OUAnaCqewFVscSnSARreKmxBoz61rwUXheRP0xyhEkeUY7VxVLa2MBCQgAQlIQAL3CYS48kmkVlzBUb9/gN+WToA2ZCgRSbGl9NbSvkwEWsGFIUUImg7Vy9R6hdqqyLJsw5ibBCQgAQlIQAIS2I1ACCtt5MpPYQSOeaxcKiKAwILQQuJzRVWzKhLYnQBD8xiq1w4nMrpl9yYp3oBOAxVZOrG4UQISkIAEJCABCeQhcCWuMCxIcSVP0021FIEFoYXhDjiGU/PxOAlIoJsA11GiWzjPkk6W210xt65PQJFlfcaWIAEJSEACEpCABFYhEOIKvxbUTmiLU7BKOWZaLAGcP4Y4MEEuwx6KNVTDJPCCQJ4/EDQRMznPvMbmabddLVVk2RW/hUtAAhKQgAQkIIFpBEJg4YGfyBUmtJ2WiUfVQuDSF6JPILjVUqfd6mHBEuggQMQYYqZiSwccN70koMjykod/SUACEpCABCQggaIJhCP9USTmXGFiW6MXim6txaktSUEAABAASURBVI27lyF94evoGziBvH2/t6/fSUAC0wgotkzjdqijFFkO1dxWVgISkIAEJCCBzATCgSZS4ZeoQ4FOdFjlUgIBnEDmkeCtO8JLCTZpgwRqI8B5xjnGvC1ej2tr3Zn1UWSZCdDDJSABCUhAAhJIQCC5iSGufBLJoUHJ23Fj89shRMzbsnHRFieBwxDgF4gQNUkIL4epuBXtJ6DI0s/GbyQgAQlIQAKbELAQCdwjEOIK0SsMD/IB/h4ov+siQCQLk3aS+Ny1j9skIIH5BIhmYaje27hme67N55k6B0WW1M2n8RKQgARWJ2ABEpDATgTiQZ25Vxga5MS2O7VBRcUSzYIDyLqialkVCRRHgOu1Q4iKa5ZtDVJk2Za3pUlAAosSMDMJSEACdRIIgYWhHkSvEIpeZyWt1dYEeLtORMu7rQu2PAkcjABRhwwf4nzjvDtY9a2uIot9QAJrETBfCUhAAhKQwEgCIa58EIlfDSL5cD6Sn7sPIvAm+hhv2hXwBuFyJwlMJkDkmBFkk/HlPVCRJW/bzbLcgyUgAQlIQAISKItAOL44vUSvEMVSlnFaUxuBS1+LPocTWFvdrI8ESiKAWE5Ey7s43/hckm3ashKBEkWWlapqthKQgAQkIAEJSKBMAvHwzaSJCCw4v2UaqVW1EcDhuzh/tVXM+kigQAJvwiaGEHmNDxA3S3V/KrJU16RWSAISkIAEJCCBTARCYCFyBYEFpzeT6dpaBwGGDyG22P/qaE9rsSiBRTNDYEFo4Zq/aMZmVhYBRZay2kNrJCABCUhAAhI4EIEQWJh7hXSgWlvVAgkwbAjnjwk7CzRPkzoJuDEjAcTM75prf0b7tXkAAUWWAZDcRQISkIAEJCABCSxJIB6w2wlufaO5JFjzmkOAt+yLTYg7xxCPlcABCHwR9wHON0SXA1T3WFVUZDlWe1tbCUhAAhKQgAR2JhAP1jxUMzxIgWWftrDUfgKXvhl9lMiW/r38RgISWIIAwia/PsR6ifzMoxACiiyFNIRmSEACEpCABCRQP4FwXi9ObNS056E6vnGRwL4E6KPM0aIIuG87WPoxCHC+MVSPyc+PUeMD1FKR5QCNbBUlIAEJSEACixAwk1kEFFhm4fPg7Qkwb4RCy/bcLfF4BFqhxfOtkrZXZKmkIa2GBCQggaMTsP4SKJmAAkvJraNtdwgotNyB41cSWJiA59vCQPfKTpFlL/KWKwEJHImAdZWABA5MQIHlwI1fR9V1/OpoR2uRg4DnW452umulIstdPH4pgSMQsI4SkIAEJLAWAQWWtcia78YEdPw2Bm5xhybg+Za8+RVZkjdg9eZbQQlIQAISkEBuAt+F+U5yGxBc0hPQ8UvfhFYgEQHPt0SNdWuqIsstkRF/V7Trz2f/bUHg54r6jFWRgAQkIIEHBJ6enhBY/CncB5z8OhUBHD9/BaXsJvs9zOOZ8zb9GNu/mZi+j+Nu8/sjtrmsS4Dzzclw12U8KvehOyuyDCXlfhKQgAQkIAEJSGAggRBY3sSuPhwHBJfqCPDzzkZn7desn0bRbfq44y3hX2Pbpx3p89j2dmL6Mo67zfMvse2yhD1/jdTa1Ao5rSgTX7nMIIDQMkSsn1GEhy5NQJFlaaLmJwEJSEACEpDAoQmEwMID8btDQ7DyNRNof272w5orWWrdQtUgAr1Nv5ZgZ9j0e6TWplbIaUWZ8+l0akUYBBiiYoqwuwR2A21AaFHYHAirhN0UWUpoBW2QgAQkIAEJSKAKAiGw8CDMMKEq6mMlJNBDAKGFiBbWPbsk2ayZqxMIAaYVYRBgiIq5ROBEwUS/ILwQ9RJ/uvQQ4Dz7Ke4vrHt2cXNJBBRZSmoNbZGABCQgAQlIIC2B5gEYgcUH4Xmt2M4p8W1kgwP2eaxxxkjPQxTCcetdYv/2zTnHfBV/kw9zUqR6gx52l7woKJbcOglsixOY6BeEF6JezmEy5yvnvedpwLhZuK8otNxAKfVPRZZSW0a7JCABCUhAAhLIRgCBBcczm91T7F3qGJwphg8ghFwcrXC82jklvorPOGA/xhpnjDRoss3Yv31zzjHfxt/kw5wU7Rv0j6MCiDc4dL5FDxgTl89CXHw78VgPk8ALAnGecr5y3nN+IpRyXeAa8WK/A//B/cWhqAk6gCJLgkbSRAlIQAISkIAExhDYft9wNJnolrlYti88V4lEqSBsIHAQlYLowfABhJDNxI5w5n6NhHiDQ3cRdwIjb9GJeNGpCxgjlq+j//uLQyOAuetjAnF+IpRyXWgFF64bXD8eH1z3Hl/E+cb9pu5aJq+dIkvyBtR8CUhAAhJIRkBzqyMQD7y8Xfy6uootVyFEC95IE6FCQthA4BgUlbKcGfdzCqeOt+hEvODU/SX2/jISQ4xi5fKAgPOzPADk19MJxLmJ4MJ1g+gWBNrNBNnpVq965LvmvrNqIWY+nYAiy3R2HikBCUigOgJWSAISmESAYUKMl590cKUH8caZqBBEFaJVeCPNthTVDafuj0jfR8KhawWXozt299qO/v/DvR38TgJLEIhzEoGWqDMEF4YaLpFtxjwUNgtuNUWWghtH0yQggRcE/EMCEpBAcQTibSLzURDJUpxtOxlE5AdznyCuEBWSRljp4xVOXSu4tI4dwxaKisLps33j7Z/E+eAwho2hH7W4OC+JbiHa7Khiy4fR9kZQBoQSF0WWEltFmxIS0GQJSEACEjgagXAoEVd8yH3f8LxRRlhBYEFoeb+1sv8bx45hC210S3oRaeEmchjDwkDN7j6B5pxsxZZqrz09FN7Efcj5kHrg7LlZkWVP+luVbTkSkIAEJCABCaxBgGFCa+SbKc9WXGHy2kMJDuHcMZyIt+g4eIeq+4MO6nnxAJBfL08gzkciWxjeR8QZ80AtX0iZOX4XQgvD9cq07qBW7S6yHJS71ZaABCQgAQlIIDGBeKhlWASRLIlrMct03hgTuXI4ceWWWjh3ii0voXzUnB8vt/qXBDYgEOcjE1gzeTVzQh1hWF+6YUMbdIPdi1Bk2b0JNEACEpCABCQggUwEwoHkreFRhwkRscFPHjMsiM+Zmm5VW8O5a8UWfknpCM7dPZ78rDPO3719/E4CqxGI85H5shBbxkxYvZo9K2fMsKEji/4r4x2fvSLLeGYeIQEJSEACEpDAsQm8i+ojtMTqUMs34bgQvXIEp2VywwYjJsZlGBFDqSbnk/xAzg/Ok+TVKMl8bRlLIM5FhhAxfAjhc+zh2fb3fCuoxRRZCmoMTZGABCQgAQlIoGwCT09PvJ3/omwrF7eO+Q34GWbeDC+eeY0ZhnPHLxIxVwsOXv0RP92N+FmcL07K2c3GrRsSiPMR4ZOolprPRX7d62j3pg170biiFFnG8XJvCUhAAhKQgASOTeBok3p+Gw4KAgtCS8qW39PoYEfUD84dTt6epuxV9tHOl704W+4DAnEucg3jXGQ+qQd7p/36qMNYi2swRZbimkSDJCABCUhAAhIokUDzVn7JN/MlVrO1iTlFmHflCGH2bZ1XWYdzR1QLHPnlE7iuUk6hmX4Y541v1wttnKOZ1ZyLnIe1ip6cb0YcFtCxFVkKaARNkIAEJCABCZRHQIs6CBzlLSEh9UxuW/Mb347mXXdTOHjw5E06b9TXLays3N+F0MIcLWVZpTWHJRDnIqInw/lqZPB3z7f9m1WRZf820AIJSEACEhhLwP0lsDGBeGglgoW0ccmbF4cA4PCglbCHc3cRsCL7I02Ki8DyJursIoFiCMS5yDlIVEtt0WWebwX0MkWWAhpBEyQggboIWBsJSKBKAkeIYiHSggiW2pyOojpkOHcMH+It+jdFGbauMb5dX5evuU8gEOfi5ZoXh9Z2zft71MllRwKKLDvCt2gJ7EDAIiUgAQlIYCSBp/e/KFR7FMv34XAwB0ttzsbI1t5u9+DN3AmILdsVul9Jvl3fj70l3yEQ5yHRe/wKWE3Xvg/ivuVcSHfafe2vFFnWJmz+Iwi4qwQkIAEJSKBIArVHsSCwHMXZL6qDhYPHkIWjsPftelG9T2NaAnEe1ii01H7fapuvyLUiy9BmcT8JSEACEpCABA5HIN4G8ga+5jeCOBdMAnm4ti2lwuHgHUVo8e16KZ1OO14RiPOQayFztLz6LukGfmnos6S2l2H2DCsUWWbA81AJSEACEpCABKonULvA4hwsBXThcPCOIrT4dr2A/qYJ3QTiPPw5vkkRWRZ2Dln+NmQn91megCLL8kzNUQISkIAEJCCBegjUOsSB+Qecg6WgfhoO3hGEFt6u1z6/UUG9ahdTUhfanIffpq7En8Z/9vR+TrE/t/hpEwKKLJtgthAJSEACEpCABLIRiIdTnMEPs9k90F4EFn5OeODu7rYFgcocvD5kO75d7zPJ7RL4k0CchwyhJKrlz415P9UcjVlsqyiyFNs0GiYBCUhAAhKQwM4EanUGvwknohYHYucusmDxTVbRNjh4PzZ/1rj6IgRM5jqqsW7WqR4CzM9CxF/2GtV6Hyu6XRRZim4ejZOABCQgAQlIYEcCNU4a+Gs48fx08Cis7rw5AeaFYCLOzQveqEDfrm8E2mKmEYjrJAIL5+G0DMo5iiF6H5VjzjEsUWQ5RjtbSwlIQAISkECtBFapV7xpR2Cp7W07TgNvZ1dhZqbLEajIweuD4tv1PjJuL4ZAnIdElJGKsWmiIZ5vE8FNPUyRZSo5j5OABCQgAQk8JOAOiQn8V2Lb+0z/RzgNzsPSR6ew7dFWRLIwdKgwyxYx56MQMmud72gRQGZSDAGiWRCoizFogiG8NJhwmIdMJaDIMpWcx0lAAhLITkD7JSCBewRqeyj9PZx2hwnda/ECv4s241dOap0/p7ZzrMAepElzCcQ5iMCSXex0yNDcjjDyeEWWkcDcXQIS2IaApUhAAhLYi0C8YWf8em1DhXgbuxdSy51HgLbD0ZuXS3lHO4ShvDbRog4CIbR8H5uJLItV2oVfy0trfDbDFVmytZj2lkBAGyQgAQlIoG4Ctb1h/zmchFqjIeruiVG7aDuGeP0jPta2OGSothatuz7Zo1lqHAJbbI9TZCm2aaYa5nESkIAEJCABCcwk8P9mHl/a4d+UZpD2jCMQQgtDvRBbxh1Y/t6+XS+/jbQwCMQ5iFBNir9SLp5rGzbbtiLLhhWzKAlIQAISkIAEJDCRQE0Po0axTOwEBR5Wo1jm2/UCO5om9RJIfQ4+PT1tf2/rRVn3F4osdbevtZOABCQgAQlIYASBCh9CUzsFI5qu+l3jTTrzQtQWzaLTV33PLbeCYy2Lc5BIFtLYQ0vZ3/Nto5ZQZNkItMVIQAISkIAEJJCCQE0PofyiUGaHIEWH2djI2kSzD0LYZKLpjTEWX5wGlksg8/xItQ2FLbaXKLIU2zQaJgEJSEACEpDADgRqegjN7Azs0PTlFxlv0guIZlmckyLL4kjNcC0CcQ7+GHlnjSjzXIvG22JRZNmCsmVIQAISkIAEJJD9VAEkAAAQAElEQVSFQE0PoTjkWbgvY+cxcqlNPKtJ2DxGD7SW/0yKgMixD5PanspsRZZUzbWasZ88+W80gdVaw4wlIAEJSGAXAnEj+CAKJsVq+WXjHH+MN65/bFymxW1DoDbxrCZhc5seYCl7E8h8Dnq+bdB7FFk2gGwREpCABCQggcIJaN57AjU9fP73+yr5f20EGvEss5N32yQ1nXe3dfPvCgnEOchwoV+TVs3zbYOGU2TZALJFSEACEpDAHAIeK4HNCNT08Mm8AZuBs6DNCVQloj09PdV07m3eGSxwFwJZhwz95y60DlaoIsvBGtzqSkACCxMwOwlIoCYC/1FJZX6NN60OFaqkMbuqEe2LiFZTGztPRFdDu61kApyDJdvXZ1stQ2L76lfEdkWWIppBIySwDgFzlYAEJCCBUQRqeZteVZTDqBY81s5ZnbyuVqrl3Ouqm9sqJBBCJ0OGSNlq90k2gzPaq8iSsdXqsNlaSEACEpCABEojUMsbvqxzBZTWH0q351+lGzjCvlqiyEZU2V0rIPBzBXWwCisQUGTphOpGCUhAAhKQgAQOSKCWt+k++B+j89bUzg4XOkafra2WKYXOp6cno1le9cRlNyiyLMvT3CQgAQlIQAISkMCeBH4/n881zdWxJ8uiy452ZqgCqWg7BxpXSxTZwOq6WyUEtokarATWkaqhyHKk1rauEpCABCQgAQl0Eog3e7VEsdTidHe2kxtfEajFyavl/HvVQLVvOHL9QujMev4ZObZyx1VkWRmw2UtAAhKQgAQkkIJALW/Ssz70p+gkBRr5PwXaVIpJ2iGBLQhkvOYqsqzcMxRZVgZs9hKQgAQkIAEJSGBDAv+3YVkWNZnAYgdmdPAWq7wZSaAAAg7PLKARSjNBkaW0FtEeCUhAAhKQgAQkMJ3AfKd7etkeuT2Bahy8iobsbd8LLHFPAiknv90T2BHKVmQ5QitbRwlIQAISkEAlBFasRi1zQlTjdK/Y1jVlXZOoVsuQvZr6l3Wpk8B/1FmtcmqlyFJOW2iJBCQgAQnkJqD1uQno4OVuv0Naf/aXpA7Z7la6KAIZhW3nZFm5CymyrAzY7CUgAQmUQUArJCABCUhAAhKQgAQWJlBTNNnCaI6bnSLLcdvemkugHAJaIgEJSEACixA4n88/L5KRmUhAAhKQgAQkMImAIsskbB50JALWVQISkIAEJCABCUhAAhKQgAQkMISAIssQSuXuo2USkIAEJCABCUjgmYC/0PKMwg8SkIAEJCCBXQisKLLsUh8LlYAEJCABCUhAAlMIZJy8sKueTuDbRcVtEpCABCSwMgGzbwkosrQkXEtAAhKQgAQkcGQCTl545Na37iUQqEXoLIGlNtwSWO/vjL/U8/t6OMwZAoosUDBJQAISkIAEJCABCUhAArsROJ/PhxU6d4NuwUsQyCiy/O8SFTePfgKKLP1s/EYCEpCABCQgAQlkI/BRNoO1dzqBDebgmW6cR0pAAhI4KAFFloM2vNWWgAQkIAEJSOAFgVqGKhxoTpYX7XfUP2zvo7a89S6FwP8rxRDtKIeAIks5baElEpCABCQgAQnsRGDxoQo71SOK/c9ILsch8EklVXWOiEoa8oDVyCh01vJSodjupshSbNNomAQkIAEJSGAdAuZaNYGMD/xVN8jKlfuPlfPfKntFlq1IW87SBDIO0XT+o6V7wU1+iiw3QPxTAhKQgAR2JWDhEtiTQA0PnrVENuzZDzKVndHBy8RXWyXQS8A5kXrRHP4LRZbDdwEBSEACwwm4pwQkUDmBKkKoffCvvJe+rF4tIsu/XlbLvySQgkDW88/IsZW7lyLLyoDNXgKbEbAgCUhAAhKYS6AWRy/rg//c9jvU8SGmfVZRhasQOCtqD6syjEDKSW/P57Miy7D2nbyXIstkdB44hoD7SkACEpCABBIQqMXRS/ngn6B/lGZiTe1cw1C90vqH9qxPIOPwTAWW9fvFSZHldNoAs0VIQAISkIAEJJCAQC2OXsYH/wTdozgTa4pk0fErrntp0D0CT09PH8b3pFilWjzXTqfVG0yRZXXEFiABCUhAAhKQQAYC5/P55wx2DrDxw3AAHDI0AFTWXaJ9ce5IWavwwu4493T8XhDxjwQEVhI5V6+559rqiE9GsmzA2CIkIAEJSEACEshDoJYHUKNZ8vS5KZb+fcpBhR5Ti7hZKN4FzTKrawJ/u/4j0ef/TWRrWlONZEnbdBouAQlIQAISkMAKBGpx+LI6ACs0aZVZZn2L3tUYiwzT68rYbRJYg0ATSZY1WrCWe9waTbtYnoosi6FMn9GnUQPT6TSGQSBzkYAEJCCBygj8TyX1+ahxBCqpTupqLGp8tCsCy4eLZrpvZrWcc/tStPQtCXAOblnekmXVEq25JJPF81JkWRxpygx/PZ/PP5vGMUjZ0hotAQlIQAKPCNT0lm/AkJJHOPy+QAK1tWtN51yB3UWTViCQ9Rz8I/w9RZYVOsRtloost0SO+XctP1l5zNaz1hKQgARqJbBDveIBlKELtdwXv9gBoUWuSODp/S+a1DTfzu9xzun0rdhnzHpZAnEOcv5ljSTj/rYsEHPrJKDI0onlcBs94Q7X5FZYAhKYS8DjqyZQy5v1D8IhUGipq6t+XVd1TrWcayf/HYZA5nPwX4dppZ0rqsiycwMUUvz/FWKHZkhAAssQMBcJSGAegf+ed3hRR2cNay8KYgnGhGDG2/PaRDOdvhI6lzYMIhDnIJPdEskyaP8Cd1LU3KhRFFk2Al14MUayFN5AdZlnbSQgAQkUT6CmB1EmwM3sFBTfWTY08LsNy9qqqJrOta2YWc5+BN7tV/T8ks/ns+fbfIyDclBkGYSp+p1qGXs+v6HMQQISkIAEDk8gHkSZI6KmFxCZw9sP3x8BEG/QEcpI/FlL4ocXONdqqY/1qJhABeegAsuG/VORZUPYc4vyeAlIQAISkIAENiPwz81KWr+gT8JBqG2YyfrUyirBKJay2kNrjkcgu1hd0zDY4nvfUiJL8RXVQAlIQAISkIAEJDCCwI8j9s2w69chtHyQwVBtfEkg2u1tbGE+llhVtdQkZFbVMFbmJYE4Bz+LLdkjyZaOZAkkLn0EFFn6yLhdAhKQgAQkIIHDEqhwyBBO+pvDNmjSiodzx0Sb2d+gd9Hnp5trGpLXVUe37UZguYLjHESczh5J5vm2XJcYlJMiyyBM7iQBCUhAAhKQwAEJ1PamnWgWnPYDNmW+KjfO3Q/5LB9kcW2RYoMqfdnJ/7IRQOREaMlm97W9nm/XNDb4rMiyAWSLkIAEJCABCUggJYEaH0yzv5FN2ZEmGs0vmRCBNPHw8YdteMQ/NizLoiQwiUAInQwRqiECsLYXBpPac8uDFFm2pG1ZEpCABCQgAQmkIdAMGapNaOEnnZnjI007NIYeahXOHRMVk2qst78qVGOrVlanOAeJXqkhkozzzaF5G/dPRZaNgVucBCQgAQlIQAKpCAx4A5iqPhjLsCHe0PLZVBiBcO5om5ojjoxiKazPaU4nAc5BhJbOLxNtrPEeVjx+RZbim0gDJSABCUhAAjMIeOgsAufzmUiW32dlUubBP4QzX+tQlDKJD7Aq2oQ5c2p4e95X2z/iC86pWLlIoEwCcR4S7ccvCpVp4Dirvh+3u3svQUCRZQmK5iEBCUhAApMIeJAEkhD4JomdY8zkDS1CC+sxx7nvSgTCsaMtforsWceqyuX7EC4RWqqsnJXKTyDOQ4bpMdlt/sqcTp5vp33+KbLsw91SJSCB8glooQQkIIGWAG/ea3QMa4+aaNuv+HU4dggrtQsstINDhaBgKpJAnIe1DdXzfNuppymy7ATeYiUwj4BHS0ACEpDAVgSaN++1Pqx+Eo4Fcw9shdNybggE/1ZgQfS6+baqP3+Mc6nGoXdVNdJRKxPnIedfTUP1fo7zzQlvd+rQiiw7ga+6WCsnAQlIQAISqI/At1GlGqNZolqnL8LBUGiBxMYpuOPYEcHCeuPSNy+uVqFyc5AWuCyBq/MQwXPZzPfLrcZhrvvRHFny4USWkXzcXQISkIAEJCABCZzijSACS81OokLLxv38yrE7gsDCW/WfN0ZscRJ4SODqPKxJYOFnmz3fmtbfY6XIsgd1y5SABCQgAQlIICOBmqNZaI+L0BJOR03OBvUqLgXjz8IoIliOwtq36tHgLmURiPMQgXPP83AtIF+tlbH5DiOgyDKMk3tJQAISkIAEJHBwAgeIZqGF+WWNn8L5OIrzT503TcGWn4dl7oejMDaKZdMetlRhdecT5yHXul+ilrWdh55v0ah7L4ose7eA5UtAAhKQgAQkkIkA0Sy1T97J291fwglhnaltirY1eH4QCXHl66INXd645d+qL2+jOR6IQJyHCJ21zkNl1FgBfVmRpYBG0AQJSEACEpCABHIQaKJZjvAQ+2G0CBEtvO2Njy5DCXTtF07dJ7H9t0gME4rVYZbv45zxF04O09xlVzTOQ4ROxJVahU5+wcu5WArohoosBTSCJkhAAhKQgAQkkIdAOI3fh7UZH2TD7FELYfTfhWNC4vOog935dAp2OHXvgkWN8z5Ete4uTBZ9BEHyLgS/LINAnItE5nEe1iwcGzVWRnc7KbIU0hCaIQEJSEACEjg2gXS1P9LDLE4Jw4eIxkjXUHsZHE4dvJjz4c1eNuxc7j9CkKx9aN3OiC1+CIE4FzkHEVgQWoYcknGfbzzfymk2RZZy2kJLJCABCUigVALaJYEbAvEwyxAI5me5+abaP9vhQ0a1PGjicOg+jMTcKzh1cHtwRJVf/x7nCPNeVFk5K5WDQJyHRJJxLhJNVnM0nudbYV1SkaWwBtEcCUhAAmMJuL8EJLAbAYZCHO1NPVEtv4Xzwpvh3cCXWHAwwaFDWDji3Cu3TfLl7Qb/lsCWBOJ85Bp1lHPR823LzjWgLEWWAZDcRQISmEzAAyUgAQlUSyDe1DPnxBEfbnkj/C6cGMQWRJdq23hIxYLDtbjy9ZBjKt+HyW6PMGdR5c2Ys3pxPn4UiSiy2qNX2gb6Nu5Fnm8tjULWiiyFNIRm7EHAMiUgAQlIQALzCDQPt0caNnQNjKEwDB86pNgSjtytuIL4dM3niJ8RHo80X9ER27jIOsf5yDA9fjmIeZCYD6lIOxc2imGrRFQunK3ZzSWgyDKX4FrHm68EJCABCUhAAlkI8JB7tGFD123zQmwJZ6dqsSHqx5tynLl/BwQiV6qub9RxzPJlCI8ILWOOcV8JTCYQ52MrrjA06GiRdZ5vk3vOugdOElnWNcncJSABCUhAAhKQQB4CjVP5eR6LV7P0IrZE7kS2EOFSzS95hCNH1MoXseYtOelozlw068OFYQs/PtzLHSSwAIE4F48srkDwq7j3EMnC59WTBYwjoMgyjpd7S0ACEpCABCQggVcEmoddh0m8J0NkByIEP/tMeoND9P6rPP+Hza2wwq+TELVC9Eo1wtHCLYGzR0TXwtmanQReEojz8rNIpzBaVAAAEABJREFUzLnSRq683OEYf/0Y95yjDlNN0cKKLCmaSSMlIAEJSEACEiidQPPQ65v8lw2FKMEElES3ILgwYW6x8yWE88bbcUSha2Hls5dV8q8bAgwPctjCDZT3f/r/EgSa85JrB8IK52ax15Al6vsgDwTNI064/gBLWV8rspTVHlqzEoG4OKN6v4216elpCAMfKFfqi2YrAQlUT4CH3yPPz3KvgRFc+FnVn+J+zMKae9In8QfRL/eOXeW7KJf5VRBVGN6EA0dCFKr/PrgcUYctLMfSnBoCcW62gifD8zgvuXYwJLHZ45ArBc0kza7IkqShNHM2AX7a7O+RCxPUmU6nRwx+iJsbod6BzEUCEpCABIYSOJ/PPAQzPwvroYcddT/eRnM/IvT/33HfIdrlIrzEZ+Y/QXxZxKmK/MirfeGCoEJUzVOAx4FDVOGet0hZkeeRlu+jz39/pApb13UIxDnK8DzO0TZiBWGFcxNxdp1C8+X6eZxvRLLks/xgFiuyHKzBj1rduCDxsPvpUes/sd48hDL+fOLhHiYBCUigSgIPKxX3HB6CiWh5uK87vCCAyNEKL9x/EF8QXsL/ekKEQYC5TkTB3Kbr7y9CylP8i1LIi2EGiDoIKjpuAWXm8mv0dfv5TIhHPTxOSyJVWlGF85N5jzhHjVjp7hQMyeOlcfe3bi2KgCJLUc2hMWsSiAcBH3rHA+ZNIlEtu4RxjzfXIyRwdALWvxQCcc9hbhYnwl2uQbgPIcBcJwST23T9vULKcvxvc/Ll1S0R/+4lEIIKkWQ8UyKKIoQiqBCp0ooqnLe9x/vFiSF5Rowl6giKLIkaS1PnE4iHXi5QpPmZHScHxqVzQ+QN43FqbU2XJ2COEjgYgbjn8OsP3nMO1u4HqO5FYIn+zfoA1S2riiFYEP2BaNGmXcXEsId5jVpbEFFIvKDj2ZEINIblEalCdBqiKIIKomlZYMu1hiF53EvKtVDLXhFQZHmFxA21E4iHAkJbDbcb19DcwAm7Zj3uyCR7a6YEJCCBNQg09xyFljXgmudeBJwXYi/y78sl+gPRok08n4XW8WphO0LHo4Qocp0YLn7vmHYI36XAMIl5jVpbEFFIvKBTTAk4MxcEFvyWmdl4+NYEFFm2Jm55pRBgUkKGD5Vizz07SvmOtw7csBnLXopN2iEBCUggAwGGDXnPydBS2viIgPNCPCJUzve8GEPoeJQQRa4Tz3n3jjGyeZs2VmDZhvMqpSiyrIL1SJnmrGu8WSTEFWWYdc5K7Gc1bzgI+dzPAkuWgAQkkIhAc89h8nWFlkTtpqmvCCCwGJX1CosbJLA4AQWWxZFum2HdIsu2LC0tGYF46OVhl4iWZJYXYS6TlxHVQnRLEQZphAQkIIGSCcQ9B1FfoaXkRtK2ewScePMeHb+TwHIEFFjmsCzkWEWWQhpCM/YhEA+9zM1CRMs+BuQulTBUxuUSUpq7JlovAQlIYAMCcc9RaNmAs0UsTgCnz4k3F8dqhkcjMKC+iJn6JQNAlb6LIkvpLaR9qxOIh15CX79ZvaA6CyCShcnR3tZZPWslAQlIYFkCcc9RaFkWqbmtSwCBRadvXcYl5K4N+xNgOJ5i5v7tsIgFiiyLYDST7ATioReRALEle1X2sv/rp6cnfq4P0WUvGyxXAhKQQAoCcc9RaEnRUoc3EqevAIHl8O0ggLoJXO4HcV/QD6monRVZKmpMqzKPQFzceJD4cV4uhz6an+tz+NChu4CVl4AEhhKIe87lwTr298E6IKRd6jUcgcW+WW/7WrMyCDA/5KdxP2D6gjIs0opFCCiyLILRTCoigNDCBa+iKm1aFSJZHD60KXILk4AEshKIB+s/InHfWcWZzcpFu3cnoMCyexNowAEI8GIXgUW/o8LGVmSpsFGt0nQC8bDbvln0gjcdI0cyfAix5UP+MElAAhK4IeCfVwTi3oPQ8tXVJj9KYA8CPAN9HP1R0W8P+pZ5JALfxHn2eSTOuSPV+zB1VWQ5TFNb0aEEmgseP7PphW8otO79+NUhfuaZYUTde7hVAkUS0CgJbE8g7j1MeIjY4r1ne/yWeDr9fjqdfKseEFwksCIBru+cZ8wFuWIxZr03AUWWvVvA8oskEA+7l4tgGMc6Vi4TCTB8iAlxSXyemI2HPRPwgwQkUC2BuPcQQYDIj8NbbT2tWHEEmA+CCBajeItrGg2qiADDg/4a13nOt4qqZVW6CCiydFFxmwSCQFwEedjgYVehJXgMWe7sQzSLk+LeAeRXEpCABCDQ3Hs+js8+iAcEl9UJfBt9jjfrPuusjtoCDkqAc+urOM8cHnSgDqDIcqDGPnhVJ1U/LogKLZPIdR5EJAvztLx7enric+dObpSABCRwdAJx72FCXET+b47OwvqvRgDHjwlunQtoNcRmLIETYjlRYgwHPfnvOAQUWYpoa40omUA87Cq0LNtAbyI75mphzpb46CIBCUhAAl0E4v7DuP3P4zsc4li5SGARApfnmuhfDE9bJEMzkYAEXhDgmk30ClFiDv98geYYfzwWWY7BwVpK4C6BeBDhgYQH3bv7+eVgAh/GnkS1OFdLgHCRgAQk0Ecg7j+XcfzxPW9EY+UigVkEeKOO48dzzayMPFgCEugkgHjJ3Cuca507FL9RA2cTUGSZjdAMjkIgHnR5wOWXH45S5S3q2c7VwnqL8ixDAhKQQDoCcf9phw8xtIM3pOnqoMG7E6DfMCcEb9f5vLtBGiCBKQQKPgbhEgGTYXieYwU31BamKbJsQdkyqiEQD7qo0woty7Yo87MQ0UJkCxEuy+ZubhKQgAQqIRD3IN6MOiluJe25YTUu0VDRf1hvWOzhirLCxySAoIKwwtwrvJA9JgVr/YKAIssLHP4hgccE4iFFoeUxpil7MEcLc7UwB8GU4z1GAhKQQPUE4h70eyQmxTWqpfrWnl1BnD+iVz4/n898np2hGUhAAs8EOKeYnJyhQfgGz1/4QQKKLPYBCUwgEA+4XEyJaOECOyEHD+khQFTL109PT/7ccw8gN0tAAhKAQNyH6olqoUKmpQnwnILzZ/TK0mTNTwKnE9dfzq+3cS3WFzj575aAIsstEf+WwEACcVHlAYa3iV5cBzIbsRvDhhg+xDAiPo841F0lIAEJnE5PT09vInEdQbydjKTkA+M+1Ea1MDG7v2BRcmNtZ5vzQmzH2pKORYDnfZ79EVec2+hYbT+6tooso5F5gAT+JBAPuJeHmdjChTdWLgsTYELcyxCicJaqdZQWZmZ2xyFgTTsIxLXik0i/xFfvIjEMkXV8rHeJexHRCszVQui696N6m/pezWh3HD/nhbhHye8kMJ4A5xbXVsQV5l5R0B7P8HBHKLIcrsmt8NIE4uFWoWVpqC/zQ1z5OjYhtnwRa5cUBDRSAtsSCGHlw0g/RKk/RfooUrt8EdvftH/Uuo57Eb9A9Dbqh9jC29b46HIQAu3QBdYHqbLVlMDqBBBTmPsKccVhQavjrqsARZa62tPa7EQgHm4VWtZnz7Ch78JZIvyft9PTS/RICUigGgJxTfggEuLCb1Epot9i9Wp5F/v0ffdq58wb4n7EECLmDPtr1MNfuggIFS+IaTiARLDwtr3iqlo1CWxGgOsmE0Zzbn0b11TPrc3Q11OQIks9bWlNdiYQF+FWaGE92RoPfEgAgQWhxflaHqJyBwnUTSCEEyJUEFeIdntUWUTa6wiXR/un/j7uSYgtzBtGwmlIXR+Nf0GgFVccuvACi39IYDIBhBQiwRBWPo3rJ0MwJ2fmgRJQZLEPjCHgvg8IxEUZgYUHWtYP9vbrmQR4K82vEOE4EeUyMzsPl4AEshAIcYUhQIgrzLfCkMIhprMfAi3rIftXsU/cl36OxH2JpNiSu1UVV3K3n9aXRwAxhaiVv8R1kogwhgiVZ6UWpSNQkciSjr0GV0ogLtKo4TzMKrRs08bM08J8LW/D8TqU87QNXkuRQDkE4hxnUlvEle/CqiniKteIwwktweoU96ZWbGEYEc46m005CNBevGE3ciVHe2ll2QQQVhhSibCCwMLfZVusdT0Eyt2syFJu22hZYgLxMNsKLTwYJa5JGtNxnBguQGSLYkuaZtNQCQwj0IgrTGhLmiKuXBfEkKFDCi1AiPsTw4hwMBBb+MUM7ld8ZSqLAO1C++AIKq6U1TZak48AQgrXPc4nhJXv41rIObZeTcz50AQUWQ7d/FZ+TQJcvCNxQVdoWRP0y7wVW17y8C8JpCZwI64wH9NS9UFo4ZeIlsovXT5xf0Js4Rcz/hLGc68y+jJAFLAwpAtRBWeQ9tERLKBRajPhAPVh2A/P359HXTmXFFYChMt2BBRZtmNtSQclEA+yPLzyE3AHJbBLtRVbdsFuoRJYhsCK4sq1gQw9YtjR9bZDfo77FG91+elnEpM/6thv2xPgDXeGBDHpJs7hthaUU5qWSGAKAc4holV43v44rmmcS4iVP8ZnvpuSp8dIYDIBRZbJ6DxQAsMJxAWehyfEFi/0w7EtsadiyxIUzUMCGxEIcYUJbRkSRFoycqWvBpSn0NLQiXvVr5GY/JHoFt4A47Q037o6nRZngJjCG3betMOdt++LF2KGEqiQAOcK16dWVOEc4lz6Nq5hRuVV2ODZqqTIkq3FtDctgbjo8zDFhLgKLdu3Yiu2/DucOH+NaHv+liiBuwTivETsaCe03UJcubaHsvlJeK4T19tzfV7Y2rhn8QYYoQXBhZcEODQLl3LI7OAIT5zCy5v2Q1Kw0hIYToDnZobRMUcR1ySiVEiKKsMZuufGBBRZNgZucccmEA+tqOuEY7M+Noz9as+vETFBLmLL1s7cfrW2ZAnsSKCr6BBWPojERNWtuDJ3QtuuYoZu+yx2POxkuFH33iXuW39EYjgRzg2CC2teGuD49B7nF88EeOMOLxzCQHlmDU/5PSPygwQuBDgnEFM4XxBUeDGJGEliGB1zFCH+ck5dDvA/CZRKQJGl1JbRrmoJnM9nbg7cOHibVW09E1QMsQWnioSDlcBkTVyBgFluTCCElQ8jvYtiEVf4VbA9xZUw43lhMlyuB0a0PCN5+SHuXwguODlEYCC48NIAZwjH6OXOx/4LHu0wBt64w8t7/rH7hLU/nVoRhfOD6waJ52EElLi8nFsxhfMFQeXn8/nMMSf/SSAbAUWW5VqMiwAXjYwJ25cjYU4PCXDTiMTbQOZqebi/O6xKgGgWhgoQ3fImnL+CHKxV623mEtiUQJxbTDTLL/ogrryJwks811qhhXWY6HKPQNzHmMMFZ+jiJMW+OEw4TjwLxZ+HWHiGor7U+8IhuLB2bojym79tN9puicQzHXlOSSVHOPNysK9O1PmWHc+3XAtITEIbp8RlaUUUzg+uGySEFPIuv7dooQRGEFBkGQHr3q5x6eBBg4tGxlTyhf0e9vTfRb/hTRdjs/PVpT6LeZt+ebseziBDifi7vlpaIwlsSCDOJYYEMecJwgqT2WaIGkNgIaKF9dkyVzkAABAASURBVIa08hcV9zQcJhwnnoXOUSMiXbjH4YjV4Ei1ggr1oV44kK3jSL1rqGM02zGWq/5K2y2Rvoo86ftTEn0pDi9yIRqrr07U+ZYd0W5cC0j6GMc4nazlDQFFlhsg/lkHgUy1iNspY095EOXhLZPptdrK23WGEhHZgqPF51rrar0ksAqBEFcYEsSv9iCusM4mWnId+CXq4fk/o4fE/Y0XUMw/giOGk4bw8tfIkjfcvP3m/ocwUdr9r31zj5iCndiLo9kKKtSHeulARmO6SEACEpDASwKKLC95bPGXZUjgFQEeRGMjD54+sAWIghaGEhHVwq8SvQuHK5ujWBBKTamdQJwfbdQKESuIKwgUiBWZq875T4Rb5joUZXvc736PxBtu3n4z9wLiC+IFAgwvHBA0iBJB3CAxlwlCTJum1gchp82DNQIP+ZPa4Q0IKWHemTV2IaZgJ/YivEwt2+MkIAEJSOBABG5ElgPV3KpKoDAC5/OZCQV5wOTBrzDrDm8OjiJzSDxHt+BQHp6KACQQBOJc+CgS0SoIK6wRJ+ObahbmaiKqjetANZUqsSJxHyTyBUGDKBHEDRK/xoPg0abYbdKCkNPmwRqBh/xJ7fAGhZQSO4Y2SUACKxIw6zUIKLKsQdU8JTCDQDw68gaPxFu3GTl56EoEcCBxJBFceMvN3ysVZbYSKJNAiCoMB0J8QFj5JaysIWolqtG7cJ5zzrPu3ckvJCABCUhgQQJmJYGkBBRZkjacZtdNIIQWolkImfatWrlNzVttHEvecON8MZzIiTLLbS8tm0kghJV2OFD7C0EMoznSEDrOec73tzNRergEJFABAasgAQlIoI+AIksfGbdLYGcCIbQwPwvDhxiPvrM1Fv+AAI4mw4mYKJPEG362PTjMryVQPoEQVz6LRPTWv8Na1hl+IShMXW35OnggtniOr4bYjGcS8HAJSEACEtiRgCLLjvAtWgKPCITQwjwtTMj31aN9/b4YAkSz8Iaf6BYFl2KaRUPGEAgR4SKsxBphhcgVorbGZFH7vgwbupzftVd0+fqZowQkIAEJSKBuAoosdbevtauEQIgt/IwkUS0OH8rVpl2CC9ty1UJrqycQYko7FIh5hq6FFYbIVF//5wqO+wAbhgka1TKOm3tLQAISkIAEqiagyFJ181q5mgiE0OLwodwNirhChAtvv4lywTnjbXjuWmn9ZgSWLiiEFSav/SLWRKogrDAUiIgVxIOli6s5P85jzmuGDNZcT+smAQlIQAISkMAAAoosAyC5iwRKIRBCSzt8yF8fKqVRptnBXA44ZLwB/3c4uUQP4OxmdW6nUfCozQlEX/skEgIfvwjELwMhrBx9jpUl2oFzF66c0wiqS+RpHhKQgAQkIAEJJCSgyJKw0TRZAiG28OtDDB8iukUgdwkU/yXOGdEDOLsILrwRfxuOMG/HizdeA8smEP3oOVolPhOt8lNYjMCnEBAgVlg4bzmHEVw4t1cowiwlIAEJSEACEiiZgCJLya2jbfUTmFHDEFp+j4TQ8s2MbDy0PAI4v1+HWbwRR3T5IZxjfq2I7bHZRQL9BKKvMLcKk9bi5BOpQkLAI1pFp78f3dLfIGQxLBABdem8zU8CEpCABCQggYIJKLIU3Dh7m2b5OQiE0PI2LP00kpPiBoTKFpxinON2LhdFl8oaeG51bkQVhgARrcIcKzj5DEubW4THTyfA+ctQQMQWIlym5+SREpCABCQgAQmkIZBVZEkDWEMlsAWBEFp+jnKIauFXiOKjS6UEcNpuRRciXi7Di3C4K6231WoIRBt/FIn5ey7Oe2y+FlWMdgogBS6IXZynJMWWAhtIkyQgAQlIoHgCqQxUZEnVXBorgX4CIbQwKe5XsYdRLQHhIAuiC07bZXhR1JlIF+aDwAHHEdfpDihZlxBTmE+FoT+IaDjoCCpEqzD8h2EoOO9Zq3dEuzlXaUcSn4/IwDpLQAISqJCAVZLASwKKLC95+JcE0hMIsaWNavkxfWWswBQCCCs44DjiCC7hqz/h1DFHB3O76NxNobryMU9PT12CCvOpMPQHEY12Q1Rb2RKz34AAbck5SeLzBkVahAQkcFgCVlwCEticgCLL5sgtUALrEwihhaiWz6MkknO1BIiDLzhyzNHB3C44duHTPzFPBJPqEiVBtATizMExrV/9p/diCj+jDHciji7tESUrqASEgy2cl7Q/CWH0YNW3uhI4nWQgAQlIoEYCiiw1tqp1kkBDIMQWolmcq6Xh4eoFAYaaML8LURJES7RRL4gvOH2IAJfIF4SBF0f6x0MCwQwhBfEKjrdiCj+jDHccaxzth/m5Q9UE6AP0Ec49zjkjlspobq2QgAQkIAEJTCKgyDIJmwdJIA+BEFqIanGuljxNtreliC84fYgAl8iXMAjnL3SDJ9YIMDiEiAfM+4KYcKgomKenJ34mmXqT4ECCCym+fnoKZggpiFdwVEwJIC4PCSCufMA1++GeJ/eQgAQkIAEJSKBUAoospbaMdklgYQLx4N7O1fLNwlmb3XEItAIMogHiAfO+ICa0UTAIDHxGbGiHIr2NjSQEiTbhTBZFLWxsbWONeITNJAQl6kNiYmEEFCagpd4kOJAQpkhF1WsXYyx0CoHL9Tmu02+nHOwxEpCABCQgAQmUQ0CRpZy20BIJrE4gHuCJauEhniFEPNSvXqYFHI4AUS2IDe1QJAQIEoJEmy5iRQgb7cLfiBhdiQl7ETumJISeF3lGgfyNEBQf/1yilVrbWCMeYTMJQYn6kIoTh8Jul9wE/gjzP49r86eRnD8rYLhIQAISkIAEshNQZMnegtovgQkE4mH+10j81POXcTgP+bFy2ZnAkYtHvEDE6EpM2IvYMSUh9HTliRB0ZN7WvQwC34YZf41rMXNnxUcXCUhAAhKQgARqIKDIUkMrWgcJTCQQD/ffx6F/jcQ6Vn2L2yUgAQlIYCECv0Y+RK58FddgRe6A4SIBCUhAAhKoiYAiS02tedS6WO9ZBHjIj0REC5EtPPzPys+DJSABCUigkwCCCsLKx3HNdbhmJyI3SkACEpCABPITUGRZuQ3NXgJZCPDQH4m5WhBccAaymK6dEpCABEonQLQgQ4MYIlS6rdonAQlIQAISkMBEAhymyAIFkwQk8EwghJaLMxAbdAYCgosEJCCBGQSIWCFy5cu4tipezwDpoRKQgAQkMJuAGWxEQJFlI9AWI4FMBHAGIn0VNjNfC05CfHSRgAQkIIGBBPiloPZXgxyGORCau0lAAkcmYN0lUA8BRZZ62tKaSGBxAiG0/B6JuVpIOA2Ll2GGEpCABCoiQLTKN3HdZGiQvxpUUcNalYMTsPoSkIAERhBQZBkBy10lcFQC4TD8HImoFudrOWonsN4SkMAjAgyxRFx5+2hHv5fAkgTMSwISkIAEyiKgyFJWe2iNBIomEEJLO1/LN2Eob2xj5SIBCUjg0AQu18W4PvLLQV4XX3YF/5KABCQgAQkcjoAiy+Ga3ApLYB6BcCT+iMSbWiJbeHM7L0OPloAEJLALgdmFMl/Vp3E9ZFJbh1POxmkGEpCABCQggToIKLLU0Y7WQgKbEwjHArGlnRyXN7mb22CBEqiWgBUrmUArriCw8LlkW7VNAhKQgAQkIIGNCSiybAzc4iRQG4EQW5gcl7laiGxRbKmtgTvq4yYJHJQA0SpErSiuHLQDWG0JSEACEpDAEAKKLEMouY8EJPCQQCFiy0M73UECEpDASAKtuMKktgrJI+G5uwQkIAEJSOBoBBRZjtbi1ndHAsco+kps+TRq/GMkFwlIQAIZCSiuZGy1DW1+enr6JNLbSN9F+qkjvYttbyJ9sqFZk4oKGz+LhL3UIz52Lv+OrXzPfp9NKmjjg8LeDyLRTrQDbXWbqPdHG5s1ubioy0eRvohEPWiL2/RD8x31+mByQR4oAQnMIqDIMgtfRQdbFQksTCDElp8jfR7ZOowoILhIQAJpCBxeXAknDac0VneX39Zu0Sgdh/LWiXzx99o23OYfNuHg4sg+xXc/Rfo60heREFJu05vY/i4SNiNQIMawT2zaf4m6fBgJm/4d1vwQCXvv2YfTzvfsB4Pi6hR1OEWdqBdC0C/xN3WjnWgH2uo2Ue9f4pgi6xL2Ux/OA+rDOUedvovt1IO2uE2IX3xHvagTdaPP0nZx2DpL8EP0idWrBfaLFBo5U5dYdS7Ud6ly4NZVCKwXKcNM6ieQQmSpvxmsoQTqJRBCi3O21Nu81kwCNRFgElvmXHFY0LBWxZH9cNiuk/f6WxyJY3MvxS7rL+Fx4aji5OLg4siOLRQnFzEGweW3yI86jc1jkf2jbKI7EB2oDzZh25S8OY7jqRNiDX9PyWeRY6JeiIM49dQLIWhMhAq2t3XZtX1aGFf1QVihPlPONxjQZ6kTQgj1bItYcv1rT2aU3/PV8M3Bgrrfy2uR86kpp5NRPM9yjxhutHvOIpD9YEWW7C2o/RJIQiBuTootSdpKMyVwMAI8ODOZLck5V8Y1/hSxYUwJa+f/0JZwuogiwMnFUcXRe3jMgB3IB2GCaJBOh25AHpN2oT5xIPXBaY+Piy0IFDjy9xzhxQq7zijqhGhEJAMCyxLO9m7tQ72a+iCCLVUfsqWfEeFCNMgSjMjzOnEdvf67/UzbwLP9e+r6kc2Us0Tf6yvnun5T6+BxByKgyHKgxraqEiiBwJXY8pew55tIf0RykYAEJLA1AQQVhBWSD9DT6BNpMu3IB0eFo4nDtIRz9qCk/q/DBoQDBAls6d9x+jeISJsJE1Ef6oHjvhZXHHnEI8qZTmXEkVGnC8M4hHWsFl3Ic+v6wI42miiCPaw/bU+d3j7cc8QO8WzHs1xfNEufcDGihNP/G7Az7TVgt7u7/GfPt//ds93NEugkoMjSicWNEpDA2gS4IUfiJs+cLV9FecyDECsXCUhAAqsRwBFAXGFIEEODFFfmoSbKA6dtXi7dR68m4HQX93JrOO8ILESvvPzi/l/cx+hTpPt7/vktwgTRBZT359aFP0V9KIf6sH6UO+cJdbhNbH90LPnjxL/uF4+OHPl91AlmRLBQ5sijB+9+ET2iLNaDD5qyY1MGAsuYsmiTtp36RI4uc76O8ugPXd9N3YYdXcf2CRdd+/ZtGyLUDBFi+vJvt/eV01e39jjXEnhBQJHlBQ7/kIAEtiYQQssfkb6NhNjyZZTvjSwguEhAAosSwPklcq4VV/h70QIOnFmfUzIXyRJvpQfbcL1jOJ8470McUO5XvCT4OO5hLPQvIqNI58izva8N+aU95jSh3DhslYXIiHvOO+cEdaEOf4nKUIfbRATqx2Ed5xLOfXzsXBA9hvDrPHjIxmgjhtMMKQPhAXuZiJ/6RNXOtA2/gEj6Nsqj7rHqXS71iTJZ9+4054vIG1EKgeVRGXDHZupDO5GoF+nSD8MO2oi2pO7xZ+/CPENDGPZmcPPF/9z83f55r9+1+/SuGzbw6d2n+WLWtSjKgX25Ih0rAAAQAElEQVSXrTynPmLZmOBKAu8JKLK85+D/EpBAAQTO5/P3kXjoIfG2uQCrNEECEkhMgAdjIlZwHN/G9QUHJVt1Srf3v5Y2MJwdHCrS0lk/zC/Kxsl65HgimtCncGx5SUA/e5V39DfmIuO+hkOM4MJxr/a72oDQMstRvMrr+WPUCZbMx/G87ebDV2Er9aEudwWH2O/XSG0UKuLFTVbPfzIJ7SqiUdSHfBGNngvr+MAzBHVCeODc/zHsRhS77MrnJl3qHht57uhsx/iOZUi/YL+p6VFEDtcurmWIKthMfdj2qryoF21EWyK2PKrXkkLLM98bo+b26cHHR98YvO+NjfxJG7O+TX31ut3PvyXwTECR5RmFHyQggVIIxAMCP/9MVAsPpTzEdT5IlGKvdkjguASKrTkOFg4wDhafizW0AsM+C8eGN8BLVmWXKJamHji7fXXhXkS/+jzuU3fFiNsM2D8SYguJfG53af9eYzLcezypD5ERbfmD1lEX3u4jtnCv7jvm731fTN0ebYQjfE8Eo1047xEk+DyoqKgPzx2IEveuF/R1BJ5BeQ7dKepEVA716jsEcQ7B6J5tnccOrBdCy+x6RVnwJr2yJeo4R/zoEnL7+mzXvq/s6dnQZ+O/evZ3swR6CSiy9KLxCwlIYG8C3LAj8QaKEGUe5HybsHejZCpfW49GgId7RFmcERwsrxfL9wAYd+Xa55x07Ttk217zsRDtQdRHl41EOdC3ZvWruKfhMBNd0Ce0IFjdExG6bHu0rY/nN2HP3Prg+JO6bGDOnnviQdcxj7bdE8FoIwQW1o/y6fw+ePCs0VcfjnkXggFtxOfZKfKCz72oHNoIUa+vvwyyoakXdevbn3r19f2+Y7q29/Un6tm1/5BtXdcXhiZ1ldW175Ay2KdvTpeuctjfJIFeAoosvWj8QgISKIlAPCAQcs2DafumadYDx951s3wJSGAxAjitOCE4wIiyfULAYgUeOCPYkm4RzHl7/CKvcDpx9G4dsq4yXxw394+m3D5nl/sNER+s5xZ1ivsZIgD3s778iJiY4yw+2xj1QhC45cn3lN0XDcD3YxLzf5Bf1zH3omi69u/dFnUhcob+0bXPhWmw7bOj65jObZEHYkSfYw3Pvn7Smd+DjUSx9O3CkB/q3Pf9qO1RL8QjhOiu46jXPVu6juna1hf10SdgdOXxvC3anL6Lbc/bmg+0T1dZCHtd+zeH3V1R1u0ORGzRt263+7cE7hJQZLmLxy8lcEgCRVc6HhIYa8wDEEOJWHvzK7rFNE4CqxDA6cZZQFhBYEFoWaUgM31FoIv1Yo50lNaVV1eZseuiy73oEfrYbOf92lruZfE3Q4di1bkQVdP5xciNXY4jWTA8ZpE6RV3IBweefG/TJOf6NpPm777hR5RP9BrrZtfZK54v+vLrs2NUoSEgMESnT0zjWQfxalSej3aOtkK0QaDo2hVxr6+/dO3fta0v76n5dvFB+OAe0FdW1zFdtj5vi7bAvi5xpq+M52P9IIEuAoosXVTcVjABTZPAewLxoMBNlugWIltIvJHreyB6f5D/S0AC2QngbOPwIq4YtbJPa/6zo9gPwknpEkc6dn24qWtoS9cb64cZDd0hbMfB6nPMuM+s4mjFfYx8EQu7TGXi2D6buvYfu43hFmOPubd/V79gf9iynpWijRAkupxg8mVIzaIvXKJtcOL/QeYdaan+fk9IQ+TpKHqRTeTd97w0S0BquMHu1tAPow372u923+u/u0Q6zhsiwlh31aPrmOs8uz739dNVrz1dhritDgKKLEu2o3lJQAK7EIib+uWNT6zbuVtwxHaxxUIlIIHFCfDAzhtdflUDgcXze3HEwzOM6yzOLG1ye9AUx+ZFHo0TduvsIKiv3eZ9jiUOXJ8I8sL2GX/ce0HQJTjNKOrFof/x4q+ZfzT9oiuXKY51Vz59bcQvOMGw65i528iXPtCVz6whctHXEdD6hj4h7HGedZU7e1u0Fedvn4DEJLhz2wzxo8tO6ty1/d62rmOuhY+usrqOuVcG3/Vdv7ryZ3+TBN4T6PlfkaUHjJslIIGcBOLhgYcTQrAZToRjttqDSk5CWi2BFARwbHBwmMSSqBXmJmBbCuMPYGSX6LFEJEtXHl1lLYY4nF0cSqIkuvLkfoJD2vXdItvinkW/7nN4u3gsUm5kMsURjcPuLgwZwiklIU616e5Bj76MNkKMuBXf2sMoo/286Lppm67+R5/435mF3RPQVqvTlc201dWfLz7O7XfXIsh1xn1teL3P8+dod/oo5+fztubDdZt0lcW8LPSZZvdBK8q63RGBN/Uz5G2F/Hs7Aoos27G2JAlIYEMC8XB0ebsVa4YSkXDYeDDa0AqLkoAERhDA2eTBn2gVola+ivPXB9wRADfctcuxYTjAKCeqw96u6ID/7thvyU33HMo+8WPJ8smLfs/6Ni0xLKXvvkd73av7rS0P/47zlXlRmCCYxHC+S3p44OMd7tl57XA/zmn8HvQ/GNJGDLNB9CUxt8n43OKIEA8QDnYT9sIEhtpQpz52Xechhw1NiGxd+15Hi3R9f7utS/jg2Q7b2337yuo6tj3mxbppjy5Rpi/vF8f7hwS6CCiydFFxmwQkUBWBePBrhxMR3YLgwsMSDl1V9bQyEkhKgAf91nnBSePvpFU5htlxTaWNuq6h95zhu3AaR+f2eN4kU9bdY2d+2edQ/hj1vHbmZhbTf3hTTp9D12dff4ZX3zR599Xju+A+Vxi7Km21j33OOff2rn4405A/Dw9+9ANEFa5NS0U23RMAthL2qCQCEuvbdHse3n5/9+9gRn8j3e43tq91tfuL8yTKQojv6gNdx97a0/7d1x5dYnJ7jGsJ3CWgyHIXj19KQAK1EeCGHImHJeZvYViRgkttjWx9MhDAcUZYIWKFyBWcl64H5Qx1OaqNtOFt3ecIAl2OXVcZt2XO/bvPwepzQOeW13d8X3kv7es7+v72Po5EVPwSQsvbSHy+n8t+3/Yx6GO2n6XDSu4TAIjSQDQYlsv8vfr6xSn6Qx/zoaW+EEOag4jMGiO0dNnQJXx0ldV1bGPGq1WfTV35vjrYDRLoIqDI0kXFbRKQwCEIhNjCGyoFl0O0tpUsgAAP9AorBTTEQia8cnAj3ylzIcRhl6VLoOkq47LzEv+FI4lz1ScubO1g9ZXHsJ4+G4dieBQdwa/c/BY8EFu6hk0MLWfx/cIm7Omrfx+zxe1YOEP6XVeWXCO7tq+yLZ6BELb7RJ0xIkWXfV1iCPv11Z3vnlO0e1/5XW3eVRbnDX3nOc87H7pEr60Frzvm+VVGAoosGVtNmyUggcUJxMPGteDCkCLncFmcshkejAAP8ESKlSCsHAz9+tXlmtlTSldESs+uLzZ3OVVdDtWLg2b+0efw4WB1DXeYWVz/4cGzz9nloD47+e5hirypy6PJVBEyWrGF6JY34ejOKvehYcN2uOco32M2LPd99urq61jSJRawfc3Ux/A/Zxbad+4OzbdLdO07L/vKGnot6mqPvjxnYvHwoxBQZDlKS1tPCUhgMIF4IGWcN5NutnO4+CtFg+m543gCVR2BM4dAyRAghgIRKeZQoKqa+EVlut68dzlHLw66/SOceZwhnPzrrxC+Eequty39uc+Bpx8vXdaQ/Pocu9liR9zXmKi1z6G+tY3y3sVGxJZonifW756enj6LdNtOsduqS5cDfCkw6rR2/7iUs+R/wa+vz1HMHv2u71eSZrVztA11IVGv69Tbntc7xeeu/TrPjyiLft3VF7oiVCLrP5doj65y2GEPwYtyTZUQUGSppCGthgQksA4Bbt6R+PlYoluYx4W38jgWXTf0dYzYM1fLlsBjAjzgIkR+HOcKE0QiUHKOPD7SPbIT6BrO80k4LmMdtC5hpivvpXn9R0+GpTlYY3n2VOv0aXzB+RqrUQuiy5s44odI/472/SkSkS73BIPYddWl0+FetcRlMu9lFtfPKW0z16o+jrT53Ly76vMw3+hb9Peu/e5dE7rq0SegXNerqxy+78qP7SYJDCKgyDIIkztJQAIlEtjapngA4pcueCt/eUsf5fPAylv7rgeJ+NpFAlUS4O3k9TAgxBWESM+DKpv7bqX6xDQiU+4eePNl1/59ed8cOuvPXod3Vq7TD15V3OEeFqZx35rLFueVSBfmcUFw+SLydamLAELH3Bp19ucQUeg/9/Lu+/6e8NElwAyZaLcr2qVvWNI9m/1OAi8IKLK8wOEfEliMgBkdgEA8sP4cibf211EuOJ84oQcgYBUPRACn7DpaxWFAB2r8vqrG9Y+Ivi7HpysypTObcLgQWG4dui2GCnXaU+jGofNYPDSfNovEL+uRlrhX4RB/F+1IhAsT59625UOb3KFaAl3XBirbFz3Cd6Qu4YNh3Fxv+L4r9ZVF/+zav93WZUtfXu0xriXwkIAiy0NENe5gnSQggaUJxENrG+WC88lcLiScUpzTew8GS5tifhJYggAPmUyU+Wn0bRait4xWWYJsfXl0vUF+5NhcU+gSZLryvD7maJ8XFy7ipEbI4j6F2ML5PpcpNjJxLvO3jGn/ueV6fKEEoo8R3dj1/NMlolzXoqv/3O2jURaCIek6Hz73lhXCIJFsJPa7Tp0RONc7+FkCjwiUJ7I8stjvJSABCSQgwA0/Ek4pzilzuRDt0oouXQ8CCWqliRUT4AH2WlRBXHkbfZjtFVfbqi1AACH5NhvC9IlQud3e9XeXQ9WVZ9exbptJIM5xxBaGECG4cI/CMZ6TK06rQ4jmENz22C4RZEkLuu4hXdEjlzIb4aPr+yHCR1dZ965DXeVgR1c+bDetRaDCfBVZKmxUqyQBCZRHIB5kCXVtRRceZklMosvworkPteVVWItKJsBDNU4sDhViSnTPM2tFlZJbrVDbzuczonHXNawrQuVFLcKhwsnBKb/ezjBM+uj1tqN/Xp0H7RiJexQvBHgxwP1pzpxjDCFyrpbCe260ede5u6TVXeLIh3HuE/nUVU6X6Mp+Q4SPrrJOUVZfnl1RLq/mY6FwkwTGElBkGUvM/SUgAQksQCAebLiRM4kuw4vah1reJhJNwMPE6g/VC1TDLHIQoD/hLOE08es//LQyEVY4VHyXoxZaWTKBf3YYd+8Ncrv739oPV+sthwqt7WBeVWvWx/+ZdfTIg+P+1A5//So+t/cnrh+8FBhzb0JoQUgbaYG7DyQwe7c7AsTsvJsM+u4xY4QPXlIN6Xdjy+qyoS+PpjquJDCMgCLLME7uJQEJSGBVAvEgy0Mtb3CJJiCqgDeJRLswXl7hZVX6VWWO04gjRJQKv/oTXetMf8JZQtQj6qCqCluZIgh0OSYMGXrkYHcJMURZbVWp/+spqOsNd8+ui27+/y+a20KZnc9n7k9cP3gpwL2J+xLXmTuO73Ph/ArR8x9+SENgSNs+rEz0He5JXXn1XRsmCx9RFvc30q1dfedzlw2d0TC3Gfq3BB4RUGR5RMjvQ7pQ2AAAD8NJREFUJSABCexEgAeGSIyX7xNecEa6Hih2sthiNyTAQyuObRuh0goqrHGEiFLh4XZDkyzqqATiOkVf67oWdUWqXDDFG3QcnNuhQryx7srncsxi/5WbEUy6rON879q+y7Zob+5LXGcQXBB079n3SbR1l+M81Hb6Vte+fay69i1mW7Djut1pT3Dao06352BrWx/39vsx6646vxI+ov7YQrrNe0x0W1dZr/pflPVqW1No1/HNV64kMJyAIstwVu4pAQlIYHcC8YDGMCMecBFeGPLB8I9zGMZQIx52cbp5SLj30Bu7uyQiQHvy1piIJtqZNmfIz3WEypIPxInQ1Gdq4hoh+t6a3xWp0u7TJcB0DTtq919jzbnVlW+fA9a175Lb+pzsYs/vuCdxzyHq8p6Nf58Bqe9eRqRU37weM4rb5NC+OnUJDGsb9J89BSwpdnZFh3SdY13bTtHH+s7TLtO7yuqal6WrLJ6vlqx3l31uOwgBRZaDNLTVlIAE6ibAQ0gkohcYFoLzjRPeii+MpcdBxwm69yBcN6Sya8eDHQ+SOCyIZa2YEs16pj15a4ywxpAy9t2jNpYpgXsEugQSJrjscxy7nByuUffKWPq73nMp3nT3CR5L23DJL8qDU59oUPR1+3w+Ixpwzeqzs6utL/V+9F/kzXWxb7dN26jPiAnb+zi9iu6YkPfYQ/ra5n/HZnRn/842jD5/235dk2V3Hju2rNj/tqwucWlsWZGtiwS6CSiydHNxqwQkIIEqCPCAGomx9DjoRL4wnOQclSPMm4fiVoAhUoIHjF6nI44peElhGnxJCF4k+F/aI9qI6BTEFEQyxDLFlBRNqpEtgejDOI442+2mdv0qmiWcKwSFW6dn86FCYTPXO1Jr6/W6z/m83mfJz684NZnDpYtr8/XwVXD/iDT8iOF7BktsRCDuOoiok9v27tqvbxt9q+u7TdoomL2L9FskJvL9LNZ9YliXjV3b+urT1we68pi9LerRdR62+XKvaj/PWkffoL70j9t8bvtEV3t2RqbcZtT+HWVxPpPaTe36VsDqKmvMsKQ2X9cS6CSgyNKJxY0SkIAEFiRQYFbxIMJEhjjyrQBDpAROPs4+Igzh34gATHCIIEDioYvU9QBTYC03M4mHR7iQiESBFc4G/FoRJZCf4UtC8CLBn4fPzQy1IAmsTKArEqVrWFCXM7mXg8N524VlzhCXrvwebevixDF99vHd3RRO9E+REAdi9fQUO/8S6YdIqyzn8xlb+65pc4QJ8u2y+dZx7tpniW045AgSX0Rm8Pt3AP0lEttj0+ilTzgg8utWeBid+YgDus5DDr88H/BhwdTVhs/tFyypd1cf6TrukVld1yHyvxy3cFmXPP1PArcEFFluifi3BA5GwOpKoItAPCwzNhkRoJ3/BVEAgYB0EWJin3Mc+3EkxAQSwgICAwmxgYejNmURZq4FE2znYY36tIl6XhL1bxJDs+BCIhIFVm00Sp/DEdhcJFAdgS6hhOgJHNTrynYJCpxr1/ts9fmewzvViR5le+P0PTuBNwf32XezW+ef2H/L/vbvzgNnbOS6OePwzkP7GDCpbpdj3pnJlI3RNuTf1TZsm8Qy7hv3+vqW4l5fWVu1IQzbZqGvtp+f18Fqii1d/QUBi7Yk7+ty+Zu0WMQYmZkkoMhiHyiZgLZJQAKFE4gHIB5MEGNICAsIDCTEBkSHNj0LM3HMZYmqtdEyF9Ei/r5et8OYWnFjzvo63xefL4a8/O9aMMF2hlhRnzZRz0sKe10kIIErAnEq4TwiVF5tvXx8dqDCacUxvXVyEHX3EiSx+WJkx39fd2xbY1Ofs0tEwT37HtnSyTTaoC+C4VF+Q77/vyE7jdznnqO9Zl0w817+9+zi2HuJIbpd338R7cM50vXdYtuiDKJy+srpEkvnlt3F6vo60DVHytS+31UW9rflPUfQsLFJfcc0X7uSwDgCiizjeF3t7UcJSEACEphDIBwyHKuLYBGfb9ftMKZW3Jizvs37+e859nusBCTQSaDLMbqe0PJZcLk6uuuYq6/X+xjXHkShPoeXSIkuexczKJxd8sfh7cpzLpdOkSUKum6P+LPspWmjPhZdUVFLVqhPaOP+NSdC856Q0VfmFvVC2Os7HyaXH21IX+Rce5FH0//ZxnnA+jp1RaRcf9/5OcqiHMq7/b4toxVbrr+fVNZ1Bn4+AoHhdVRkGc7KPSUgAQlIQAISkIAE7hPoclauowG6HPyuXya6X8qy394r/7tli3qV27tXW/7cQATfn3+N/9TVFuSyxOSt5NOVutqX/bqcXrYPTX1ttJoQFgIA4ldftEefPYPqE0IAolGfSEM0SysIDMpvzE5Rrzexf1+9FhdYoqx26eoD7TCeLnvmRJd0HfsfUXeGDHWJLF37t3bnWGtlUQQUWYpqDo2RgAQkIAEJSEACqQngPL6qQDg3rWN/LbiwHxEBXc4X322SwuHFwSJ1lYcTeE8I6Tpm0LZg8jZ27HL4YvOJiLs+J/w08F9fnXA0cbQHZjNst6gPjnJXfWhjoguGZdSxV7QR/aovj8XbJ+oCo3v5LiFG3BPR+CUjbOigMX1T1Iv2uRcp84/pufcf2XzTJfoxTKhLUCKiZs51oausvv7JsOe+vtWY7koC4wgosozj5d4SkIAEJCABCUhAAj0EwhnGWcEhvt2DCIdbgYV9uvZl+9bpnsP7JpxTohoWsynyw7G85+zes2eQHdEWiDR9fL9ubBiU18Cd+kSJPhsGZvu8W58AwOTKUyOOnjO/+UB+fSIHw1lhe3PIuD+jfRBq+vJBEOCXjMZlemfvaG/qs3q97pjQJfoh+pBuD+va93afe393Hc85R7o9rmvf2338WwKjCCiyjMLlzhKQgAQkIAEJSEACDwh0zTeBc9M14eSsYRcP7Bj8dTi8OFr3xAAiCxYRWsLZhcU9Bxon/ufTabD593bsEyY45oewpUv44rtRKfKBTV9e92wYUw6/WoeI13UMQ2wQELq+G7Ut6kI+fXWhfH5Jb1Sed3a+lxdDoeh3iCN3snj8VdSJPH6KPbsEjdh8Wrpep9t/zTl2u5lzoeu60BWJcnts799RFvXpioRB7L09blZZt5n5twQgoMgCBZMEJCABCUhAAhKQwHAC9/dEsLjdgzfzt47r3CEBt2XM/ZtfNcM568sHh/dd47D27XN3exzLECGcXZzern2JbLjneHcd07stnE3agtS1DzYgtCxRJ4SJrjIQjKhT13ejtkVdaBvaqO+4i9ASjKlX3z53t8ex1APBqG+/bxo7+r4ftT3yQthDPOo7Dlt+Crv6xJG+4563x7EIGb/Fhnt5fBm2wDd2W3Xp6ovYd1to1363+zz6uyuPLgZd+z3K2+8lcJeAIstdPH4pAQlIQAISkEA2Atq7L4Fw1nCqu94i3zq/OJj7GntVetiNk/lpbGIdq86FuUx+CccVh/62Pp0HsLHZH0f33hAhyv28sYPDlkqINuTdlx91+i1sfBsJMaxvv+ftsd8HkWBwr06UOXvY03Oh8SHY0GcYZhN/dS6IErRPl+PeeQAboy4MOUL84ng2dSXmybkniHQd83Bb1In26Tpf2mMRBqgTIt+g9uHAqBORMNSJdK+vfhs2wJXD1k5DokaYw+cej6E2DinL+ViG0nS/UQQUWUbhcmcJSEACEpDALAIeLIGjEBgyDKhrWNGufMLZxLnD6b1nB44uEQ8IE0SCMGcLDi3bT+HcMlkufyNC4Bj/OzJj/8v38blvIZqA8vu+n7R9YJ1wwhGAqFPr0CO6UI82UU+24bQPqdNXUTaC2yS77xxE+9zjBGeiP6gLNiNSvMou2qkViqjPL7HDPWGG8j6PfdZaEPco417+CEDUifYh+ojJpGkb+hsiEZ/pc3yH+EW97tWJsog0gieft0hDokaG7PPQ1uh7Q4SjRcp6aIw7HI6AIsvhmtwKS0ACEugj4HYJSEACixF45OAwVOjRPosZMyajcM6IlMDpJRLj3qEIEwyBYsJXHFoc4Kc4oHVwEVZwjNkvNvculPNxlLsaj8ibOt0banNtHKIEdiO6UK82UU+2PXLcyYvoCMrk86Ip6gIv2ueRKIHYgs2IEqGpPLFGfCEhEpFoo0f1oTwEMNaL1qXNbESdOIT2IfqIeX1oG/obIhGfqQ/fUXf2vZcQWIb2iXv5DP4u6jlE1BgSgTK0zEflLVnWUJvc7wAEFFkO0MhWUQJVELASEpCABCSQhkA4U0Qw3HOCVxMUloAU9uOc4chTjyWy7MsDRp9Geaz79llke5SB6EE0xmpiQWMogsSq0RFRF+pA+9BOTbEPV4gTCCqkR8JXm9mlnChvi/ZBePw4CqadYrXaQp1oo00FlqvaPGqzR99fZfXw4yMRZcmyHhrjDschoMhynLa2pisSMGsJSEACEpCABF4RuOfAFDdU6Nb6xrHG6V18Ho6mLCZRJYJldQe+Ke8UdULcok732qbdfeyaelCftUWCi11RF0QJhJa12gdGf41yqNelzC3+i/IQP9YSw6gTot4mbdTD657wwXwsSwqb1LfHjBNz7CA4nfwngaUJKLIsTbS8/LRIAhKQgAQkIAEJ7EGgb14WnGOc/T1sGlVmOLzYSlQGzvw9h21Mvji4OO/80tCY4xbZN+qEI0t9SNgyN1+cYiIjEFg2FSQwPOpD+ywpHLX1QYzYxQmPOnF+/DXqx8TBS9hwXafN2yjqcb3cO4/ufXedx6DPwfFefvfEnkH5u5ME+gjsLLL0meV2CUhAAhKQgAQkIIGdCODU4ZzcplHOWTg47I9zd1uN/4+9O8ppGAaCAKoeoUfjRhyJIzIPJaKJjGQXQ4xYlFVI46xnZt2PnVqtvOfXlr4OF596MyU0vnZO4DaC2XhmAHOFIdHSZSTft8dunOyauCeZnRN49dbGOAYAYwWnGWZNYDx3hItfiXmszzP6MjbU5nI+VAgnBh8jzppTJ/jc6g0aqAuzaAlOgIeXtfNV/MQOt31dn+cc1RP8ilKgS4EyWbpkqkGlQClQCpQCpUAp8D8UKJZpgj4a1pw1Z4/BJBgSKDk0dzkdDg39aJ5Dgv1iKMmEwZnXLhC/mmPnBHNCY89saAW93L/nOWaEL4PV+E5AMi9FsGnm33LGS73z7+2WGWA/xO3zz7jXXDKPMnSNI3j2+jAmBHNCbTTU5yZb8+0ejmr0kueZEmuQ2VAEk/r4klr49rpYW7C3wvvL+04wjfDesq1xCifrpxXqNBVk5trX9Xm+pdbuVNKV7HIFymS5vAQFoBQoBUqBUqAU6FSghpUCpcAyCqR50/za4cJsaAVTxX07g5bB3Qsk/GA/RO+zK4wLfoYLc0JtGBTnJlvz7R6Of6ZG4QWvtQV7Kxhmy5l5K6yJwlAK/JYC7wAAAP//lNnZ6wAAAAZJREFUAwDaE5NWOY8CogAAAABJRU5ErkJggg=="/>
          <p:cNvSpPr>
            <a:spLocks noChangeAspect="1" noChangeArrowheads="1"/>
          </p:cNvSpPr>
          <p:nvPr/>
        </p:nvSpPr>
        <p:spPr bwMode="auto">
          <a:xfrm>
            <a:off x="155575" y="84138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172" name="AutoShape 4" descr="data:image/png;base64,iVBORw0KGgoAAAANSUhEUgAABFkAAAHwCAYAAAB9trC/AAAQAElEQVR4Aez9jZ3kRJZ/D2c+DjyMBctYsGDBDyxYsGDAgmksoLGgGQtgLIC1AMYCWAtgLRjWgvrfky0VWVlSpt4VN3T6o2hlKaWIGydCL/erG5H/v5P/JCABCUhAAisTeHp6+jDSJzfpi/j7bU/6Ibb/tFD6LvLpKwcbbu36YGUcZi8BCUhAAhKQgAT2IGCZGxBQZNkAskVIQAISqIlACBYfRGqFCUSKVsBAzGiFkV9in+cl6v9bpJ9u0nfx99c96bPY/slC6YvIp68cbLi169/Phr//0NaJNXVs60vdWw4KMwHZRQISkIAEJDCdgEdKoA4Ciix1tKO1kIAEJLAIgdAU2oiTz+IzYsK7WCMukC7iQxT070itMIFI0QoYiBmtMPJR7FPL0taJNXVs60vdWw4XNsGKNaxI8CPBEjHmw1qAWA8JSEAChyNghSUgAQkMJKDIMhCUu0lAAhKohUAIATj8OP4IAERmIAj8Ftufoo5txMkP8Rkx4U2sERdIRmsEjAcLjGBFgh8JlogxF8bBmTXMEbBoA9qC/R9k7dcSkIAEugm4VQISkIAEyiGgyFJOW2iJBCQggcUIhCPfRqTgxOPM49QTZYGQgsOP448AQGQGDr5RFovRf5gRrGGOgEUb0Ba0TzTbE23EZ9qMtkMQY/+HmbqDBAoloFkSkIAEJCCBQxFQZDlUc1tZCUigNgJPT0/t/Cg45G1UCkJKG5GCE48zj1NPlEVtCGqrD21EW9FmtB2CGJEv0dRPiC+08ZunpyfEF/atrf4b18fiJCABCUhAAhKQwLIEFFmW5WluEpCABFYjEI71R5EYWoKggsPN3CgkHHEc8jYqZTUbzHhDAq+LQnyhjd/FV7Q5US8k+gJ9gr5h1EvAcZGABCQgAQlIQAJ7EVBk2Yu85UpAAhK4QyDEFIb74DTjPONEE53ySxzC0BIEFRzu3SIZwg6XMgjQB+gL9An6BlEvCi9ltI1WSEACEpCABCRwQAKKLAdsdKssgcoJpKxeiCoM/0BQ+SE+E53CcB+cZpxnnOiU9dLoXQj0CS/0LfqY/WmXZrFQCUhAAhKQgASOQECR5QitbB0LIqApEjidQkRpo1SY3PSX+JsoFYZ/fB18PouEkxwrFwksRoA+Rd+ij10io6Lf0ffog0RMOcxoMdRmJAEJSEACEpDAkQkoshy59W/r7t8SkMBqBMKhJVKFSUuJUCERpcLkph+tVqgZS+A+AfoefZC+yDAjEn2UeV/uH+m3EpCABCQgAQlIQAKdBNKILJ3Wu1ECEpBAHgJMVorzasRAnjY7mqX0Tfrod0eruPWVgAQkIAEJSKAsApmtUWTJ3HraLgEJpCDw9PTEUA2iBlLYq5ESkIAEJCABCUhAAr0E/EICdwkostzF45cSkIAEFiHAXBiLZGQmEpCABCQgAQlIoJ+A30hAAnsTUGTZuwUsXwISOAKB/zpCJa2jBCQgAQlI4C4Bv5SABCRwAAIvRJanp6c3kfjVgYyJseQHaLJ5VYz25VckMrbvEJsZkjEPUOVHR/t/EWkIy9L2yR4J4k/mVn5uWb19CcR17aNIpV23jmYPPw9+m7jnMOl3m4q+T+/biy1dAhKQgARqIfBCZIlK/REJZyBjyu6EBfpNlr9FKRnbd4jN9oFo3AfL3+P7ISxL2+fXsDvlEo4f/VLHImXraXQiApxjpV23lrQnQ15fR3+5TUyi/FNsb9O/45rYLr/EB4SoH2LdijMXMSb2d5GABJISiPO5Fb35tbr23G7XvOy9nOexX7v2RXnSttbsfgK3IsuP/bsW/83/K97CnQ2MixkPoTh8O1uyWvH2gTtom/bPOPnq7+fz+fc7VSv9K/tl6S2kfTMJeLgEJhHgfoR4xHNJK85cxJi4X7EgyCDC4KgRaY1DxnPMpMI8SAIS2IwA5ynnNr9W157b7fqHsOJynl+tf+OE70itEMt14Da1ok3X+jaCjmvHdcK+KN5FAusReCGyhCNDJMvP6xW3as6czKsWUEHmtTPiQa2CZlqtClnbP7P4S2PaL6GwV7JcCUggKwEcIe5bOGrvohI4ZggvOGREvyC8INTEVy4SkECFBDi/uQZ0pVa06VrfRtBx7bhOXEc6NJ3LJq4vt4JO+/e72KNL1DE6p8LON7dKL0SWJrP/btbZVh9Ex+dkzGb3lvbWPvkmfYAL8ZZMM5WVtf3/lQnyta3NNak3DPZ6Xz9LQAISkMAgAlxTEa8RXnjTjcNEtAtvrxFmBmWSfae4v/BmvsvhK3Jbdt7afxgCXF/wJbrSm6DQJeoMjc7hetUKNqy5bl2fr5zTbcKOKM4lK4EukSVrJAttwE2XtambwBH4ZBUSults2a3cMIbmWMp+f5zP58yRLBmZl9L22iEBCUhgCAGEFaJdeHuN4EKUyxGed7i/dDl8pW4b0pbuI4GaCRAMwHnbJq5b1+frdbQNETWhpV4WPiPKkK6FGQWZgnvLK5ElHBommMw6/4FzH/R0tjhFeeDgQaRnj0yb79pKPe/ucMQvo/1RxEnZqp9Z9IW1oh8UTBKQgAS2I8BzAEILjglviY/w7LMdXUuSgAS2JsDze5cw04oyXOviUf+yIMSQ2qFN7VAmr4Mbt9orkaUpP6tjg6K3bydqABa4Ooqz92FcYlCKC2yCXU3i4ryrARMLzzp88RT9kGtRVu4Tm8vDJCABCRRDAMeEt8Q4IIotxTSLhkhAAisS4LmT1A5taocyEeUXj6ZP7ZAlronMa6XvvERjdOTRJ7KkdWyijnSsWLncEODNzs2mav+0D7xu2qwiW+ahQkc65173OLdIQAISKIMAgrdiSxltoRUSkMDGBG6K40U0fhLXROa1IhqmFWCIgGmHIyG+IFTfHO6fQwl0iizn3HMgOGTopvWfnp5w9njIuPmm2j//Vm3NpleMC+r0o/c58te4FvGLZ/uUPr9Ur0XzGZqDBCQggaUI8ByEY8GbXJ6LlsrXfCQggWkEPKosAvgK7TwxiC9EASLAIL4Q+cLQI4WXgW3WKbI0x2Z9g0wHaargqiGQNYqhMX/06qMQlrwINNiCBao1D5fNljSrf6axtNtQH+K7ubhVAhKQwJ4EeD5gzhZSxnvjnuwOVLZVlYAEggDXSHxrBGqGHiG8kIh4YbgRPkbs5nJL4J7I8q/bnZP8rYP9uqGO6OxxQXhN4phbsrZ/1rmhmI+F/seN6Zg9zlpLQAISKJ8A90acBdblW3ttoZ8lIAEJ7EcAoZqIF4YbERnIdRTR5Yt4seuzb9Mu90SWrJEsVA0Hh/XhU3R2Hh6O2OGPFr1zr69nHLby+/l85pfO7tWr5O/sfyW3jrZJQAKrEUiWMc9HRLTgLCQzXXMlIAEJFEGgFV2+C2sYXoTwQpQL22PTMZdekSUcnN8DCSlW6ZaMTuVakI/q7DFukIentbhmyjej6Jg2iqXpGIibzUdXEpBAIQQ0QwJ9BHAImHfA54Y+Qm6XgAQkMIwAQ4gQrolwITGfy+EEl16RpWGYNZolo1PZIF98dWQWR677pSM1kUyXz8n+S/sLZ8GcGwkpGXLN3ZeApUtAAjsT4JkBocXr984NYfESkEA1BLieMp8LYksb4XIIMfuRyJLV0fkwHB1UtGp66JSKNAzo3FMOr+GYo0bxXLddyqiuc+5fOKsviuW6R/lZAhKQQL0EeHbEEWBdby2tmQQkIIHtCXBdJcKFIUXM4YKwvb0VG5V4V2QJR4eQ/aw/oVp1ww3sH0f/KWOd3dMp43kwKoLuVN6/lMJWeRi1SAISkMAuBHjLSkQLDsEuBlioBCQggcoJMHEu11kiXBiuyXW3qirfFVmamiK0NB9TrXR0TqejiwwfPD097SkynPb8F3XngpXxITFrBB2/KgTzo593e3Z7y5aABCSwBAGu5UyIy3qJ/MxDAhKQgAReE/gwNhHdgtjyLnwX/o5N+ZchIktWh+fQjk50UpzrOx01f+cdWIMjDxnKeg5kFXbpkocV9ai8SQISkEBFBHiG4k2rQktFjWpVJCCBIglwnX0TliG2MJSI62/8mXcZIrJs7/AsxDOEhiM7PEcfKtT2oqxCQ2v/nHXGaK5fz+dz1l81o62OLOpRf5MEJCCBmgjwwoqfJa2pTtZFAhKQQHkE/rSIoUTpxZaHIkvj8Pz6Z71TfTqyyHJkceG6kx55EuSM/T+tqNt0Os+7BoQrCUhAApUQ+Cxe2vGGtZLqWA0JSGAsAfffhcC12EKkyy5GTC30ocjSZJx1yNAh3yrHwwBvXtKHWTV9b4lVRrFhVr0T94F/zqr4jgc3zNPdBHZEZtESkIAEshBgrgCerbLYq53HIWBNJVA7gVZseZupokNFlqy/9vFROD5HdHocKvTyLDwij4zC0h/n8zlr1Bw97oj9jHqbJCABCRyBgMOGRreyB0hAAhJYhAD+/Nfh1zOMKIWPM0hkaRyfPxZBtH0mKRpiYSwOWXgJFLHtaJE9GedjySrmtr3tiNeatu6uJSABCeQiMN5aniVSvUkdX0WPkIAEJFA0Afw5JiTn19/4XKyxg0SWxvqsDlBGZ7NBPn4VCh/hrEV3uvG1WuSIoznAGeubdVgiP93MOce5t0hnNRMJSODYBKx9sQT+Hs9ZXO+LNVDDJCABCRyAAAEFv8T1uNj5ssaILP9K2mA0QlLTJ5md0bmeVNGRBx1mfp644NAHCKsbiWj33TNPegvz3QFqgAQ2IGAREjgyAe6tDhs6cg+w7hKQQCkEuB4zXxaRLcWJ32NElqyRLPy6THHgV+ydzgvRDZdfB+Bk7P62rq0ZHf6fz+dz1iGJ9J7DiHhUttykZRKQgARWJ/BJ8zJj9YIsQAISkIAEHhLA7yGqpajAisEiS+MAZX3TDPyHLZR9h7jpIyY5ZKG/IQ/RD6L6GR3+tEOFgjfL4ws7e5kkIAEJSKAGAu9qqIR1kIAEJFAJAV6kM0/Ld+EP83n3ag0WWRpLszpCGZ3OBvmolY7efVzV94PmwjJaaLuPbZNvs0bKMR+L590mXcRCJCABCRRDgElw+VnRYgzSEAlIQAISOHFdLmL40FiRxUiWU9H/ahwqtCTwIzjDGaN1fj+fz78v2dAb51W9eLcxT4uTgAQkkIHA1xmM1EYJSEACByPAy2aGD+3qE40SWcIR+jUaKaMz9EG84Qd4mL/kUk5eUT+HCj1uDvrBrifcYxNn75Hx17TSRrE0rVV7n2qq6UoCEpCABK4IMOffEV7eXFXZjxKQgARSEGDIEBEtRLYsbPCw7EaJLE2WWR2i2h0hb/RNB32wqj3qIGM/yDoMkaFCiLcInA+6nV9LQAISOBENnD3xsu3kv2cCf3/+5AcJSEACexOw/FsCzNGyyy/CTRFZ/nVrfZK/a3euHSo0rCNmFCEG1ayJZsrm8P9xPp9xOgbVscCdqu1PBbLWJAmkJhDXuk8rSB9HHV4t0TB/jfTpVfo8Pn8T6ftINQsz/NJQtvtuNImLBLYnYIkS2InAh9w6cgAAEABJREFUF+EjIbYQ3bKZCaNFlrizGsmyWfMMKyg6Djd43qgPO+DYexHeWyurjNFaWa8n7VlUu3jb1tO1BCQggV4C8WzI3Fo/x7pNP8bnt5G+jPRxHPiXSAgviC5/xOeaFqNZ8remNZCABOomwLAhhg9tJrSMFlka/ikdoxAjMjqhDfK7K9+m38Xz6sta+0HG+ViyRsYxVIgLda2C3auTZqUNvOEmkuk68fZ7SPoqbOLNOY7bkP3Z59s45rosPmNDbHaRgATWIhBCC1GLCC9fRhlEvbDOOMdfmP9qWfkZ7FV5bpCABCQggfEEeGbfTGiZKrJkdYxqfetca73Gnz7Djqh1aFXGB72Ugm3TzTLybkxfbYVoQeJtNaIGCREEMYT013C2rheGHtwOoeDt95D0bWTEW3MctyH7s89XccxtedgQm98vQQYHEFtJOILUgUSdqBspdnORgAROExDEmYbg8n2sOdc4x7KLLUTIej+Y0Bc8RAISkMDGBDYTWqaKLFkdo+oiGJ6ennibXl29Vj7hPgpuDLFauZjtso/6cNGgL2xX6PySfo2H7Mxh40cTN3GEEBgQGxAdcI4QIq5FilbAYIgAogYJEQQxhEQe83vOijlEn7we9oAjSB1I1KmtX+x2PocZDIOAAVE1MIENjDL366hWHYu1KJ/A+XzmnOE8IsqsfIP7LcwYSdpfG7+RgAQkUC8BfKbVI1omiSxxU+RBOWOINc51Nkf0URf37ckjQt3f1yZMZazPP7ubJs3WjMwfwUUcQCTA4UE0QEBoRRSiUBAZEBsQHRAgEE4y3gsecRj0fdwLEQphQFQNTGADo7/Ed+fIBH5E8sASZxK2MI6vXCQgAQjEuUJkC0Il50vW88NnMRrTJAEJSCAHgYvQsqapk0SWxiAeFpuPqVa13QiP9jZ9qc5WG7eM9cl6DWE+Fq4j2QVb+COmtM4NwsBfzuczIgHDahANEBAOK6LMvdicz2f4EckDyy/jb9gyASgJhxL2rfgytziPl0BqAnF+cE3ivMh4zWHIUFURsqk7k8ZLYDwBBF6uQVumjNe68WTLPYLgi9V+3nmOyPLf5TK7a1k1IZ1P74cK4ezdrbBfdhKojVu2qAqGZIy/uXQ25S4bM11H2gcHoimIqiAiJfyZMw4/YgpRGIgB7LcLzKMVej6feXMPc9i34ss5ODBsgjairXjQs00CistxCMS5wX0hq9CS7T58nI5lTSXwmACRqTwXbZnaSOG49L1fwkzmquIaSGqfB3gmYKoOngsYTRK7uSxE4PLzzgvl9SKbySJLdAUaOuMDYE03wdqEghedc+0/QqRalN/a9vblH/XI2Ke5WfRVKcP2kvsO12ZuyNycEVSIUOGhgWgKoiq8QRfaw+K+ykMebURb0WZEvPDAxfw3RB3RtoVar1kSWIZAnAc8W9LnWS+T6Ta5ZBLftyFiKRKQwCgCcf3jJSQvYUjt8wDPBJ/HdzwX8FzHSxmeDRBiiIhtnw+yXTNHsVlxZ4QWfuJ50SImiyyNFRkf+GoK6Rw6RKRpLlc3BGrhl7EeWX+hjKFCjOMsJSwcwQTBipts+0aEmzA3ZG7OfH/T7f0zE4F4qOKBi/lviDqibXm4ah+saHsfqjI1qLYOIhD9nogWrmuD9i9kJ+4NhZiiGRKQQM0E4hrJswFCDBGx7fNB+2KGl2y8bMvop+/VbN8t/dJ6rsiywJChXViW/BZ6EJDoCMwHkb4egyq73k618EsXyRI3B5zD9Vp23Zz35I1owhwevOXlbQaJtxvcZHFK1q25uRdBIM6f9sGKtuehimFGOKScV4ouRbSSRswlEP2ca10mJ0GRZW6je7wEJDCLQFw3EV94ycbLtusXM4WJLrOqudbBPzT+9SL5zxVZeKBbxJCNM6khpLMWgWDjpn9R3AdxMqV+KAr7Eduy1SHrdaPtPFtGDuEww+taVGEODyIbEFxam1wfmEA8VDHMCKFN0eXA/aDSqnPtS1O1uCfvKcKn4aShEiiaQGXGxTMCL2YuoktUjRczRLogYvOMGZtcGgL4VD81n2evZoks0Wg0Tsa3pzXcBLd09GZ3tIIz+FvBtg0xLaPYljUCjqFCXIDXvn7w5paoBIb/MJ8KjrOiypCzwX0uBOLefCu6MLyIt1gZ79eXOvnfMQlEX0ZMxhnIAoB7RBZbtTMhAU2WwBwCcU1l4n0iXXhh1wouvMybk21Nx/KLQ2+XqNAskaUxIKPDlDqCId6UcBPP6Fw3XaaoVXaOGaOyEBGK6gQjjFmjvyBW40TwZgFRhfBOohJ0iEc0jLv2E4iHqvYtFsOKeKgiOoA+R9/rP9BvJFAGAQTCMix5bEW2yNLHNRq+h3tKQALJCMTzAYLL5fkzTOcFH8J2fDz08nX42rNfqC4hsmRVv9ZwlrbqkbMbfitDE5STfSLkbH2BN+yZL+BLiVowYDb4NlqFNwrc6HR6E1w0MpsYD1S8xSIyij6H4MLDFX2RPpm5atpeKYHos/TNmeJ8pXCslgQkIIEFCMR1lmcDXvC1v1p09GsuE+ES1DCZ7myRJRqFt60ZHYOlnKXJ8GccmGGoUKZ+kVJwC5WVX7ghzehKmx+aMfLtGtKcvsI5wVsCJqslMRs8267z97MENiUQ93DEPfoiD1ZEuii4bNoCp9PJ8oYQ+OeQnQrYJ/OzZQH4NEECEtibQDwXEP3KMGMSUa97m7RH+fhXX88peLbI0hSeMZrlk3BSZylUTd33WM1x9LayF2c6S7/IOi9Lhn5w29+y9Ilbu5mPhaihsdcMRJRWWCFqhbcEvJV9lb8bJLA3gXiwItKsFVwu5vifBAohcPS3qoU0g2ZIQAJHIRDPBIgtDC9GbDniNfhNaAU8+09q8qVEFhzqSQbsfNBkcHvZHY2NYz3W0dvDXJzpLP2CSY4yML1tx2xvzPhZOUSH23pk+XtoBBkiisLK+q1qCRKQwEEIxMM+11XSQWpsNSUgAQmUQSCuv4gtCC2ko12Hv5vaCkuJLFnVrWxOKu081NFj373SxZmOkxKhJctQMsSrvXhNLTebSJj1OtG2z70+wk2HYRZEq/z1fD4bsdJScy0BCUhgGQKZRfplCJiLBCQggZ0IhF+H2MLQYiYjz+LfzaXF3J2Tfm1oEZEloAM6owOVzUmlo9xz9Pi+hIS40tpx/bndVuI6g3j1zO3p6YlfMJgWffOcy+YfskQ2vQITvBmbSbr9jrGqn8c10DlWbsn4twQkIIFlCfzPstmZmwQkIAEJjCUQz7yIDszhltH3H1td9v974wfweXBaRGRpSsvoQDFMpMtxaqpU1ioaGIElg2N9PUHdqH6xI3HY7lj86KKz2UsFM1+Mr3nzNpUxqn+JGw2/0JJFSKQNTBKQgAQkIAEJSEACEphMIJ5/GbXA8CGGx0/OJ8mB+N6jJ8FdUmTJ6kANjWYpoR9kiLbgpMMJvfCKkzCNA9qIWBe7E/yXbagbv2BCxFsCtJ0m/mdsJWqF4UCk76NvZ65PVMdFAhKQgAQkIAEJSEAC0wjEs/BlqHwczbD5WFW3tBX6IvxERhG0fz9cLyayBGQc64yAMzmr12/THzbuTjt0iSpd23Yy726xGUQsfuUGRTWTOAj0f/Ff1hTXNyJWSFznslZDuyUggf0IKMrux96SJSABCVRIoIwqxTMyz8YMH8ri700F927MgYuJLE2hGeFmEC5wrLET57pBXezqeqhQa6RDhloSy6yzCSzUOuO1AbtNEpCABJYgwEPoEvmYhwQkIIHyCWjhoQiE0PJHpM+j0kyKG6sql0+enp4G+2BLiywZ31Z/EMBGhf/s1G0yRNy8GCp0xSmLg21fuGq0BT/+GhfejFFuCyIwKwlIQAISkIAESiCgDRKQwDoE4nmfSXGZt3CdAvbPdfDcLIuKLAE2izN920SDVanbAzf8m0iWDYubVFRn+0e/IEy687tJpax70N/WzX6R3DP01+uKZp2v6boOfpaABCQgAQmsTcD8JSABCaQmEH4fcxgyKS7+X+q6dBhPNMugH81ZVGRpDMniTDfmXlZFR4k0kTaDGvRSm/3+uzcs6N53+1n8uuSixazoC/SDDJFX12SztP21zX6WgAQkIIEXBHb/gwnIdzfigQFGbT4A5NcSkED9BEJo4QVrrULLoGiWNUSWjEOGinas41TMEF3BWDxOqDC3c8kivn3YCBmdlShgY7Yolkf9ogCkmiABCaQnYAWOQICXDKXX839LN1D7JCABCWxBIIQW5iKrUWjhl4Ye3o/WEFmyONMv+lc41iU7r6WLQLC82+5xohEydncfMikklcy76KirjvbL0uYdprtJAssQMBcJSGARAhmiOHnWWaSyZiIBCUggO4Hw/6oVWh61zeIiS8AkVBKgj8ou7fsiRZYQf3ioeKiWFQBzyJCQIfsUUJVTyZFDJQtAXW2XMbKtqx61brNeEpCABIonEM9CWe59GZ9/i29/DZSABPISCG2A6yK/PJS3Eq8tf+grLi6yNDbcGzbS7FLc6r+Ks+i9QQ8b8f1uu/7PkJAhEQtD9tm1Ik3hH8UDXXE/lx02IbgVZ1fDrG81o837snS7BCQgAQkcjECpz2i3zYAzcbvNvyUgAQkcmkAILWgDNf3qENNL3BX/1xJZskQsXHf4Ih3rMPBuA8b3JSyDHOk4wQijHbRvAZW6z30fA4uMtrqD4uemze/s4lcSkIAEJCCBhwRKvCffGv2797xbJP4tAQlI4D2BuD7yq0Ok9xvy/383EGIVkSUgolbhUGfDV5QT20QujB4qtAP0MaJaluEjJb41yzYfy5h+sUO3tUgJSEACEiidQDwLfRE2Zoji5Nk3THWRgAQkIIEeAl/F9loi/j6L+1PvvWkVkSXgsXTdbNhecirNsb6rkBUCcuhQodZcI1laEuPXGd7kXdcqS1tf2+xnCUhAAhIoi8Cgn8sswOQsL5EKQKUJEpDAgQg8V/V8PhOEwbAh1s/bE3/o9c3WFFkyvsUuKpIlOlxvw8V3pSyjHOk4udJMjBzqZDH8w5bS+uaj/kfYNG39aD+/l4AEJCABCXQSiHsfUSwZInqxP+PLRew2SeDABKz61gTCFySS5Zuty12pvN4AjTVFllHO90oVH5stk9gUcTOPBwvsII2tw9b7TxHT/rm1kRPL6z1xJuY357BsIkvG839O+3isBCQgAQksSCCegwjDfrdglmtm5YuFNekeNW/rLYFKCYTQ8m1UrQZhunfI0GoiS8AjDAilKhimWkpxZouJonjQelNOkCwOeEltUJLg86BLXL42bPqCwf8kIAEJSGAige/iOISWWBW/ZHmuWQykGUlAAhKYSYBhQzOzKOLwTn9xNZGlqfKUKIfm0N1WpTizGeZj+bER00Y1VhzDMJIMAtwH8Sbto1GVW2HnsIGHzN3tGFG1sfP0jMjaXSUgAQlIoHYCcd9jmFDng+uAuu+xS5YI3T3YWKYEJCCBVwQaf7CGYUOdP0yytsiSUdE6bgkAABAASURBVNnfPZIlHi4YJpTBqZ4jomV5IClB7Nq9T766Mt7fMCW66X6OfisBCUigCgJW4hGBeAZCYCGK5dGupXz/azgLGV4clcJLOyQgAQm0BBg2xMv39u+M684XAquKLM1Nh2FDmYCVEL3Q2VgFQpwjos05dksUJbRFKdFVQ7nPEd+GluF+EpDA0gTMTwI7E0gosEDsH/xnkoAEJCCBcQRCK0AnyB7N0qkdrCqyNJizONONuZfV3pEDJURPXEDc+W/SUKE2vzipUC0zvPkpYTLkvftj22xD1xnP+aF1c7+dCFisBCRQN4EQWN5GDTNFsIS5JxwE73kn/0lAAhKYRiB8wu/jSPzCWKVdXvlqW4gsGd9q7xY5EA8ZRxgq1J5BWYYM7RbN0vQH+kTLrPQ1YdM8dJZu55L2mZcEJCABCUwkEPe5jyL9Eod/HSnb8n04CN7zsrWa9kpAAqURyB7N8mpeli1ElozzM7xSozbsibs59CPruMSbmyXyGGn2pN13E93C2pl9MXLYdskoqm5LyNIkIAEJSOAUwgqRokSuILBkmIeuq9UcKtRFxW0SyEcg0wvNfHQfWBxidfZollf3sNVFloCGwp9OaImb/15iR/VDhdrz7Hw+ExqWYcjQJ9Ef+IWf1vQt13sKPFPqmUU4m1I3j5GABCQggZkE4n5K5Ariym+RFZPcxirlQhQLzzEpjddoCUjgBQFFlhc4dvkjs2jNS4MXfWh1kaVponRvt8PuV2E/sW3VJR48aJxXStiqhU7LfMn2zCLA7SW6ZYpk+T1E1Qyi2bRe71ESkIAEJDCaAM82kT6L9C4SwgqRK5nFFRjwAvErPpgkIAEJSGARAkSzcG1dJLMpmcw85oUPv5XIkvHt9h7O7V6O/Ng+tWR7ZpmXZfOIkngY5WTdK4JmbJ9g/yyCGbaaJCABCUhgJgHuU5GI9iR9EZ/fNumnWP8S6SmKQFj5IdZvIvEyKVbpl3/ES4XMzkD6BrACEjgYgeqr21xTl/Qxt2aG3/Zc5iYiS0AjnJL0XHCCD4Szbu3gbh49M6EdFp3YNPoGkQ8Z+oai2+POsmSE0+PS3EMCEpBAHgKEErcCRKlrhJF76TdEk+sU+IlK+SnWJIYAMXktiXvmiwfO2KeWhahNfgmplvpYDwnMJODhEliMQJaX710V/s/rjZuILE2BGZWpzSJL4qEFQWez8po2mbJao/Nn6BsfRBtt3T4ZRLfnPhSCWYZ2fLbXDxKQgAQ2JEAEB+JDyQlh5F6iDhsiK7aoL4u1TMNeE3CLBCSQhkD4EkTFZ3j53sX0xT1yS5HlX13WFL5tSyd3awd+Kvo1HOk1hJup9bt33NZDhnjYvWdPSd+t0S9Kqp+2SEACEpCABL5tnIBFSJiJBCQgAQm8IpDVp3gRvbmZyBI3pYzAtnRyt3bgX/XoARsYKrS4uhh9wyFDN/B3iJq5sWD0nw4VGo3MAyQgAQkUS0DDXhPg+eeb15vdIgEJSEACCxLIGJhxqX74b89Cy2Yiy6Xk0ymb0MIY6hehP6cV/kWDHHmoUEs0Q9+gPzyfPK3hK623jKJaogqE9y2Rj3lIQAISeEDAryWwC4HP46WQk93ugt5CJSCBoxCI62wGn7CvOfDpL99tLbJkfNu9xTCeLcq4NPjM/9bs9FmGDP1tJsOhh28ZRTXUpr79Volw6ivM7RIomoDGSUACNRL4Mh78ibqtsW7WSQISkEBpBLK+vH1+Gb+1yJIR2BYRBYcdKtSe0c3DC6G47aZS16uLH01k0/NJWiqIK7syntdX5h/nozWVgAQkIIHRBL6PZ5TvRx/lARKQgAQkMJVA1iFD+0SyxE0KJzrbm4BVnerGoc4QybJFpMmakTJTT/Lb4/hp77WHkGXoD9dclugb1/n5WQISkIAEJFACASI1/TWhElpCGyQggSMRyPoC9z/aRto6koVys0Hjp3vXFFqyONRbCCCFDiej275Ia7fZFtFTLyo0448/QjzNJpzOqK6HSkACEpDAQQhwb/v0IHW1mhKQgARKIsD1tyR7htry/CJ+D5EliyN9DXNNkWXeUKFrK9f7/Hs40kQhrVdC5BxlIMBlmFRu7TZbs78F6UWXLcS3RQ02MwlIQAISkMADAjzgfxrPJRmeSR5Uxa8lIAEJ5CLQXHtTX39XFVm6mjOgZXGkr81fM7Jg7aiI63pM/bylI71lWVN5fNIM85p6fO9xkS9zsTyroL07lvNFRtG0HHpaIgEJSEACpRHgOVWBpbRW0R4JSCAFgQWNROxeMLtNsnr24TYXWZrqZXCkG1Mvq1Wc6nCoMwgsANhyzo0sTvtabZcpioW+wcMoa5MEJCABCUggOwEmuVVgyd6K2i+BbgJuzUVg9VEUK+DYXWTJOGPwGs7v2sNOlug7DBXaTEk8n88IcBnCw9ZquzWjppboD9d5/BztlaGtrm32swQkIAEJSKCLAD/T7CS3XWTctgEBi5CABG4I/O/N36n+NJJleHOt4fyuFQ0xvFaP90T0eLzXsnvsUebYGqwhumHDWvmS99IpS9TR0vU2PwlIQAISqIcAb0s/jpcG/kxzX5u6XQISkIAERhHYRWSJGxlvvzeLjhhFpH/nRZ3fZqjQB/3FFfPNlkOF2kpncN751alFRbLoE/SxDH2ibacMYlhrq2sJSEACEqiQwMwqfRvHI7BkeyYNs10kIAEJVE0AATxtBXcRWRpaGRzpxtTL6qNwgp/HWV22zPtvreEm86x6efSmQ4XaokOEw3lHiGs3lbpeug0RWUqt661d9I3UF7/bCvm3BCQggYUJmF25BLh/MffKV/HMkeF5o1ySWiYBCUhgHQJcp9fJeYNc9xRZcKQ3qOKiRSzpBC8aBbFoLf/MbM822rPsPwnc/7Rkf6CkpUUb8lwrZWiftepuvhKogIBVkMBhCXwTNSd6xYnbA4SLBCQgAQksT2A3kSXeHBCamU2hWmRelqenJwSWDMNC9hgq1PbyDJFOH0Zb8pPLrc2T15EP/WGRvCYbMe7ADO0zrkbuXQ4BLZGABCSwPAFElb/G8+fbSEavLM/XHCUgAQlIoCGwm8jSlM8Nr/mYYoU4soShGSIWGA6CELZEfUfnEQ9AREpkeAj62+jKdR+wdFRMdynLbP0j2ifbubtMzU+nkxlJQAISkEAqAtyvGBpEyvZyLxVojZWABCQggfcE9hZZsr0NZ7LTJaINlhJr3rfiOv/zULJOzsNzRWgZvvc+ey4ljiwRJbUVgQztshULy5GABCQggTIJ8ByDsELic5lWapUEJCABCXQRWHIu1K78V922t8iS8aY3y6l+yjNUaGEBbFI//teko7Y9aKkJkTMIby3ZDO3S2upaAhKQgASOReD7qC5zriiuBAgXCUhAAkkJKLJMbbjz+cxwkP2FlnEVmBtxMPf4cdZO25vhICVEK5RgwxCCswSSEN64iJCGlFXCPlnapQRW2iABCUhAAusTYHjzV1HMX+LZ8stI/B1/ukhAAhKQgAQ6CKy8ae9IFqpXQsQEdgxNsxzqKGTu8ZHF6ksRTnQ8JCHCFWHLA+Jz59iZFR31wLalv/61aZel8zU/CUhAAhKQwBgCzK/ybRxA1ArpW+9PQcNFAhJIT8AKXAj8x+X/pP+VILJkcKJfNO/T09MkpziOYz6XDBELJQlfJdnyoh9c/fFJtC2/DnS1adTHDNFNbYX2/MWp1gbXEpCABCRwTAI8MxKxwq8Ekb4KYcWolWP2BWu9DwFLlcBWBDL4zL0sdhdZ4ubImwhSr5EFfjE1cmGpX6JZE0kpQ4XaOvJA1X4ueT0nQmnOsVszyTa8b2s+licBCUhAAssQ4NmQZwBEFeZXiUfG8+fn85mIFb5bphRzqYiAVZGABCoiQHBCtuowCuNi8+4iy8WK04mb6CnRv0mRLFG/DM50UW0RD1N01qJsinbsWiYJb09PT1xA5kTBdNmy1rbfoz18Y7gWXfOVgAQkcEwCiPdMVvtNVP/LSK2gQqRKK6qwT3yVeNF0CUhAAhIYRCD8I3wj0qD9C9rp2U8qRWTJ9msl/KLMqIaPzoIznSHsqcThOSXadHs+TxXeph53W/4Wf2cQu7bgYBkSkIAEqiKwc2V4NvrvEPHfRvo+koLKzg1i8RKQgAR2JoDfvLMJ84ovQmSJG2pG522sc+xQoel9NUP/+CCEtCmRSpMiYKajnHVkNjF0VmU9WAISKIKARtRPAJHlh7iH/hSJz/XX2BpKQAISkMA9AmP97Ht5bfkdIzAu5RUhslwsyTdkaKxzPMUBb9BstipSzAgRjg5bpG03LTO2T3B4motItEOGNoCpSQIbEbAYCUhgQQLcD38LoeVdpFHRwgvaYFYSkIAEJLA/gUw/CnJN63/aP0oSWTIMCWm5seZhgPXDFA8LhDxleDtTcqRChv4xuE/QaaJfjNqfY3ZMCiw7wp9UtAdJQAISyEngTZj9S9wjM7ycClNdJCABCUhgYQKZfKTrqhMYcPm7JJEl2xjcD+MBYKhwkmGoEB2iZEe6ZNtgR6JPIKjxeUiaEvkyJN819llU5FrDQPOUgAQkUDABJsP7NOybmpgQlolhSdwPeWZ6fpiLfGtbeL5iCBHJqJbaWtf6SEACEughEP51ZoGde/2lZsWILOfzmZ/jezbsYl35/w1V2TJ0lh+jDYp9YGts26J/zO11Y9p6aP+Za9MSx/NAv0Q+5iEBCUjgiAT+iPvYzzMSE8IyMSyJX9zhF3j+EvmdAybCDSLMt/E5w30yzBy8cE9lCBHrwQe5owQkIAEJpCWQdagQwNEzWJ+KEVku1pxO2Ry5h5EIocbxNoZ0mv9v1RwyRCr8c1UCy2T+sE9QTPQL3syNiXrhsL3Sr/Eg/3zR2MsIy5WABCQggdcE4vqMeIMI81V8/jhSK7x8H3sX+/IkbBu6cL8kosW5WoYScz8JSEACeQlkFdV5mfLsLy0nsizTkBkc/euaDolEyNJRCD++rluJnzPY+FEIKENEtSz9gn6Q7bzEZpMEJCCBwxIIoQXhheiWvwaEryI9P/jF56wLc7XwC0RZXlBk5azdEpCABIYRWHiv8KHwrYf4UQuXvEh2LyJJixJZeCiIKmZ66/JBdIZHN/sM87EUPVQo+sRlif7BQ+KLDnz5orz/hggomULhMohb5fUCLZKABCSwM4G4b/Jm7dtYI7Ywn0umZ6wuejxzIbR80fWl2yQgAQm0BFynJJDBb+4D+8JHLUpkaSzO5tD1OtQhwKDE8UDQVK3YVaZIhQxDhoYIKCi1xXaIK8N+j4fzFxeNq+/8KAEJSEACSQjEtfxtmIrYku05K8x+sTB86Lt4xnr3Yqt/SCAPAS2VgARuCMQ1nWt7r199s3uJf/7r2qgSRZYXBl4bW+jnew51lo6S6YErg62fNReKzi4b3yG+kTq/L2xjtnmSCsOnORKQgATKIRBCC5Etn4dFpOxRLW/ifkpUCw/mUSWXZQiYiwQkIIFdCBChmPm/ire2AAAQAElEQVR6/uKldIkiSwYn+rrn3YtIyBDylGKoUAs8HhBrGDKURXwDe6YoJ+w1SUACEpDAAwJxL+VZ6+PY7cVDYfxd9vLaOp7BEFqyvLh4XQO3SEACEpAABP7Of0kTkf/4qM/mFyeyxI2fNyupbvrxJuWV0xzbuOFnGCqULXKIzpt9yNC96CfqV1IykqWk1tAWCUigWALZDIvnLR4IPw27EVxilXbhWeuXeO5inbYSGi4BCUjgqATi+k0UC75zVgSv/KXiRJaGbAYnujH1supyml8JL5c9y/sv48NVBpvvtT9v3srrCa8tShXl9Np8t0hAAg0BVxLoJBBCSzt86PvOHfJsJMSciBaFljxtpqUSkIAEWgJftx+Srl9F/pcqsrxSgwoH3uU0Zxgq9Gs8YPEmq3C8L81rbC492olfnnoltIRSywMgD4MvK1XmXxmjnMokqVV3CPiVBCSwN4G4r34ZNmR79gqTXyzcWxFaeCP64gv/kIAEJCCBMgmEb8Q1O3MUC2Bf3T+LFFniZo8Dncn5/yg6CDd3IJ/iMx0FZ/ryd8H/ZYsYukaZwfbMEU6wzhAxhJ3rJXOWgAQkcBwCTIbL81fmGvMsxi8Pdb38ylwvbZeABCRQHYHwmblmZ49i6Yz8L1JkaXrQK0Wo2V7q6jpq4fpzqfZiV2YnOkP/6OoHXcILbTE6rXxAyiinlZmYvQQkIIFqCcQLLubEY44W1tnr+UM8vGd42ZWds/ZLQAISmEPgTRxMcEKs0i6vhgpRk5JFlk6DMbrQdO08X38u1NzTmk70ae1/8TDI27bSo50+vH7Ii8+otVnermUQsdbuZuYvAQlI4FAE4t6KwFKD0ML9lqFD2R/eD9X/rKwEJHAcAuEXcX3OHsVCg3UGLZQssqzk5MFilXRxnqPDcGPvimBYpdAZmWYYbvOoep2d+tFBG39/3RcufWTj8qcWl03knFpPj5OABCQggSsCIbTwEoM5Wq62pvzI8xgRLaxTVkCjJSABCVRM4Lvt6rZaSZ1DhSitWJElbvK8TcngRMOR1EYtXDvVbC81ZWLbxzCDUPRfV8ZniHDCXH5tIpvIid0mCUhAAhJYgEA8g/GM8NUCWe2dBUOGftjbCMuXgAQk0EvggF88PT0xTCjTy+e+Vup9KV2syNLUJNuvm9BZrp3qphrFrVIPFWppxkMgb9tKHzLEpMiEw2E2/YN16YmH69Jt1D4JSEACEliRQNxjv43ss/+0c1Th9Ek80NfwxpS6mCSwKQELk8DSBOJ6jPj99dL57pAfL6V775GliyzZnD0ElgyRLBkiQIaeKxn6yGdxQUFo4aIytF577pdN3NyTlWVLQAISqJZACC0MG+KFRvY6fhH3Yd6cZq+H9v9JwE8SkEAyAnEdZvgmojfrZNa/MrdXYGHPokWWuLkTpUDC1gwpS6RCTUNBMghGDBPK0jc4zzIIV9hpkoAEJCCB9QnUMBEulN7FA/5GL8IoziQBCUhAAjcE3sXfWV46h6l3l3/c+7ZokaUxXIevAbHQ6vcQr2p4K3XB0dSldCGOhzqinC42F/7fz8GU+ZAKN1PzJCABCUhgEoGRBzX3BISWkUcWuft3IbTU8oBfJGCNkoAEJNBFIK69RBN+0fVdwm3fx73xrv+ZQWRx6MKyPa9G0SpDnRBalm3JdXLrncBpneLMVQISkMCfBPxUJoF4mOTlDEOHyjRwuFWEqCO0sB5+lHtKQAISkMBkAiGwIK4QxTI5j8IOfDiSoniRJW7sONC+WV+uZz3sFMsVtVlONdZpM3g3BXG+3WzyTwlI4HQ6CUEChyYQz2OMPydl50AkC3MCZK+H9ktAAhIonkAILFxzaxJYiPp/OPVG8SJL03MeVqTZz9V9AlUNFWqrGg9+vGG7G7LV7uv6LgH6hxzvIir1S+2SgAQksD6BuN8SzcI9d/3C1i2BCenfrluEuUtAAhI4NoFGYPkpKNQUPfhN1OfhkkVkcQjDw6YctEPNUQoKcYO6wN2d1ukfd4v0SwlIQAISSEaA+VlqiDD+OhyALEN5k3URzZWABI5OIK6vRLDUJrAMimKh7bOILDrQtNb8VPOwmklC3HykVeXg/EdVNaeVkYAEJLA8gfP5jMDy+fI575Ij87N8uEvJFioBCUigUgIhsCBg1yaw0FqDoljYMYXIEjd0hjDUEJ4K86Fp6f0YClItw+gjRGHw4Lc0t6Pk90fD8Cj1tZ4SkIAEJDCRQNwvePk1+GFzYjFbHEYI+w9bFGQZEpCABI5AIAQWJrnlusr1taYq84tC3PsG1WmiyDIo76V3GlyppQuuJD9EiEqq0luNI9Sxt/Izv/D8mgnQwyUgAQkciUAILcxpUsO946NwCmqalPFI3dC6SkACmxF4XFBzLa11YvFRLxYyiSw1D3V53Gvn73GE4TRHqOP8ntCdg+y6ubhVAhKQgAT6CTBsqIYo0jfhHBDe3l9Tv5GABMoloGW7Eojr5weRGB70ZldD1iv8m3ixwMiawSWkEVmiYgx1qeFGPrhxFtyRoSA1vG26iyT6CJEs9pG7lHq/hF3vl34hAQlIQAISuCUQ913uuQgtt19l/Nv5WTK2WgKbNVECNRMIcQWB+reo4yeRalwQV74dW7E0IktTMR3BBsTI1ZG4HamuI7tB7+6/Ng/KvTv4hQQkIAEJSKCLQNw/eIkzKoy6K58CtjF/APMIFGDKZiZYkAQkIIFJBEJcIXqFayaJ6+ekfBIc9GXc53ihMMrUbCKLv34yqnmfdz7SUJAj1fW5gWd+kNlMgB4uAQlI4MgE4gGU+VmIOF4Qwy5ZMT8LddmlcAuVgAQkkIFACCxMbkv0ClEsGUyeauOoyW6vC8kmshilcN16wz4zVOgw3OJBj7qOVhuHoax2L5hVWzkrJgEJSGBxAmbYRYBhQzXcf78OB6LWsPeudnObBCQggUEEuDZGYu4VJretOXoFHgwT+ooPU1IqkSUcaG7eNbwpmdJWU485ogN9xDpP7R9V/7T3VCgeJ4HMBLRdAnsQiGc0Hki/3KPsFcpkfpbaHYgVsJmlBCRQI4EQVj6MhLCCwHIUEXrSMKG2/VOJLI3R/spQA2Lg6ohDQY5Y54Hd4dVujKV/tdENEliJgNlKQAIVEwihhZccpOy1/DAq8C6SiwQkIIHDEghhpRVXGBrEEKGjsPg27mezfKSMIsusCh+lZzT1PNRQoabOpzgpanjAa6uz9lpB6pmwHyQgAQlIYAECRLMQ1bJAVrtm8UU4GLXPN7ArYAuXgATKJBDXvk8iEbVyNHGFBuEHQSYPEyIDUjqRJRxohgvVcPOG/9rpyGJDXXVfqafE+SSnldiarQQkIIEjEoj7CkO7EVpqqL7DhmpoResgAQk8JBCiClErb2KNsILAcpRhQddsuH8xv9j1tkmf04ksTS2NZmlAPFhtEqXwwIa9vj5y3YcyV2AZSsr9JCABCUhgMIEQWnhO+3bwAeXuyLwszENQroVaJgEJSGAigRBU+Blmovb4GWbEFYZJMlxyYo7pD2MelkWCObKKLEMd6PQtPacC8ZBzZCf6yHUf2m08j4aScj8JSEACEhhL4Js4YJGH1chnz+WzcEQcNrRnC1i2BCSwGIG4nhGx0gor/46MEZJrusZFlSYtXy3pO2cVWXhDMonegQ46tMgQJwnhXodmMKCvex4NgOQuEpCABCQwnkBzH14k7Hp86Ysf8S4cE6JaFs/YDCUggSMR2L6uXLsiIRZzHfslLCBiRWElQFwt38c9a9Hoy5QiS0DQgb7qFT0fjVI4nWTQ0zliM5M61fCGMariIgEJSEACJRKI5zXm0Zs9gWABdSN8/usC7NAECaxHwJyrIBCCCpPWMrcKc0ohqhCtwnCgN1HBjyK5vCSAT7T4PGIpRZaGy7+atatuAkZxnE4yOPX+M4qlF41fSEACEpDAUgRCaOHtYA33HJyWI04EuVRXmJWPB0tgbQIhTvwU6W2TECpICKxrFz06/7CRIT/Yx7AfbMb232L7U2TGpLXMrfJFfFZUCQh3Fl4EfHrn+8lfZRZZdKD7m/3HeKgh2qd/jwN80zCwn3S39T+7N7tVAhKQgAQksDgBhg3V8FyC43ILx78HEMD5M+1KQIHwcT+FERFrJIQK0kW4aFoOIaNNDL1B3GgTgsdtGiRwRN6tYHJ9PMN72rxZt+Ve7ImqMOQH+xj2g73YXqQgFLaWuhDR/2njLy5uY1qRJYAAhrQ4lAoydJjMn40oiz9ZtJ/+iPMH5bb927UEJCABCVRJoIxKxT0HgWXxcOwdavdROERvdyjXIiUggf0JIGS0iaE3iBttQvC4Tb/E9eLhEtVqBZPr4xne0+bNui1XISWALbBwT/q8uTctkN3rLNKKLE1VjFJoQNys5PInEFn8yaL9JJOWhGsJSGA/ApZ8KALxMMu9h6FD2ev9dXhNg95QZ6+o9ktAAhKokAACCxEsq75wzi6yOC/L657vUKErJvFQx4nEg93V1sN/NLrn8F1AAI8I+L0EJLAKgW8i11UfbCP/LZYfQmjx14a2IG0ZEpCABJYjgF+4usCCualFlnCgcZ6BRV1M7wnoQL/ncP2/Ytw1jdOphgkITwf+Z9UlIAEJpCQQz208s9UwbIiQfUL4U7aDRktAAhI4IAHuP5sILLBNLbJQgUg6jAHhakF4uvrTj0FAJgGhWX5uHnKbP5demZ8EJCABCUign0Dcg4hk+ap/jzTf+GtDaZpKQyUggYMT4L7zcXP/2QRFDSKLkRt/dhUd6D9ZPH+KE4oJkn89PW859AfPl0M3v5WXgAQksD+BuC8zN0sNL8m+c9jQ/v1JCyQgAQncIYDAQgQL/uCd3Zb9qgaRpYab9GmhZtWB7gf5z/6vDvWNUT2Ham4rKwEJSKBYAp+HZYRvxyrt4rChtE2n4RKQwAEI4PcgsGx+rxkishTNP96GoEqhUBVt50bG0ZE2KipdMbI5nX5vzpeT/yQgAQlIQAJ7Eoj7EQ+9NczP4rChPTuSZUtAAmsQqCHPb+M+83kk7jWb1ye9yNIQM5rldPo1OhGC08l/rwk0bI4uxik0ve4abpGABCQggZ0IxL2Z+xJDh3ayYLFiHTa0GEozksAjAn4vgYcEvoz7y65zf9UisjgU5HSSwcPz7fCMHE72uI+4hwQkIAEJbEughp91dtjQtn2m3NK0TAIS2JMAAQdMcPv9nkZQdhUiSyhVRCjsEgoExEISb4MKMaVYM47M6I84T4z4KrZrapgEJCCBYxKIexPPbw4b2qD5LUICEpBAxQTwcxBY0AV2r2YVIktD8cgOtEOFmk5wbxUPcqibRZx49+xc6TsuPCtlbbYSkIAEJCCB6QTO5zP35l1Du6db/+JIhw29wOEfEpCABDYh8E34ebtMcNtXu5pEln/1VfIA2x0qNLyRj8rKoULD+4h7SkACErgi4MctCMQDMnOzZH9h5rChLTqLZUhAAhJ4T4AX6ESvvH3/Zzn/1ySyuqhONwAAEABJREFUZL8xz+kVR677WG5HZXXUeo/tH+4vgVwEtFYCdRFg2BDDhzLXyl8bytx62i4BCWQhgDCPwEIkZHE2VyOyxBsQbspHHBLhUKERp1X0ExTPIk/GEdUYuyt9hPNj7HHuL4FZBDxYAhKQwBgCcY/mXvX5mGMK3ddhQ4U2jGZJQALpCeDLMTToq+aeUWSFqhFZGrpHHBJxRGGpae7Jq6MxO+oQqXsdxO8kIAEJSKBAAvHQzD2aN5QFWjfYJIcNDUbljhKQgAQGE+DX6Ihe4T4x+KA9dqxNZCke+AqNrAM9HmrhzMZX6MERRzwvHiDxawlIQAISKJVACC1Mgps96tRhQ6V2MO2SgASyEcCXQVx5G/cHIh6Lt78qkSWgc0MmhKh48AsZ+HtT54WyG5BNBbs0zI7ST+wjFfRZqyABCUjggARqmJ/FYUMH7LhWWQISWIwA/tqX4bsxPAg/f7GM186oKpGlgYXS1XysfuVkptOb+CjsjlLP6T3BIyUgAQlIoDgC8VDNAzWh4cXZNsIghw2NgOWuEpCABBoCRKtw/Sd65ftmW+eq1I01iixHmpflaMNeljyPjsLuX0tCMy8JSEACEpDAVgRCaGFuluwvCxw2tFWHsRwJlEVAa6YRQFT5a1z/0wwN6qpmdSJLNEj2m3FXO3VtcxhIF5WB26Kf8IaMELSBR+TcLep5lPMhZwNptQQkIAEJPCLgsKFHhPxeAqMJeIAEiiPQiisMDyKSpTgDxxhUncjSVP4IjuUR6tg052qr2hnWXr/VOoYZS0ACEpBAGQTiZQEP29l/1tlhQ2O6k/tKQAJHIcD1/VpcqeYFeK0iyxGGSBxluMuaF5naGR5p6Nya/cS8JSABCUhgRwIhtDDfHkOHdrTifdEz/nfY0Ax4HioBCVRFAHGFOVcYFkTkSjXiSttKtYostb/Bd6hQ24NnrOOhrfYhQzyUziDkoRKQgAQkkIhA1abGPfurqCD37VilXfy1obRNp+ESkMACBLiGI6r8Ja7pqedcecSiSpElGg01jPSo/lm/r11E2rJdamX5a3MebMnSsiQgAQn0EHCzBBYhkH1+FocNLdINzEQCEkhEgKgVhgTxS0EkPicyf5qpVYosDYpanWeqd4ThUNRzi1TrkCGHCm3ReyyjDgLWQgISSEEgXh7wFpQQ8xT29hjpsKEeMG6WgASqIsD1GmG8HRLE31VV8F5lahZZanUy/4iHjJoFpHv9dfHvgiUnPArr4nnvnKF9ZOcGWKp485GABCQggT8JxH2buVmy3+McNvRnk/pJAhKohwB+FUM7EVYuUStxza7Rz3rYYtWKLNGgzEdRY6Nmf7B42Cl32KE2pghxXOTWRmn+EpCABCQggT0I8HY08zOew4b26DWWKQEJrEEAn+NaWPk2/PCap+0YxLBakaWpPUJL87GaVa0ROgs30KjsamNam2g0qjHdWQISkIAE6iYQD/AILJ8nr6XDhpI3oOZL4KAEEFCYVwWxmwlsiVhRWLnpDLWLLGU6zzeNMOJPIhR0oEcAG7JrPKzBlAe2Ibtn2Ke2fp+BuTZKQAISkMCGBOLezYu07POzOGxowz5jURKQwCQCiCr4SkSrIKgwFIhfCPo+rsM1+U+T4PQd9Epk6dsx6XZuwElN7zSbDt75hRtnE6iJbW39fnbjmoEEJCABCdRHIB7w30atCFWPVcrFYUMpm02jJVAXgavaIJrgRzD3FdGCCCqkz+N6S7RK5uvtVTXX/1i1yBKdAeWtps5ghMJ650QtbH+Mfs8Fcj1S5iwBCUhAAhIohwCOQOb7nsOGyulLWlIeAS1ahwDXTMQUhv0QEfhpFIOYwvCfT8OX+CoSPgW+dHzlMpZA1SJLA6MW59mhQk2DrrHiQhL5csGJVerlX6mt13gJSEACEpDACAJx/8YJIIx9xFHF7eqwoeKaZIhB7iOBYgkgoJBaEYVrJEIKAkpcNs+tmMKwn7fn8/nnSFxLi61QNsOOILLUMgyklnqUfI7UwLiGOpTcR7RNAhKQgAQKIxDOAY5E5vsfw4a+WxSrmUlAArURQDRpE9EnpGfxJCpLJEpcDi8LYgrpy/gLEYWhPggpHB+7uqxNoHqRJTrWr5FqWJjBee3+cOj8o5NwIYpV6kUV+tC92MpLQAISKJ/AShbynJT5HvjZ09PTZyuxMVsJSGB/AkxhgcjRJoRhhJI2XQsmRJ1ciyY4J4gmbUI4IT2LJ7FD5uvf/q2zsAXViywL8zI7CUhAAhKQgATKI8DDZfugOme91rH/LA9ZXRaFg8GQX+ZnWasNt8j3g6GtEvXFwYqViwQGEcCxH9q9jrgffPoSkXJ95z/XHASRF6mnRfhlnlYkYc1kspzHbboWTIg64b52xLaoos6KLFU0o5WQgAQkIIH6CVjDPgLxQPt7pPZBtcQ1D+l95rt9IQLRB4heLrH9h9pkP1moL5hNOgIIClNEDsSPTqEjCLTCx21ESFwqXi2IHn2JSPe+c5jJYRFEXqQo2+XgBBRZDt4BrL4EJCCBRQiYiQQkIAEJSEACEjidEExuh760ggcTrr5SOGIDQsgUkQPxo1PoiDxb4QN7Tv6TwJYEFFm2pG1ZEpDALgQsVAISkIAEJCABCUhgfQIhbhBZeDv0pRU8GNa3vhGWIIGdCSiy7NwAFn94AgKQgAQkIAEJSEACEpCABCQggUoIKLJU0pDrVMNcJSABCUhAAhKQgAQkIAEJSEACEhhKIK/IMrSG7icBCUhAAhKQgAQkIAEJSEACEpBAXgKJLFdkSdRYmioBCUhAAhKQgAQkIAEJSEACZRHQGglcE1BkuabhZwlIQAISkIAEJCABCUhAAvUQsCYSkMDGBBRZNgZucRKQgAQkIAEJSEACEpAABEwSkIAE6iOgyFJfm1ojCUhAAhKQgAQkIIG5BDxeAhKQgAQkMIGAIssEaB4iAQlIQAISkIAE9iRg2RKQgAQkIAEJlElAkaXMdtEqCUhAAhKQQFYC2i0BCUhAAhKQgAQOS0CR5bBNb8UlIAEJHJGAdZaABCQgAQlIQAISkMB6BBRZ1mNrzhKQgATGEXBvCUhAAhKQgAQkIAEJSCA1AUWW1M2n8RLYjoAlSUACEpCABCQgAQlIQAISkMB9Aoos9/n4bQ4CWikBCUhAAhKQgAQkIAEJSEACEtidgCLL6k1gARKQgAQkIAEJSEACEpCABCQgAQnUT+B0UmQ5QitbRwlIQAISkIAEJCABCUhAAhI4NgFrvwkBRZZNMFuIBCQgAQlIQAISkIAEJCABCfQRcLsEaiGgyFJLS1oPCUhAAhKQgAQkIAEJSGANAuYpAQlIYDABRZbBqNxRAhKQgAQkIAEJSEACpRHQHglIQAISKImAIktJraEtEpCABCQgAQlIoCYC1kUCEpCABCRwMAKKLAdrcKsrAQlIQAISkMB7Av4vAQlIQAISkIAEliagyLI0UfOTgAQkIAEJzCdgDhKQgAQkIAEJSEACCQkosiRsNE2WgAQksC8BS5eABCQgAQlIQAISkIAEuggosnRRcZsEJJCXgJZLQAISkEB6Ak9PTx9G+uQqvYnPb2emz+L4Ns+P0kOyAhKQgAQkUCQBRZYim0WjaiVgvSQgAQlIQAJHJxBCRyugtMLJd7Htp0i/RLoswei3SD9dpXfx+euZ6Yc4vs3zuawo8LdIlI8dCDlfxN+IMR/E/i4SkIAEJCCBUQQUWUbhqnpnKycBCUhAAhKQgAQWIxBCBWIK0SMIFz/E3xdhIwpoBZRWOPkitn0Saa/okg+jbMrHDoSc7+JvxJh/h80srQCDKKT4EnBchhOIDvRRJPrNvcQ58ighAtIXt0zvwvYuu27roiA5vEu45wEIJBFZym+JuAB9EOn2guPfT08y+JOBN6DyT2UtlIAEJCCBCQTiGYjnoFZQwQn8d2SDmEL0CMLFZ/H3XiJKFD1raQUYRKFWfCH6BacX4SVrvWZByX5w9FkiluirU1IrwEU295fg9Esk+s29xDnyKCEC0he3TG/C9i67butyzYNzo2XaijScJxefIPJzkcAAArl3UWRZrv24wd5ecPz7dJLBnwzoI8v1OHOSgAQkIAEJ7EQg3EqiVHBSERoQUxBVWkEFJ7D2FwtEv+D0IrxcInSCCY4lb/293+/UL0cWSxvSV6ek2vv3SJQvdr/m2oo0nCcXnyDOk3bhvGnPmVaE4dgXmRX5h0ZJ4AEBRZYHgPxaAhKQgAQkIAEJSOB0Cs+ISBXeTCOqkBhWg9CgY/S+g+Csfx0fcR55s88QKYQo+QQUl20IJCoFMbI9Z1oRhiiYuNQ8Ib4g4CJaEgGjqJWoYTX1dFJksRdIQAISkIAEJCABCbwi8PT+F34QCRALnmIHIlV4M61oEDAeLDiFDJFCiMJxRHjhbf2R2T1A5tcSeCaA+IKAi2hJBAyiJQnxReHlGZMfSiWgyFJqy2iXBCQgAQlIQAIS2JhAI6wgBjCPRButgliwsSVbF7d6eby15209ggsJxgouq2O3gIoIIFwivlwLL5xLRLwgBns+VdTY2auiyJK9BbVfAhKQgAQkIIG6CaxcuxBWmLQWJ4VIFYQVxABEgZVLPmz2OIMwxkFsI1xwIA8LxIpLYCIBziUiXtqIMc4pRZeJMD1sOQKKLMuxNCcJSEACEpDA4QhY4bwEQlz5KNLFOYlasDZiJUBsvCBmIbgwFALnkDf1G5tgcRKohsCt6IKIyTxSnGfVVNKKlE9AkaX8NtJCCUhAAhKYRsCjJCCBGwIhqrRRKwwHIvEW2CiKG047/UlbMOcEb+MZTmS77NQQFlsNAcQV5pFCbGmFTMXkapq33IoospTbNlomAQlUTcDKSUACEtiOQIgrH0Z6GyUyHIioFZyP+NOlQAK8jSe6BbGF6Bb+LtBMTZJAKgKIlgiZTOSt4JKq6fIZq8iSr820WALrE7AECUhAAhKogkAIK4griCqIK0wYiaNRRd0OUAnaCqewFVscSnSARreKmxBoz61rwUXheRP0xyhEkeUY7VxVLa2MBCQgAQlIQAL3CYS48kmkVlzBUb9/gN+WToA2ZCgRSbGl9NbSvkwEWsGFIUUImg7Vy9R6hdqqyLJsw5ibBCQgAQlIQAIS2I1ACCtt5MpPYQSOeaxcKiKAwILQQuJzRVWzKhLYnQBD8xiq1w4nMrpl9yYp3oBOAxVZOrG4UQISkIAEJCABCeQhcCWuMCxIcSVP0021FIEFoYXhDjiGU/PxOAlIoJsA11GiWzjPkk6W210xt65PQJFlfcaWIAEJSEACEpCABFYhEOIKvxbUTmiLU7BKOWZaLAGcP4Y4MEEuwx6KNVTDJPCCQJ4/EDQRMznPvMbmabddLVVk2RW/hUtAAhKQgAQkIIFpBEJg4YGfyBUmtJ2WiUfVQuDSF6JPILjVUqfd6mHBEuggQMQYYqZiSwccN70koMjykod/SUACEpCABCQggaIJhCP9USTmXGFiW6MXim6txaktSUEAABAASURBVI27lyF94evoGziBvH2/t6/fSUAC0wgotkzjdqijFFkO1dxWVgISkIAEJCCBzATCgSZS4ZeoQ4FOdFjlUgIBnEDmkeCtO8JLCTZpgwRqI8B5xjnGvC1ej2tr3Zn1UWSZCdDDJSABCUhAAhJIQCC5iSGufBLJoUHJ23Fj89shRMzbsnHRFieBwxDgF4gQNUkIL4epuBXtJ6DI0s/GbyQgAQlIQAKbELAQCdwjEOIK0SsMD/IB/h4ov+siQCQLk3aS+Ny1j9skIIH5BIhmYaje27hme67N55k6B0WW1M2n8RKQgARWJ2ABEpDATgTiQZ25Vxga5MS2O7VBRcUSzYIDyLqialkVCRRHgOu1Q4iKa5ZtDVJk2Za3pUlAAosSMDMJSEACdRIIgYWhHkSvEIpeZyWt1dYEeLtORMu7rQu2PAkcjABRhwwf4nzjvDtY9a2uIot9QAJrETBfCUhAAhKQwEgCIa58EIlfDSL5cD6Sn7sPIvAm+hhv2hXwBuFyJwlMJkDkmBFkk/HlPVCRJW/bzbLcgyUgAQlIQAISKItAOL44vUSvEMVSlnFaUxuBS1+LPocTWFvdrI8ESiKAWE5Ey7s43/hckm3ashKBEkWWlapqthKQgAQkIAEJSKBMAvHwzaSJCCw4v2UaqVW1EcDhuzh/tVXM+kigQAJvwiaGEHmNDxA3S3V/KrJU16RWSAISkIAEJCCBTARCYCFyBYEFpzeT6dpaBwGGDyG22P/qaE9rsSiBRTNDYEFo4Zq/aMZmVhYBRZay2kNrJCABCUhAAhI4EIEQWJh7hXSgWlvVAgkwbAjnjwk7CzRPkzoJuDEjAcTM75prf0b7tXkAAUWWAZDcRQISkIAEJCABCSxJIB6w2wlufaO5JFjzmkOAt+yLTYg7xxCPlcABCHwR9wHON0SXA1T3WFVUZDlWe1tbCUhAAhKQgAR2JhAP1jxUMzxIgWWftrDUfgKXvhl9lMiW/r38RgISWIIAwia/PsR6ifzMoxACiiyFNIRmSEACEpCABCRQP4FwXi9ObNS056E6vnGRwL4E6KPM0aIIuG87WPoxCHC+MVSPyc+PUeMD1FKR5QCNbBUlIAEJSEACixAwk1kEFFhm4fPg7Qkwb4RCy/bcLfF4BFqhxfOtkrZXZKmkIa2GBCQggaMTsP4SKJmAAkvJraNtdwgotNyB41cSWJiA59vCQPfKTpFlL/KWKwEJHImAdZWABA5MQIHlwI1fR9V1/OpoR2uRg4DnW452umulIstdPH4pgSMQsI4SkIAEJLAWAQWWtcia78YEdPw2Bm5xhybg+Za8+RVZkjdg9eZbQQlIQAISkEBuAt+F+U5yGxBc0hPQ8UvfhFYgEQHPt0SNdWuqIsstkRF/V7Trz2f/bUHg54r6jFWRgAQkIIEHBJ6enhBY/CncB5z8OhUBHD9/BaXsJvs9zOOZ8zb9GNu/mZi+j+Nu8/sjtrmsS4Dzzclw12U8KvehOyuyDCXlfhKQgAQkIAEJSGAggRBY3sSuPhwHBJfqCPDzzkZn7desn0bRbfq44y3hX2Pbpx3p89j2dmL6Mo67zfMvse2yhD1/jdTa1Ao5rSgTX7nMIIDQMkSsn1GEhy5NQJFlaaLmJwEJSEACEpDAoQmEwMID8btDQ7DyNRNof272w5orWWrdQtUgAr1Nv5ZgZ9j0e6TWplbIaUWZ8+l0akUYBBiiYoqwuwR2A21AaFHYHAirhN0UWUpoBW2QgAQkIAEJSKAKAiGw8CDMMKEq6mMlJNBDAKGFiBbWPbsk2ayZqxMIAaYVYRBgiIq5ROBEwUS/ILwQ9RJ/uvQQ4Dz7Ke4vrHt2cXNJBBRZSmoNbZGABCQgAQlIIC2B5gEYgcUH4Xmt2M4p8W1kgwP2eaxxxkjPQxTCcetdYv/2zTnHfBV/kw9zUqR6gx52l7woKJbcOglsixOY6BeEF6JezmEy5yvnvedpwLhZuK8otNxAKfVPRZZSW0a7JCABCUhAAhLIRgCBBcczm91T7F3qGJwphg8ghFwcrXC82jklvorPOGA/xhpnjDRoss3Yv31zzjHfxt/kw5wU7Rv0j6MCiDc4dL5FDxgTl89CXHw78VgPk8ALAnGecr5y3nN+IpRyXeAa8WK/A//B/cWhqAk6gCJLgkbSRAlIQAISkIAExhDYft9wNJnolrlYti88V4lEqSBsIHAQlYLowfABhJDNxI5w5n6NhHiDQ3cRdwIjb9GJeNGpCxgjlq+j//uLQyOAuetjAnF+IpRyXWgFF64bXD8eH1z3Hl/E+cb9pu5aJq+dIkvyBtR8CUhAAhJIRkBzqyMQD7y8Xfy6uootVyFEC95IE6FCQthA4BgUlbKcGfdzCqeOt+hEvODU/SX2/jISQ4xi5fKAgPOzPADk19MJxLmJ4MJ1g+gWBNrNBNnpVq965LvmvrNqIWY+nYAiy3R2HikBCUigOgJWSAISmESAYUKMl590cKUH8caZqBBEFaJVeCPNthTVDafuj0jfR8KhawWXozt299qO/v/DvR38TgJLEIhzEoGWqDMEF4YaLpFtxjwUNgtuNUWWghtH0yQggRcE/EMCEpBAcQTibSLzURDJUpxtOxlE5AdznyCuEBWSRljp4xVOXSu4tI4dwxaKisLps33j7Z/E+eAwho2hH7W4OC+JbiHa7Khiy4fR9kZQBoQSF0WWEltFmxIS0GQJSEACEjgagXAoEVd8yH3f8LxRRlhBYEFoeb+1sv8bx45hC210S3oRaeEmchjDwkDN7j6B5pxsxZZqrz09FN7Efcj5kHrg7LlZkWVP+luVbTkSkIAEJCABCaxBgGFCa+SbKc9WXGHy2kMJDuHcMZyIt+g4eIeq+4MO6nnxAJBfL08gzkciWxjeR8QZ80AtX0iZOX4XQgvD9cq07qBW7S6yHJS71ZaABCQgAQlIIDGBeKhlWASRLIlrMct03hgTuXI4ceWWWjh3ii0voXzUnB8vt/qXBDYgEOcjE1gzeTVzQh1hWF+6YUMbdIPdi1Bk2b0JNEACEpCABCQggUwEwoHkreFRhwkRscFPHjMsiM+Zmm5VW8O5a8UWfknpCM7dPZ78rDPO3719/E4CqxGI85H5shBbxkxYvZo9K2fMsKEji/4r4x2fvSLLeGYeIQEJSEACEpDAsQm8i+ojtMTqUMs34bgQvXIEp2VywwYjJsZlGBFDqSbnk/xAzg/Ok+TVKMl8bRlLIM5FhhAxfAjhc+zh2fb3fCuoxRRZCmoMTZGABCQgAQlIoGwCT09PvJ3/omwrF7eO+Q34GWbeDC+eeY0ZhnPHLxIxVwsOXv0RP92N+FmcL07K2c3GrRsSiPMR4ZOolprPRX7d62j3pg170biiFFnG8XJvCUhAAhKQgASOTeBok3p+Gw4KAgtCS8qW39PoYEfUD84dTt6epuxV9tHOl704W+4DAnEucg3jXGQ+qQd7p/36qMNYi2swRZbimkSDJCABCUhAAhIokUDzVn7JN/MlVrO1iTlFmHflCGH2bZ1XWYdzR1QLHPnlE7iuUk6hmX4Y541v1wttnKOZ1ZyLnIe1ip6cb0YcFtCxFVkKaARNkIAEJCABCZRHQIs6CBzlLSEh9UxuW/Mb347mXXdTOHjw5E06b9TXLays3N+F0MIcLWVZpTWHJRDnIqInw/lqZPB3z7f9m1WRZf820AIJSEACEhhLwP0lsDGBeGglgoW0ccmbF4cA4PCglbCHc3cRsCL7I02Ki8DyJursIoFiCMS5yDlIVEtt0WWebwX0MkWWAhpBEyQggboIWBsJSKBKAkeIYiHSggiW2pyOojpkOHcMH+It+jdFGbauMb5dX5evuU8gEOfi5ZoXh9Z2zft71MllRwKKLDvCt2gJ7EDAIiUgAQlIYCSBp/e/KFR7FMv34XAwB0ttzsbI1t5u9+DN3AmILdsVul9Jvl3fj70l3yEQ5yHRe/wKWE3Xvg/ivuVcSHfafe2vFFnWJmz+Iwi4qwQkIAEJSKBIArVHsSCwHMXZL6qDhYPHkIWjsPftelG9T2NaAnEe1ii01H7fapuvyLUiy9BmcT8JSEACEpCABA5HIN4G8ga+5jeCOBdMAnm4ti2lwuHgHUVo8e16KZ1OO14RiPOQayFztLz6LukGfmnos6S2l2H2DCsUWWbA81AJSEACEpCABKonULvA4hwsBXThcPCOIrT4dr2A/qYJ3QTiPPw5vkkRWRZ2Dln+NmQn91megCLL8kzNUQISkIAEJCCBegjUOsSB+Qecg6WgfhoO3hGEFt6u1z6/UUG9ahdTUhfanIffpq7En8Z/9vR+TrE/t/hpEwKKLJtgthAJSEACEpCABLIRiIdTnMEPs9k90F4EFn5OeODu7rYFgcocvD5kO75d7zPJ7RL4k0CchwyhJKrlz415P9UcjVlsqyiyFNs0GiYBCUhAAhKQwM4EanUGvwknohYHYucusmDxTVbRNjh4PzZ/1rj6IgRM5jqqsW7WqR4CzM9CxF/2GtV6Hyu6XRRZim4ejZOABCQgAQlIYEcCNU4a+Gs48fx08Cis7rw5AeaFYCLOzQveqEDfrm8E2mKmEYjrJAIL5+G0DMo5iiF6H5VjzjEsUWQ5RjtbSwlIQAISkECtBFapV7xpR2Cp7W07TgNvZ1dhZqbLEajIweuD4tv1PjJuL4ZAnIdElJGKsWmiIZ5vE8FNPUyRZSo5j5OABCQgAQk8JOAOiQn8V2Lb+0z/RzgNzsPSR6ew7dFWRLIwdKgwyxYx56MQMmud72gRQGZSDAGiWRCoizFogiG8NJhwmIdMJaDIMpWcx0lAAhLITkD7JSCBewRqeyj9PZx2hwnda/ECv4s241dOap0/p7ZzrMAepElzCcQ5iMCSXex0yNDcjjDyeEWWkcDcXQIS2IaApUhAAhLYi0C8YWf8em1DhXgbuxdSy51HgLbD0ZuXS3lHO4ShvDbRog4CIbR8H5uJLItV2oVfy0trfDbDFVmytZj2lkBAGyQgAQlIoG4Ctb1h/zmchFqjIeruiVG7aDuGeP0jPta2OGSothatuz7Zo1lqHAJbbI9TZCm2aaYa5nESkIAEJCABCcwk8P9mHl/a4d+UZpD2jCMQQgtDvRBbxh1Y/t6+XS+/jbQwCMQ5iFBNir9SLp5rGzbbtiLLhhWzKAlIQAISkIAEJDCRQE0Po0axTOwEBR5Wo1jm2/UCO5om9RJIfQ4+PT1tf2/rRVn3F4osdbevtZOABCQgAQlIYASBCh9CUzsFI5qu+l3jTTrzQtQWzaLTV33PLbeCYy2Lc5BIFtLYQ0vZ3/Nto5ZQZNkItMVIQAISkIAEJJCCQE0PofyiUGaHIEWH2djI2kSzD0LYZKLpjTEWX5wGlksg8/xItQ2FLbaXKLIU2zQaJgEJSEACEpDADgRqegjN7Azs0PTlFxlv0guIZlmckyLL4kjNcC0CcQ7+GHlnjSjzXIvG22JRZNmCsmVIQAISkIAEJJD9VAEkAAAQAElEQVSFQE0PoTjkWbgvY+cxcqlNPKtJ2DxGD7SW/0yKgMixD5PanspsRZZUzbWasZ88+W80gdVaw4wlIAEJSGAXAnEj+CAKJsVq+WXjHH+MN65/bFymxW1DoDbxrCZhc5seYCl7E8h8Dnq+bdB7FFk2gGwREpCABCQggcIJaN57AjU9fP73+yr5f20EGvEss5N32yQ1nXe3dfPvCgnEOchwoV+TVs3zbYOGU2TZALJFSEACEpDAHAIeK4HNCNT08Mm8AZuBs6DNCVQloj09PdV07m3eGSxwFwJZhwz95y60DlaoIsvBGtzqSkACCxMwOwlIoCYC/1FJZX6NN60OFaqkMbuqEe2LiFZTGztPRFdDu61kApyDJdvXZ1stQ2L76lfEdkWWIppBIySwDgFzlYAEJCCBUQRqeZteVZTDqBY81s5ZnbyuVqrl3Ouqm9sqJBBCJ0OGSNlq90k2gzPaq8iSsdXqsNlaSEACEpCABEojUMsbvqxzBZTWH0q351+lGzjCvlqiyEZU2V0rIPBzBXWwCisQUGTphOpGCUhAAhKQgAQOSKCWt+k++B+j89bUzg4XOkafra2WKYXOp6cno1le9cRlNyiyLMvT3CQgAQlIQAISkMCeBH4/n881zdWxJ8uiy452ZqgCqWg7BxpXSxTZwOq6WyUEtokarATWkaqhyHKk1rauEpCABCQgAQl0Eog3e7VEsdTidHe2kxtfEajFyavl/HvVQLVvOHL9QujMev4ZObZyx1VkWRmw2UtAAhKQgAQkkIJALW/Ssz70p+gkBRr5PwXaVIpJ2iGBLQhkvOYqsqzcMxRZVgZs9hKQgAQkIAEJSGBDAv+3YVkWNZnAYgdmdPAWq7wZSaAAAg7PLKARSjNBkaW0FtEeCUhAAhKQgAQkMJ3AfKd7etkeuT2Bahy8iobsbd8LLHFPAiknv90T2BHKVmQ5QitbRwlIQAISkEAlBFasRi1zQlTjdK/Y1jVlXZOoVsuQvZr6l3Wpk8B/1FmtcmqlyFJOW2iJBCQgAQnkJqD1uQno4OVuv0Naf/aXpA7Z7la6KAIZhW3nZFm5CymyrAzY7CUgAQmUQUArJCABCUhAAhKQgAQWJlBTNNnCaI6bnSLLcdvemkugHAJaIgEJSEACixA4n88/L5KRmUhAAhKQgAQkMImAIsskbB50JALWVQISkIAEJCABCUhAAhKQgAQkMISAIssQSuXuo2USkIAEJCABCUjgmYC/0PKMwg8SkIAEJCCBXQisKLLsUh8LlYAEJCABCUhAAlMIZJy8sKueTuDbRcVtEpCABCSwMgGzbwkosrQkXEtAAhKQgAQkcGQCTl545Na37iUQqEXoLIGlNtwSWO/vjL/U8/t6OMwZAoosUDBJQAISkIAEJCABCUhAArsROJ/PhxU6d4NuwUsQyCiy/O8SFTePfgKKLP1s/EYCEpCABCQgAQlkI/BRNoO1dzqBDebgmW6cR0pAAhI4KAFFloM2vNWWgAQkIAEJSOAFgVqGKhxoTpYX7XfUP2zvo7a89S6FwP8rxRDtKIeAIks5baElEpCABCQgAQnsRGDxoQo71SOK/c9ILsch8EklVXWOiEoa8oDVyCh01vJSodjupshSbNNomAQkIAEJSGAdAuZaNYGMD/xVN8jKlfuPlfPfKntFlq1IW87SBDIO0XT+o6V7wU1+iiw3QPxTAhKQgAR2JWDhEtiTQA0PnrVENuzZDzKVndHBy8RXWyXQS8A5kXrRHP4LRZbDdwEBSEACwwm4pwQkUDmBKkKoffCvvJe+rF4tIsu/XlbLvySQgkDW88/IsZW7lyLLyoDNXgKbEbAgCUhAAhKYS6AWRy/rg//c9jvU8SGmfVZRhasQOCtqD6syjEDKSW/P57Miy7D2nbyXIstkdB44hoD7SkACEpCABBIQqMXRS/ngn6B/lGZiTe1cw1C90vqH9qxPIOPwTAWW9fvFSZHldNoAs0VIQAISkIAEJJCAQC2OXsYH/wTdozgTa4pk0fErrntp0D0CT09PH8b3pFilWjzXTqfVG0yRZXXEFiABCUhAAhKQQAYC5/P55wx2DrDxw3AAHDI0AFTWXaJ9ce5IWavwwu4493T8XhDxjwQEVhI5V6+559rqiE9GsmzA2CIkIAEJSEACEshDoJYHUKNZ8vS5KZb+fcpBhR5Ti7hZKN4FzTKrawJ/u/4j0ef/TWRrWlONZEnbdBouAQlIQAISkMAKBGpx+LI6ACs0aZVZZn2L3tUYiwzT68rYbRJYg0ATSZY1WrCWe9waTbtYnoosi6FMn9GnUQPT6TSGQSBzkYAEJCCBygj8TyX1+ahxBCqpTupqLGp8tCsCy4eLZrpvZrWcc/tStPQtCXAOblnekmXVEq25JJPF81JkWRxpygx/PZ/PP5vGMUjZ0hotAQlIQAKPCNT0lm/AkJJHOPy+QAK1tWtN51yB3UWTViCQ9Rz8I/w9RZYVOsRtloost0SO+XctP1l5zNaz1hKQgARqJbBDveIBlKELtdwXv9gBoUWuSODp/S+a1DTfzu9xzun0rdhnzHpZAnEOcv5ljSTj/rYsEHPrJKDI0onlcBs94Q7X5FZYAhKYS8DjqyZQy5v1D8IhUGipq6t+XVd1TrWcayf/HYZA5nPwX4dppZ0rqsiycwMUUvz/FWKHZkhAAssQMBcJSGAegf+ed3hRR2cNay8KYgnGhGDG2/PaRDOdvhI6lzYMIhDnIJPdEskyaP8Cd1LU3KhRFFk2Al14MUayFN5AdZlnbSQgAQkUT6CmB1EmwM3sFBTfWTY08LsNy9qqqJrOta2YWc5+BN7tV/T8ks/ns+fbfIyDclBkGYSp+p1qGXs+v6HMQQISkIAEDk8gHkSZI6KmFxCZw9sP3x8BEG/QEcpI/FlL4ocXONdqqY/1qJhABeegAsuG/VORZUPYc4vyeAlIQAISkIAENiPwz81KWr+gT8JBqG2YyfrUyirBKJay2kNrjkcgu1hd0zDY4nvfUiJL8RXVQAlIQAISkIAEJDCCwI8j9s2w69chtHyQwVBtfEkg2u1tbGE+llhVtdQkZFbVMFbmJYE4Bz+LLdkjyZaOZAkkLn0EFFn6yLhdAhKQgAQkIIHDEqhwyBBO+pvDNmjSiodzx0Sb2d+gd9Hnp5trGpLXVUe37UZguYLjHESczh5J5vm2XJcYlJMiyyBM7iQBCUhAAhKQwAEJ1PamnWgWnPYDNmW+KjfO3Q/5LB9kcW2RYoMqfdnJ/7IRQOREaMlm97W9nm/XNDb4rMiyAWSLkIAEJCABCUggJYEaH0yzv5FN2ZEmGs0vmRCBNPHw8YdteMQ/NizLoiQwiUAInQwRqiECsLYXBpPac8uDFFm2pG1ZEpCABCQgAQmkIdAMGapNaOEnnZnjI007NIYeahXOHRMVk2qst78qVGOrVlanOAeJXqkhkozzzaF5G/dPRZaNgVucBCQgAQlIQAKpCAx4A5iqPhjLsCHe0PLZVBiBcO5om5ojjoxiKazPaU4nAc5BhJbOLxNtrPEeVjx+RZbim0gDJSABCUhAAjMIeOgsAufzmUiW32dlUubBP4QzX+tQlDKJD7Aq2oQ5c2p4e95X2z/iC86pWLlIoEwCcR4S7ccvCpVp4Dirvh+3u3svQUCRZQmK5iEBCUhAApMIeJAEkhD4JomdY8zkDS1CC+sxx7nvSgTCsaMtforsWceqyuX7EC4RWqqsnJXKTyDOQ4bpMdlt/sqcTp5vp33+KbLsw91SJSCB8glooQQkIIGWAG/ea3QMa4+aaNuv+HU4dggrtQsstINDhaBgKpJAnIe1DdXzfNuppymy7ATeYiUwj4BHS0ACEpDAVgSaN++1Pqx+Eo4Fcw9shdNybggE/1ZgQfS6+baqP3+Mc6nGoXdVNdJRKxPnIedfTUP1fo7zzQlvd+rQiiw7ga+6WCsnAQlIQAISqI/At1GlGqNZolqnL8LBUGiBxMYpuOPYEcHCeuPSNy+uVqFyc5AWuCyBq/MQwXPZzPfLrcZhrvvRHFny4USWkXzcXQISkIAEJCABCZzijSACS81OokLLxv38yrE7gsDCW/WfN0ZscRJ4SODqPKxJYOFnmz3fmtbfY6XIsgd1y5SABCQgAQlIICOBmqNZaI+L0BJOR03OBvUqLgXjz8IoIliOwtq36tHgLmURiPMQgXPP83AtIF+tlbH5DiOgyDKMk3tJQAISkIAEJHBwAgeIZqGF+WWNn8L5OIrzT503TcGWn4dl7oejMDaKZdMetlRhdecT5yHXul+ilrWdh55v0ah7L4ose7eA5UtAAhKQgAQkkIkA0Sy1T97J291fwglhnaltirY1eH4QCXHl66INXd645d+qL2+jOR6IQJyHCJ21zkNl1FgBfVmRpYBG0AQJSEACEpCABHIQaKJZjvAQ+2G0CBEtvO2Njy5DCXTtF07dJ7H9t0gME4rVYZbv45zxF04O09xlVzTOQ4ROxJVahU5+wcu5WArohoosBTSCJkhAAhKQgAQkkIdAOI3fh7UZH2TD7FELYfTfhWNC4vOog935dAp2OHXvgkWN8z5Ete4uTBZ9BEHyLgS/LINAnItE5nEe1iwcGzVWRnc7KbIU0hCaIQEJSEACEjg2gXS1P9LDLE4Jw4eIxkjXUHsZHE4dvJjz4c1eNuxc7j9CkKx9aN3OiC1+CIE4FzkHEVgQWoYcknGfbzzfymk2RZZy2kJLJCABCUigVALaJYEbAvEwyxAI5me5+abaP9vhQ0a1PGjicOg+jMTcKzh1cHtwRJVf/x7nCPNeVFk5K5WDQJyHRJJxLhJNVnM0nudbYV1SkaWwBtEcCUhAAmMJuL8EJLAbAYZCHO1NPVEtv4Xzwpvh3cCXWHAwwaFDWDji3Cu3TfLl7Qb/lsCWBOJ85Bp1lHPR823LzjWgLEWWAZDcRQISmEzAAyUgAQlUSyDe1DPnxBEfbnkj/C6cGMQWRJdq23hIxYLDtbjy9ZBjKt+HyW6PMGdR5c2Ys3pxPn4UiSiy2qNX2gb6Nu5Fnm8tjULWiiyFNIRm7EHAMiUgAQlIQALzCDQPt0caNnQNjKEwDB86pNgSjtytuIL4dM3niJ8RHo80X9ER27jIOsf5yDA9fjmIeZCYD6lIOxc2imGrRFQunK3ZzSWgyDKX4FrHm68EJCABCUhAAlkI8JB7tGFD123zQmwJZ6dqsSHqx5tynLl/BwQiV6qub9RxzPJlCI8ILWOOcV8JTCYQ52MrrjA06GiRdZ5vk3vOugdOElnWNcncJSABCUhAAhKQQB4CjVP5eR6LV7P0IrZE7kS2EOFSzS95hCNH1MoXseYtOelozlw068OFYQs/PtzLHSSwAIE4F48srkDwq7j3EMnC59WTBYwjoMgyjpd7S0ACEpCABCQggVcEmoddh0m8J0NkByIEP/tMeoND9P6rPP+Hza2wwq+TELVC9Eo1wtHCLYGzR0TXwtmanQReEojz8rNIpzBaVAAAEABJREFUzLnSRq683OEYf/0Y95yjDlNN0cKKLCmaSSMlIAEJSEACEiidQPPQ65v8lw2FKMEElES3ILgwYW6x8yWE88bbcUSha2Hls5dV8q8bAgwPctjCDZT3f/r/EgSa85JrB8IK52ax15Al6vsgDwTNI064/gBLWV8rspTVHlqzEoG4OKN6v4216elpCAMfKFfqi2YrAQlUT4CH3yPPz3KvgRFc+FnVn+J+zMKae9In8QfRL/eOXeW7KJf5VRBVGN6EA0dCFKr/PrgcUYctLMfSnBoCcW62gifD8zgvuXYwJLHZ45ArBc0kza7IkqShNHM2AX7a7O+RCxPUmU6nRwx+iJsbod6BzEUCEpCABIYSOJ/PPAQzPwvroYcddT/eRnM/IvT/33HfIdrlIrzEZ+Y/QXxZxKmK/MirfeGCoEJUzVOAx4FDVOGet0hZkeeRlu+jz39/pApb13UIxDnK8DzO0TZiBWGFcxNxdp1C8+X6eZxvRLLks/xgFiuyHKzBj1rduCDxsPvpUes/sd48hDL+fOLhHiYBCUigSgIPKxX3HB6CiWh5uK87vCCAyNEKL9x/EF8QXsL/ekKEQYC5TkTB3Kbr7y9CylP8i1LIi2EGiDoIKjpuAWXm8mv0dfv5TIhHPTxOSyJVWlGF85N5jzhHjVjp7hQMyeOlcfe3bi2KgCJLUc2hMWsSiAcBH3rHA+ZNIlEtu4RxjzfXIyRwdALWvxQCcc9hbhYnwl2uQbgPIcBcJwST23T9vULKcvxvc/Ll1S0R/+4lEIIKkWQ8UyKKIoQiqBCp0ooqnLe9x/vFiSF5Rowl6giKLIkaS1PnE4iHXi5QpPmZHScHxqVzQ+QN43FqbU2XJ2COEjgYgbjn8OsP3nMO1u4HqO5FYIn+zfoA1S2riiFYEP2BaNGmXcXEsId5jVpbEFFIvKDj2ZEINIblEalCdBqiKIIKomlZYMu1hiF53EvKtVDLXhFQZHmFxA21E4iHAkJbDbcb19DcwAm7Zj3uyCR7a6YEJCCBNQg09xyFljXgmudeBJwXYi/y78sl+gPRok08n4XW8WphO0LHo4Qocp0YLn7vmHYI36XAMIl5jVpbEFFIvKBTTAk4MxcEFvyWmdl4+NYEFFm2Jm55pRBgUkKGD5Vizz07SvmOtw7csBnLXopN2iEBCUggAwGGDXnPydBS2viIgPNCPCJUzve8GEPoeJQQRa4Tz3n3jjGyeZs2VmDZhvMqpSiyrIL1SJnmrGu8WSTEFWWYdc5K7Gc1bzgI+dzPAkuWgAQkkIhAc89h8nWFlkTtpqmvCCCwGJX1CosbJLA4AQWWxZFum2HdIsu2LC0tGYF46OVhl4iWZJYXYS6TlxHVQnRLEQZphAQkIIGSCcQ9B1FfoaXkRtK2ewScePMeHb+TwHIEFFjmsCzkWEWWQhpCM/YhEA+9zM1CRMs+BuQulTBUxuUSUpq7JlovAQlIYAMCcc9RaNmAs0UsTgCnz4k3F8dqhkcjMKC+iJn6JQNAlb6LIkvpLaR9qxOIh15CX79ZvaA6CyCShcnR3tZZPWslAQlIYFkCcc9RaFkWqbmtSwCBRadvXcYl5K4N+xNgOJ5i5v7tsIgFiiyLYDST7ATioReRALEle1X2sv/rp6cnfq4P0WUvGyxXAhKQQAoCcc9RaEnRUoc3EqevAIHl8O0ggLoJXO4HcV/QD6monRVZKmpMqzKPQFzceJD4cV4uhz6an+tz+NChu4CVl4AEhhKIe87lwTr298E6IKRd6jUcgcW+WW/7WrMyCDA/5KdxP2D6gjIs0opFCCiyLILRTCoigNDCBa+iKm1aFSJZHD60KXILk4AEshKIB+s/InHfWcWZzcpFu3cnoMCyexNowAEI8GIXgUW/o8LGVmSpsFGt0nQC8bDbvln0gjcdI0cyfAix5UP+MElAAhK4IeCfVwTi3oPQ8tXVJj9KYA8CPAN9HP1R0W8P+pZ5JALfxHn2eSTOuSPV+zB1VWQ5TFNb0aEEmgseP7PphW8otO79+NUhfuaZYUTde7hVAkUS0CgJbE8g7j1MeIjY4r1ne/yWeDr9fjqdfKseEFwksCIBru+cZ8wFuWIxZr03AUWWvVvA8oskEA+7l4tgGMc6Vi4TCTB8iAlxSXyemI2HPRPwgwQkUC2BuPcQQYDIj8NbbT2tWHEEmA+CCBajeItrGg2qiADDg/4a13nOt4qqZVW6CCiydFFxmwSCQFwEedjgYVehJXgMWe7sQzSLk+LeAeRXEpCABCDQ3Hs+js8+iAcEl9UJfBt9jjfrPuusjtoCDkqAc+urOM8cHnSgDqDIcqDGPnhVJ1U/LogKLZPIdR5EJAvztLx7enric+dObpSABCRwdAJx72FCXET+b47OwvqvRgDHjwlunQtoNcRmLIETYjlRYgwHPfnvOAQUWYpoa40omUA87Cq0LNtAbyI75mphzpb46CIBCUhAAl0E4v7DuP3P4zsc4li5SGARApfnmuhfDE9bJEMzkYAEXhDgmk30ClFiDv98geYYfzwWWY7BwVpK4C6BeBDhgYQH3bv7+eVgAh/GnkS1OFdLgHCRgAQk0Ecg7j+XcfzxPW9EY+UigVkEeKOO48dzzayMPFgCEugkgHjJ3Cuca507FL9RA2cTUGSZjdAMjkIgHnR5wOWXH45S5S3q2c7VwnqL8ixDAhKQQDoCcf9phw8xtIM3pOnqoMG7E6DfMCcEb9f5vLtBGiCBKQQKPgbhEgGTYXieYwU31BamKbJsQdkyqiEQD7qo0woty7Yo87MQ0UJkCxEuy+ZubhKQgAQqIRD3IN6MOiluJe25YTUu0VDRf1hvWOzhirLCxySAoIKwwtwrvJA9JgVr/YKAIssLHP4hgccE4iFFoeUxpil7MEcLc7UwB8GU4z1GAhKQQPUE4h70eyQmxTWqpfrWnl1BnD+iVz4/n898np2hGUhAAs8EOKeYnJyhQfgGz1/4QQKKLPYBCUwgEA+4XEyJaOECOyEHD+khQFTL109PT/7ccw8gN0tAAhKAQNyH6olqoUKmpQnwnILzZ/TK0mTNTwKnE9dfzq+3cS3WFzj575aAIsstEf+WwEACcVHlAYa3iV5cBzIbsRvDhhg+xDAiPo841F0lIAEJnE5PT09vInEdQbydjKTkA+M+1Ea1MDG7v2BRcmNtZ5vzQmzH2pKORYDnfZ79EVec2+hYbT+6tooso5F5gAT+JBAPuJeHmdjChTdWLgsTYELcyxCicJaqdZQWZmZ2xyFgTTsIxLXik0i/xFfvIjEMkXV8rHeJexHRCszVQui696N6m/pezWh3HD/nhbhHye8kMJ4A5xbXVsQV5l5R0B7P8HBHKLIcrsmt8NIE4uFWoWVpqC/zQ1z5OjYhtnwRa5cUBDRSAtsSCGHlw0g/RKk/RfooUrt8EdvftH/Uuo57Eb9A9Dbqh9jC29b46HIQAu3QBdYHqbLVlMDqBBBTmPsKccVhQavjrqsARZa62tPa7EQgHm4VWtZnz7Ch78JZIvyft9PTS/RICUigGgJxTfggEuLCb1Epot9i9Wp5F/v0ffdq58wb4n7EECLmDPtr1MNfuggIFS+IaTiARLDwtr3iqlo1CWxGgOsmE0Zzbn0b11TPrc3Q11OQIks9bWlNdiYQF+FWaGE92RoPfEgAgQWhxflaHqJyBwnUTSCEEyJUEFeIdntUWUTa6wiXR/un/j7uSYgtzBtGwmlIXR+Nf0GgFVccuvACi39IYDIBhBQiwRBWPo3rJ0MwJ2fmgRJQZLEPjCHgvg8IxEUZgYUHWtYP9vbrmQR4K82vEOE4EeUyMzsPl4AEshAIcYUhQIgrzLfCkMIhprMfAi3rIftXsU/cl36OxH2JpNiSu1UVV3K3n9aXRwAxhaiVv8R1kogwhgiVZ6UWpSNQkciSjr0GV0ogLtKo4TzMKrRs08bM08J8LW/D8TqU87QNXkuRQDkE4hxnUlvEle/CqiniKteIwwktweoU96ZWbGEYEc46m005CNBevGE3ciVHe2ll2QQQVhhSibCCwMLfZVusdT0Eyt2syFJu22hZYgLxMNsKLTwYJa5JGtNxnBguQGSLYkuaZtNQCQwj0IgrTGhLmiKuXBfEkKFDCi1AiPsTw4hwMBBb+MUM7ld8ZSqLAO1C++AIKq6U1TZak48AQgrXPc4nhJXv41rIObZeTcz50AQUWQ7d/FZ+TQJcvCNxQVdoWRP0y7wVW17y8C8JpCZwI64wH9NS9UFo4ZeIlsovXT5xf0Js4Rcz/hLGc68y+jJAFLAwpAtRBWeQ9tERLKBRajPhAPVh2A/P359HXTmXFFYChMt2BBRZtmNtSQclEA+yPLzyE3AHJbBLtRVbdsFuoRJYhsCK4sq1gQw9YtjR9bZDfo77FG91+elnEpM/6thv2xPgDXeGBDHpJs7hthaUU5qWSGAKAc4holV43v44rmmcS4iVP8ZnvpuSp8dIYDIBRZbJ6DxQAsMJxAWehyfEFi/0w7EtsadiyxIUzUMCGxEIcYUJbRkSRFoycqWvBpSn0NLQiXvVr5GY/JHoFt4A47Q037o6nRZngJjCG3betMOdt++LF2KGEqiQAOcK16dWVOEc4lz6Nq5hRuVV2ODZqqTIkq3FtDctgbjo8zDFhLgKLdu3Yiu2/DucOH+NaHv+liiBuwTivETsaCe03UJcubaHsvlJeK4T19tzfV7Y2rhn8QYYoQXBhZcEODQLl3LI7OAIT5zCy5v2Q1Kw0hIYToDnZobRMUcR1ySiVEiKKsMZuufGBBRZNgZucccmEA+tqOuEY7M+Noz9as+vETFBLmLL1s7cfrW2ZAnsSKCr6BBWPojERNWtuDJ3QtuuYoZu+yx2POxkuFH33iXuW39EYjgRzg2CC2teGuD49B7nF88EeOMOLxzCQHlmDU/5PSPygwQuBDgnEFM4XxBUeDGJGEliGB1zFCH+ck5dDvA/CZRKQJGl1JbRrmoJnM9nbg7cOHibVW09E1QMsQWnioSDlcBkTVyBgFluTCCElQ8jvYtiEVf4VbA9xZUw43lhMlyuB0a0PCN5+SHuXwguODlEYCC48NIAZwjH6OXOx/4LHu0wBt64w8t7/rH7hLU/nVoRhfOD6waJ52EElLi8nFsxhfMFQeXn8/nMMSf/SSAbAUWW5VqMiwAXjYwJ25cjYU4PCXDTiMTbQOZqebi/O6xKgGgWhgoQ3fImnL+CHKxV623mEtiUQJxbTDTLL/ogrryJwks811qhhXWY6HKPQNzHmMMFZ+jiJMW+OEw4TjwLxZ+HWHiGor7U+8IhuLB2bojym79tN9puicQzHXlOSSVHOPNysK9O1PmWHc+3XAtITEIbp8RlaUUUzg+uGySEFPIuv7dooQRGEFBkGQHr3q5x6eBBg4tGxlTyhf0e9vTfRb/hTRdjs/PVpT6LeZt+ebseziBDifi7vlpaIwlsSCDOJYYEMecJwgqT2WaIGkNgIaKF9dkyVzkAABAASURBVIa08hcV9zQcJhwnnoXOUSMiXbjH4YjV4Ei1ggr1oV44kK3jSL1rqGM02zGWq/5K2y2Rvoo86ftTEn0pDi9yIRqrr07U+ZYd0W5cC0j6GMc4nazlDQFFlhsg/lkHgUy1iNspY095EOXhLZPptdrK23WGEhHZgqPF51rrar0ksAqBEFcYEsSv9iCusM4mWnId+CXq4fk/o4fE/Y0XUMw/giOGk4bw8tfIkjfcvP3m/ocwUdr9r31zj5iCndiLo9kKKtSHeulARmO6SEACEpDASwKKLC95bPGXZUjgFQEeRGMjD54+sAWIghaGEhHVwq8SvQuHK5ujWBBKTamdQJwfbdQKESuIKwgUiBWZq875T4Rb5joUZXvc736PxBtu3n4z9wLiC+IFAgwvHBA0iBJB3CAxlwlCTJum1gchp82DNQIP+ZPa4Q0IKWHemTV2IaZgJ/YivEwt2+MkIAEJSOBABG5ElgPV3KpKoDAC5/OZCQV5wOTBrzDrDm8OjiJzSDxHt+BQHp6KACQQBOJc+CgS0SoIK6wRJ+ObahbmaiKqjetANZUqsSJxHyTyBUGDKBHEDRK/xoPg0abYbdKCkNPmwRqBh/xJ7fAGhZQSO4Y2SUACKxIw6zUIKLKsQdU8JTCDQDw68gaPxFu3GTl56EoEcCBxJBFceMvN3ysVZbYSKJNAiCoMB0J8QFj5JaysIWolqtG7cJ5zzrPu3ckvJCABCUhgQQJmJYGkBBRZkjacZtdNIIQWolkImfatWrlNzVttHEvecON8MZzIiTLLbS8tm0kghJV2OFD7C0EMoznSEDrOec73tzNRergEJFABAasgAQlIoI+AIksfGbdLYGcCIbQwPwvDhxiPvrM1Fv+AAI4mw4mYKJPEG362PTjMryVQPoEQVz6LRPTWv8Na1hl+IShMXW35OnggtniOr4bYjGcS8HAJSEACEtiRgCLLjvAtWgKPCITQwjwtTMj31aN9/b4YAkSz8Iaf6BYFl2KaRUPGEAgR4SKsxBphhcgVorbGZFH7vgwbupzftVd0+fqZowQkIAEJSKBuAoosdbevtauEQIgt/IwkUS0OH8rVpl2CC9ty1UJrqycQYko7FIh5hq6FFYbIVF//5wqO+wAbhgka1TKOm3tLQAISkIAEqiagyFJ181q5mgiE0OLwodwNirhChAtvv4lywTnjbXjuWmn9ZgSWLiiEFSav/SLWRKogrDAUiIgVxIOli6s5P85jzmuGDNZcT+smAQlIQAISkMAAAoosAyC5iwRKIRBCSzt8yF8fKqVRptnBXA44ZLwB/3c4uUQP4OxmdW6nUfCozQlEX/skEgIfvwjELwMhrBx9jpUl2oFzF66c0wiqS+RpHhKQgAQkIAEJJCSgyJKw0TRZAiG28OtDDB8iukUgdwkU/yXOGdEDOLsILrwRfxuOMG/HizdeA8smEP3oOVolPhOt8lNYjMCnEBAgVlg4bzmHEVw4t1cowiwlIAEJSEACEiiZgCJLya2jbfUTmFHDEFp+j4TQ8s2MbDy0PAI4v1+HWbwRR3T5IZxjfq2I7bHZRQL9BKKvMLcKk9bi5BOpQkLAI1pFp78f3dLfIGQxLBABdem8zU8CEpCABCQggYIJKLIU3Dh7m2b5OQiE0PI2LP00kpPiBoTKFpxinON2LhdFl8oaeG51bkQVhgARrcIcKzj5DEubW4THTyfA+ctQQMQWIlym5+SREpCABCQgAQmkIZBVZEkDWEMlsAWBEFp+jnKIauFXiOKjS6UEcNpuRRciXi7Di3C4K6231WoIRBt/FIn5ey7Oe2y+FlWMdgogBS6IXZynJMWWAhtIkyQgAQlIoHgCqQxUZEnVXBorgX4CIbQwKe5XsYdRLQHhIAuiC07bZXhR1JlIF+aDwAHHEdfpDihZlxBTmE+FoT+IaDjoCCpEqzD8h2EoOO9Zq3dEuzlXaUcSn4/IwDpLQAISqJCAVZLASwKKLC95+JcE0hMIsaWNavkxfWWswBQCCCs44DjiCC7hqz/h1DFHB3O76NxNobryMU9PT12CCvOpMPQHEY12Q1Rb2RKz34AAbck5SeLzBkVahAQkcFgCVlwCEticgCLL5sgtUALrEwihhaiWz6MkknO1BIiDLzhyzNHB3C44duHTPzFPBJPqEiVBtATizMExrV/9p/diCj+jDHciji7tESUrqASEgy2cl7Q/CWH0YNW3uhI4nWQgAQlIoEYCiiw1tqp1kkBDIMQWolmcq6Xh4eoFAYaaML8LURJES7RRL4gvOH2IAJfIF4SBF0f6x0MCwQwhBfEKjrdiCj+jDHccaxzth/m5Q9UE6AP0Ec49zjkjlspobq2QgAQkIAEJTCKgyDIJmwdJIA+BEFqIanGuljxNtreliC84fYgAl8iXMAjnL3SDJ9YIMDiEiAfM+4KYcKgomKenJ34mmXqT4ECCCym+fnoKZggpiFdwVEwJIC4PCSCufMA1++GeJ/eQgAQkIAEJSKBUAoospbaMdklgYQLx4N7O1fLNwlmb3XEItAIMogHiAfO+ICa0UTAIDHxGbGiHIr2NjSQEiTbhTBZFLWxsbWONeITNJAQl6kNiYmEEFCagpd4kOJAQpkhF1WsXYyx0CoHL9Tmu02+nHOwxEpCABCQgAQmUQ0CRpZy20BIJrE4gHuCJauEhniFEPNSvXqYFHI4AUS2IDe1QJAQIEoJEmy5iRQgb7cLfiBhdiQl7ETumJISeF3lGgfyNEBQf/1yilVrbWCMeYTMJQYn6kIoTh8Jul9wE/gjzP49r86eRnD8rYLhIQAISkIAEshNQZMnegtovgQkE4mH+10j81POXcTgP+bFy2ZnAkYtHvEDE6EpM2IvYMSUh9HTliRB0ZN7WvQwC34YZf41rMXNnxUcXCUhAAhKQgARqIKDIUkMrWgcJTCQQD/ffx6F/jcQ6Vn2L2yUgAQlIYCECv0Y+RK58FddgRe6A4SIBCUhAAhKoiYAiS02tedS6WO9ZBHjIj0REC5EtPPzPys+DJSABCUigkwCCCsLKx3HNdbhmJyI3SkACEpCABPITUGRZuQ3NXgJZCPDQH4m5WhBccAaymK6dEpCABEonQLQgQ4MYIlS6rdonAQlIQAISkMBEAhymyAIFkwQk8EwghJaLMxAbdAYCgosEJCCBGQSIWCFy5cu4tipezwDpoRKQgAQkMJuAGWxEQJFlI9AWI4FMBHAGIn0VNjNfC05CfHSRgAQkIIGBBPiloPZXgxyGORCau0lAAkcmYN0lUA8BRZZ62tKaSGBxAiG0/B6JuVpIOA2Ll2GGEpCABCoiQLTKN3HdZGiQvxpUUcNalYMTsPoSkIAERhBQZBkBy10lcFQC4TD8HImoFudrOWonsN4SkMAjAgyxRFx5+2hHv5fAkgTMSwISkIAEyiKgyFJWe2iNBIomEEJLO1/LN2Eob2xj5SIBCUjg0AQu18W4PvLLQV4XX3YF/5KABCQgAQkcjoAiy+Ga3ApLYB6BcCT+iMSbWiJbeHM7L0OPloAEJLALgdmFMl/Vp3E9ZFJbh1POxmkGEpCABCQggToIKLLU0Y7WQgKbEwjHArGlnRyXN7mb22CBEqiWgBUrmUArriCw8LlkW7VNAhKQgAQkIIGNCSiybAzc4iRQG4EQW5gcl7laiGxRbKmtgTvq4yYJHJQA0SpErSiuHLQDWG0JSEACEpDAEAKKLEMouY8EJPCQQCFiy0M73UECEpDASAKtuMKktgrJI+G5uwQkIAEJSOBoBBRZjtbi1ndHAsco+kps+TRq/GMkFwlIQAIZCSiuZGy1DW1+enr6JNLbSN9F+qkjvYttbyJ9sqFZk4oKGz+LhL3UIz52Lv+OrXzPfp9NKmjjg8LeDyLRTrQDbXWbqPdHG5s1ubioy0eRvohEPWiL2/RD8x31+mByQR4oAQnMIqDIMgtfRQdbFQksTCDElp8jfR7ZOowoILhIQAJpCBxeXAknDac0VneX39Zu0Sgdh/LWiXzx99o23OYfNuHg4sg+xXc/Rfo60heREFJu05vY/i4SNiNQIMawT2zaf4m6fBgJm/4d1vwQCXvv2YfTzvfsB4Pi6hR1OEWdqBdC0C/xN3WjnWgH2uo2Ue9f4pgi6xL2Ux/OA+rDOUedvovt1IO2uE2IX3xHvagTdaPP0nZx2DpL8EP0idWrBfaLFBo5U5dYdS7Ud6ly4NZVCKwXKcNM6ieQQmSpvxmsoQTqJRBCi3O21Nu81kwCNRFgElvmXHFY0LBWxZH9cNiuk/f6WxyJY3MvxS7rL+Fx4aji5OLg4siOLRQnFzEGweW3yI86jc1jkf2jbKI7EB2oDzZh25S8OY7jqRNiDX9PyWeRY6JeiIM49dQLIWhMhAq2t3XZtX1aGFf1QVihPlPONxjQZ6kTQgj1bItYcv1rT2aU3/PV8M3Bgrrfy2uR86kpp5NRPM9yjxhutHvOIpD9YEWW7C2o/RJIQiBuTootSdpKMyVwMAI8ODOZLck5V8Y1/hSxYUwJa+f/0JZwuogiwMnFUcXRe3jMgB3IB2GCaJBOh25AHpN2oT5xIPXBaY+Piy0IFDjy9xzhxQq7zijqhGhEJAMCyxLO9m7tQ72a+iCCLVUfsqWfEeFCNMgSjMjzOnEdvf67/UzbwLP9e+r6kc2Us0Tf6yvnun5T6+BxByKgyHKgxraqEiiBwJXY8pew55tIf0RykYAEJLA1AQQVhBWSD9DT6BNpMu3IB0eFo4nDtIRz9qCk/q/DBoQDBAls6d9x+jeISJsJE1Ef6oHjvhZXHHnEI8qZTmXEkVGnC8M4hHWsFl3Ic+v6wI42miiCPaw/bU+d3j7cc8QO8WzHs1xfNEufcDGihNP/G7Az7TVgt7u7/GfPt//ds93NEugkoMjSicWNEpDA2gS4IUfiJs+cLV9FecyDECsXCUhAAqsRwBFAXGFIEEODFFfmoSbKA6dtXi7dR68m4HQX93JrOO8ILESvvPzi/l/cx+hTpPt7/vktwgTRBZT359aFP0V9KIf6sH6UO+cJdbhNbH90LPnjxL/uF4+OHPl91AlmRLBQ5sijB+9+ET2iLNaDD5qyY1MGAsuYsmiTtp36RI4uc76O8ugPXd9N3YYdXcf2CRdd+/ZtGyLUDBFi+vJvt/eV01e39jjXEnhBQJHlBQ7/kIAEtiYQQssfkb6NhNjyZZTvjSwguEhAAosSwPklcq4VV/h70QIOnFmfUzIXyRJvpQfbcL1jOJ8470McUO5XvCT4OO5hLPQvIqNI58izva8N+aU95jSh3DhslYXIiHvOO+cEdaEOf4nKUIfbRATqx2Ed5xLOfXzsXBA9hvDrPHjIxmgjhtMMKQPhAXuZiJ/6RNXOtA2/gEj6Nsqj7rHqXS71iTJZ9+4054vIG1EKgeVRGXDHZupDO5GoF+nSD8MO2oi2pO7xZ+/CPENDGPZmcPPF/9z83f55r9+1+/SuGzbw6d2n+WLWtSjKgX25Ih0rAAAQAElEQVSXrTynPmLZmOBKAu8JKLK85+D/EpBAAQTO5/P3kXjoIfG2uQCrNEECEkhMgAdjIlZwHN/G9QUHJVt1Srf3v5Y2MJwdHCrS0lk/zC/Kxsl65HgimtCncGx5SUA/e5V39DfmIuO+hkOM4MJxr/a72oDQMstRvMrr+WPUCZbMx/G87ebDV2Er9aEudwWH2O/XSG0UKuLFTVbPfzIJ7SqiUdSHfBGNngvr+MAzBHVCeODc/zHsRhS77MrnJl3qHht57uhsx/iOZUi/YL+p6VFEDtcurmWIKthMfdj2qryoF21EWyK2PKrXkkLLM98bo+b26cHHR98YvO+NjfxJG7O+TX31ut3PvyXwTECR5RmFHyQggVIIxAMCP/9MVAsPpTzEdT5IlGKvdkjguASKrTkOFg4wDhafizW0AsM+C8eGN8BLVmWXKJamHji7fXXhXkS/+jzuU3fFiNsM2D8SYguJfG53af9eYzLcezypD5ERbfmD1lEX3u4jtnCv7jvm731fTN0ebYQjfE8Eo1047xEk+DyoqKgPzx2IEveuF/R1BJ5BeQ7dKepEVA716jsEcQ7B6J5tnccOrBdCy+x6RVnwJr2yJeo4R/zoEnL7+mzXvq/s6dnQZ+O/evZ3swR6CSiy9KLxCwlIYG8C3LAj8QaKEGUe5HybsHejZCpfW49GgId7RFmcERwsrxfL9wAYd+Xa55x07Ttk217zsRDtQdRHl41EOdC3ZvWruKfhMBNd0Ce0IFjdExG6bHu0rY/nN2HP3Prg+JO6bGDOnnviQdcxj7bdE8FoIwQW1o/y6fw+ePCs0VcfjnkXggFtxOfZKfKCz72oHNoIUa+vvwyyoakXdevbn3r19f2+Y7q29/Un6tm1/5BtXdcXhiZ1ldW175Ay2KdvTpeuctjfJIFeAoosvWj8QgISKIlAPCAQcs2DafumadYDx951s3wJSGAxAjitOCE4wIiyfULAYgUeOCPYkm4RzHl7/CKvcDpx9G4dsq4yXxw394+m3D5nl/sNER+s5xZ1ivsZIgD3s778iJiY4yw+2xj1QhC45cn3lN0XDcD3YxLzf5Bf1zH3omi69u/dFnUhcob+0bXPhWmw7bOj65jObZEHYkSfYw3Pvn7Smd+DjUSx9O3CkB/q3Pf9qO1RL8QjhOiu46jXPVu6juna1hf10SdgdOXxvC3anL6Lbc/bmg+0T1dZCHtd+zeH3V1R1u0ORGzRt263+7cE7hJQZLmLxy8lcEgCRVc6HhIYa8wDEEOJWHvzK7rFNE4CqxDA6cZZQFhBYEFoWaUgM31FoIv1Yo50lNaVV1eZseuiy73oEfrYbOf92lruZfE3Q4di1bkQVdP5xciNXY4jWTA8ZpE6RV3IBweefG/TJOf6NpPm777hR5RP9BrrZtfZK54v+vLrs2NUoSEgMESnT0zjWQfxalSej3aOtkK0QaDo2hVxr6+/dO3fta0v76n5dvFB+OAe0FdW1zFdtj5vi7bAvi5xpq+M52P9IIEuAoosXVTcVjABTZPAewLxoMBNlugWIltIvJHreyB6f5D/S0AC2QngbOPwIq4YtbJPa/6zo9gPwknpEkc6dn24qWtoS9cb64cZDd0hbMfB6nPMuM+s4mjFfYx8EQu7TGXi2D6buvYfu43hFmOPubd/V79gf9iynpWijRAkupxg8mVIzaIvXKJtcOL/QeYdaan+fk9IQ+TpKHqRTeTd97w0S0BquMHu1tAPow372u923+u/u0Q6zhsiwlh31aPrmOs8uz739dNVrz1dhritDgKKLEu2o3lJQAK7EIib+uWNT6zbuVtwxHaxxUIlIIHFCfDAzhtdflUDgcXze3HEwzOM6yzOLG1ye9AUx+ZFHo0TduvsIKiv3eZ9jiUOXJ8I8sL2GX/ce0HQJTjNKOrFof/x4q+ZfzT9oiuXKY51Vz59bcQvOMGw65i528iXPtCVz6whctHXEdD6hj4h7HGedZU7e1u0Fedvn4DEJLhz2wzxo8tO6ty1/d62rmOuhY+usrqOuVcG3/Vdv7ryZ3+TBN4T6PlfkaUHjJslIIGcBOLhgYcTQrAZToRjttqDSk5CWi2BFARwbHBwmMSSqBXmJmBbCuMPYGSX6LFEJEtXHl1lLYY4nF0cSqIkuvLkfoJD2vXdItvinkW/7nN4u3gsUm5kMsURjcPuLgwZwiklIU616e5Bj76MNkKMuBXf2sMoo/286Lppm67+R5/435mF3RPQVqvTlc201dWfLz7O7XfXIsh1xn1teL3P8+dod/oo5+fztubDdZt0lcW8LPSZZvdBK8q63RGBN/Uz5G2F/Hs7Aoos27G2JAlIYEMC8XB0ebsVa4YSkXDYeDDa0AqLkoAERhDA2eTBn2gVola+ivPXB9wRADfctcuxYTjAKCeqw96u6ID/7thvyU33HMo+8WPJ8smLfs/6Ni0xLKXvvkd73av7rS0P/47zlXlRmCCYxHC+S3p44OMd7tl57XA/zmn8HvQ/GNJGDLNB9CUxt8n43OKIEA8QDnYT9sIEhtpQpz52Xechhw1NiGxd+15Hi3R9f7utS/jg2Q7b2337yuo6tj3mxbppjy5Rpi/vF8f7hwS6CCiydFFxmwQkUBWBePBrhxMR3YLgwsMSDl1V9bQyEkhKgAf91nnBSePvpFU5htlxTaWNuq6h95zhu3AaR+f2eN4kU9bdY2d+2edQ/hj1vHbmZhbTf3hTTp9D12dff4ZX3zR599Xju+A+Vxi7Km21j33OOff2rn4405A/Dw9+9ANEFa5NS0U23RMAthL2qCQCEuvbdHse3n5/9+9gRn8j3e43tq91tfuL8yTKQojv6gNdx97a0/7d1x5dYnJ7jGsJ3CWgyHIXj19KQAK1EeCGHImHJeZvYViRgkttjWx9MhDAcUZYIWKFyBWcl64H5Qx1OaqNtOFt3ecIAl2OXVcZt2XO/bvPwepzQOeW13d8X3kv7es7+v72Po5EVPwSQsvbSHy+n8t+3/Yx6GO2n6XDSu4TAIjSQDQYlsv8vfr6xSn6Qx/zoaW+EEOag4jMGiO0dNnQJXx0ldV1bGPGq1WfTV35vjrYDRLoIqDI0kXFbRKQwCEIhNjCGyoFl0O0tpUsgAAP9AorBTTEQia8cnAj3ylzIcRhl6VLoOkq47LzEv+FI4lz1ScubO1g9ZXHsJ4+G4dieBQdwa/c/BY8EFu6hk0MLWfx/cIm7Omrfx+zxe1YOEP6XVeWXCO7tq+yLZ6BELb7RJ0xIkWXfV1iCPv11Z3vnlO0e1/5XW3eVRbnDX3nOc87H7pEr60Frzvm+VVGAoosGVtNmyUggcUJxMPGteDCkCLncFmcshkejAAP8ESKlSCsHAz9+tXlmtlTSldESs+uLzZ3OVVdDtWLg2b+0efw4WB1DXeYWVz/4cGzz9nloD47+e5hirypy6PJVBEyWrGF6JY34ejOKvehYcN2uOco32M2LPd99urq61jSJRawfc3Ux/A/Zxbad+4OzbdLdO07L/vKGnot6mqPvjxnYvHwoxBQZDlKS1tPCUhgMIF4IGWcN5NutnO4+CtFg+m543gCVR2BM4dAyRAghgIRKeZQoKqa+EVlut68dzlHLw66/SOceZwhnPzrrxC+Eequty39uc+Bpx8vXdaQ/Pocu9liR9zXmKi1z6G+tY3y3sVGxJZonifW756enj6LdNtOsduqS5cDfCkw6rR2/7iUs+R/wa+vz1HMHv2u71eSZrVztA11IVGv69Tbntc7xeeu/TrPjyiLft3VF7oiVCLrP5doj65y2GEPwYtyTZUQUGSppCGthgQksA4Bbt6R+PlYoluYx4W38jgWXTf0dYzYM1fLlsBjAjzgIkR+HOcKE0QiUHKOPD7SPbIT6BrO80k4LmMdtC5hpivvpXn9R0+GpTlYY3n2VOv0aXzB+RqrUQuiy5s44odI/472/SkSkS73BIPYddWl0+FetcRlMu9lFtfPKW0z16o+jrT53Ly76vMw3+hb9Peu/e5dE7rq0SegXNerqxy+78qP7SYJDCKgyDIIkztJQAIlEtjapngA4pcueCt/eUsf5fPAylv7rgeJ+NpFAlUS4O3k9TAgxBWESM+DKpv7bqX6xDQiU+4eePNl1/59ed8cOuvPXod3Vq7TD15V3OEeFqZx35rLFueVSBfmcUFw+SLydamLAELH3Bp19ucQUeg/9/Lu+/6e8NElwAyZaLcr2qVvWNI9m/1OAi8IKLK8wOEfEliMgBkdgEA8sP4cibf211EuOJ84oQcgYBUPRACn7DpaxWFAB2r8vqrG9Y+Ivi7HpysypTObcLgQWG4dui2GCnXaU+jGofNYPDSfNovEL+uRlrhX4RB/F+1IhAsT59625UOb3KFaAl3XBirbFz3Cd6Qu4YNh3Fxv+L4r9ZVF/+zav93WZUtfXu0xriXwkIAiy0NENe5gnSQggaUJxENrG+WC88lcLiScUpzTew8GS5tifhJYggAPmUyU+Wn0bRait4xWWYJsfXl0vUF+5NhcU+gSZLryvD7maJ8XFy7ipEbI4j6F2ML5PpcpNjJxLvO3jGn/ueV6fKEEoo8R3dj1/NMlolzXoqv/3O2jURaCIek6Hz73lhXCIJFsJPa7Tp0RONc7+FkCjwiUJ7I8stjvJSABCSQgwA0/Ek4pzilzuRDt0oouXQ8CCWqliRUT4AH2WlRBXHkbfZjtFVfbqi1AACH5NhvC9IlQud3e9XeXQ9WVZ9exbptJIM5xxBaGECG4cI/CMZ6TK06rQ4jmENz22C4RZEkLuu4hXdEjlzIb4aPr+yHCR1dZ965DXeVgR1c+bDetRaDCfBVZKmxUqyQBCZRHIB5kCXVtRRceZklMosvworkPteVVWItKJsBDNU4sDhViSnTPM2tFlZJbrVDbzuczonHXNawrQuVFLcKhwsnBKb/ezjBM+uj1tqN/Xp0H7RiJexQvBHgxwP1pzpxjDCFyrpbCe260ede5u6TVXeLIh3HuE/nUVU6X6Mp+Q4SPrrJOUVZfnl1RLq/mY6FwkwTGElBkGUvM/SUgAQksQCAebLiRM4kuw4vah1reJhJNwMPE6g/VC1TDLHIQoD/hLOE08es//LQyEVY4VHyXoxZaWTKBf3YYd+8Ncrv739oPV+sthwqt7WBeVWvWx/+ZdfTIg+P+1A5//So+t/cnrh+8FBhzb0JoQUgbaYG7DyQwe7c7AsTsvJsM+u4xY4QPXlIN6Xdjy+qyoS+PpjquJDCMgCLLME7uJQEJSGBVAvEgy0Mtb3CJJiCqgDeJRLswXl7hZVX6VWWO04gjRJQKv/oTXetMf8JZQtQj6qCqCluZIgh0OSYMGXrkYHcJMURZbVWp/+spqOsNd8+ui27+/y+a20KZnc9n7k9cP3gpwL2J+xLXmTuO73Ph/ArR8x9+SENgSNs+rEz0He5JXXn1XRsmCx9RFvc30q1dfedzlw2d0TC3Gfq3BB4RUGR5RMjvQ7pQ2AAAD8NJREFUJSABCexEgAeGSIyX7xNecEa6Hih2sthiNyTAQyuObRuh0goqrHGEiFLh4XZDkyzqqATiOkVf67oWdUWqXDDFG3QcnNuhQryx7srncsxi/5WbEUy6rON879q+y7Zob+5LXGcQXBB079n3SbR1l+M81Hb6Vte+fay69i1mW7Djut1pT3Dao06352BrWx/39vsx6646vxI+ov7YQrrNe0x0W1dZr/pflPVqW1No1/HNV64kMJyAIstwVu4pAQlIYHcC8YDGMCMecBFeGPLB8I9zGMZQIx52cbp5SLj30Bu7uyQiQHvy1piIJtqZNmfIz3WEypIPxInQ1Gdq4hoh+t6a3xWp0u7TJcB0DTtq919jzbnVlW+fA9a175Lb+pzsYs/vuCdxzyHq8p6Nf58Bqe9eRqRU37weM4rb5NC+OnUJDGsb9J89BSwpdnZFh3SdY13bTtHH+s7TLtO7yuqal6WrLJ6vlqx3l31uOwgBRZaDNLTVlIAE6ibAQ0gkohcYFoLzjRPeii+MpcdBxwm69yBcN6Sya8eDHQ+SOCyIZa2YEs16pj15a4ywxpAy9t2jNpYpgXsEugQSJrjscxy7nByuUffKWPq73nMp3nT3CR5L23DJL8qDU59oUPR1+3w+Ixpwzeqzs6utL/V+9F/kzXWxb7dN26jPiAnb+zi9iu6YkPfYQ/ra5n/HZnRn/842jD5/235dk2V3Hju2rNj/tqwucWlsWZGtiwS6CSiydHNxqwQkIIEqCPCAGomx9DjoRL4wnOQclSPMm4fiVoAhUoIHjF6nI44peElhGnxJCF4k+F/aI9qI6BTEFEQyxDLFlBRNqpEtgejDOI442+2mdv0qmiWcKwSFW6dn86FCYTPXO1Jr6/W6z/m83mfJz684NZnDpYtr8/XwVXD/iDT8iOF7BktsRCDuOoiok9v27tqvbxt9q+u7TdoomL2L9FskJvL9LNZ9YliXjV3b+urT1we68pi9LerRdR62+XKvaj/PWkffoL70j9t8bvtEV3t2RqbcZtT+HWVxPpPaTe36VsDqKmvMsKQ2X9cS6CSgyNKJxY0SkIAEFiRQYFbxIMJEhjjyrQBDpAROPs4+Igzh34gATHCIIEDioYvU9QBTYC03M4mHR7iQiESBFc4G/FoRJZCf4UtC8CLBn4fPzQy1IAmsTKArEqVrWFCXM7mXg8N524VlzhCXrvwebevixDF99vHd3RRO9E+REAdi9fQUO/8S6YdIqyzn8xlb+65pc4QJ8u2y+dZx7tpniW045AgSX0Rm8Pt3AP0lEttj0+ilTzgg8utWeBid+YgDus5DDr88H/BhwdTVhs/tFyypd1cf6TrukVld1yHyvxy3cFmXPP1PArcEFFluifi3BA5GwOpKoItAPCwzNhkRoJ3/BVEAgYB0EWJin3Mc+3EkxAQSwgICAwmxgYejNmURZq4FE2znYY36tIl6XhL1bxJDs+BCIhIFVm00Sp/DEdhcJFAdgS6hhOgJHNTrynYJCpxr1/ts9fmewzvViR5le+P0PTuBNwf32XezW+ef2H/L/vbvzgNnbOS6OePwzkP7GDCpbpdj3pnJlI3RNuTf1TZsm8Qy7hv3+vqW4l5fWVu1IQzbZqGvtp+f18Fqii1d/QUBi7Yk7+ty+Zu0WMQYmZkkoMhiHyiZgLZJQAKFE4gHIB5MEGNICAsIDCTEBkSHNj0LM3HMZYmqtdEyF9Ei/r5et8OYWnFjzvo63xefL4a8/O9aMMF2hlhRnzZRz0sKe10kIIErAnEq4TwiVF5tvXx8dqDCacUxvXVyEHX3EiSx+WJkx39fd2xbY1Ofs0tEwT37HtnSyTTaoC+C4VF+Q77/vyE7jdznnqO9Zl0w817+9+zi2HuJIbpd338R7cM50vXdYtuiDKJy+srpEkvnlt3F6vo60DVHytS+31UW9rflPUfQsLFJfcc0X7uSwDgCiizjeF3t7UcJSEACEphDIBwyHKuLYBGfb9ftMKZW3Jizvs37+e859nusBCTQSaDLMbqe0PJZcLk6uuuYq6/X+xjXHkShPoeXSIkuexczKJxd8sfh7cpzLpdOkSUKum6P+LPspWmjPhZdUVFLVqhPaOP+NSdC856Q0VfmFvVC2Os7HyaXH21IX+Rce5FH0//ZxnnA+jp1RaRcf9/5OcqiHMq7/b4toxVbrr+fVNZ1Bn4+AoHhdVRkGc7KPSUgAQlIQAISkIAE7hPoclauowG6HPyuXya6X8qy394r/7tli3qV27tXW/7cQATfn3+N/9TVFuSyxOSt5NOVutqX/bqcXrYPTX1ttJoQFgIA4ldftEefPYPqE0IAolGfSEM0SysIDMpvzE5Rrzexf1+9FhdYoqx26eoD7TCeLnvmRJd0HfsfUXeGDHWJLF37t3bnWGtlUQQUWYpqDo2RgAQkIAEJSEACqQngPL6qQDg3rWN/LbiwHxEBXc4X322SwuHFwSJ1lYcTeE8I6Tpm0LZg8jZ27HL4YvOJiLs+J/w08F9fnXA0cbQHZjNst6gPjnJXfWhjoguGZdSxV7QR/aovj8XbJ+oCo3v5LiFG3BPR+CUjbOigMX1T1Iv2uRcp84/pufcf2XzTJfoxTKhLUCKiZs51oausvv7JsOe+vtWY7koC4wgosozj5d4SkIAEJCABCUhAAj0EwhnGWcEhvt2DCIdbgYV9uvZl+9bpnsP7JpxTohoWsynyw7G85+zes2eQHdEWiDR9fL9ubBiU18Cd+kSJPhsGZvu8W58AwOTKUyOOnjO/+UB+fSIHw1lhe3PIuD+jfRBq+vJBEOCXjMZlemfvaG/qs3q97pjQJfoh+pBuD+va93afe393Hc85R7o9rmvf2338WwKjCCiyjMLlzhKQgAQkIAEJSEACDwh0zTeBc9M14eSsYRcP7Bj8dTi8OFr3xAAiCxYRWsLZhcU9Bxon/ufTabD593bsEyY45oewpUv44rtRKfKBTV9e92wYUw6/WoeI13UMQ2wQELq+G7Ut6kI+fXWhfH5Jb1Sed3a+lxdDoeh3iCN3snj8VdSJPH6KPbsEjdh8Wrpep9t/zTl2u5lzoeu60BWJcnts799RFvXpioRB7L09blZZt5n5twQgoMgCBZMEJCABCUhAAhKQwHAC9/dEsLjdgzfzt47r3CEBt2XM/ZtfNcM568sHh/dd47D27XN3exzLECGcXZzern2JbLjneHcd07stnE3agtS1DzYgtCxRJ4SJrjIQjKhT13ejtkVdaBvaqO+4i9ASjKlX3z53t8ex1APBqG+/bxo7+r4ftT3yQthDPOo7Dlt+Crv6xJG+4563x7EIGb/Fhnt5fBm2wDd2W3Xp6ovYd1to1363+zz6uyuPLgZd+z3K2+8lcJeAIstdPH4pAQlIQAISkEA2Atq7L4Fw1nCqu94i3zq/OJj7GntVetiNk/lpbGIdq86FuUx+CccVh/62Pp0HsLHZH0f33hAhyv28sYPDlkqINuTdlx91+i1sfBsJMaxvv+ftsd8HkWBwr06UOXvY03Oh8SHY0GcYZhN/dS6IErRPl+PeeQAboy4MOUL84ng2dSXmybkniHQd83Bb1In26Tpf2mMRBqgTIt+g9uHAqBORMNSJdK+vfhs2wJXD1k5DokaYw+cej6E2DinL+ViG0nS/UQQUWUbhcmcJSEACEpDALAIeLIGjEBgyDKhrWNGufMLZxLnD6b1nB44uEQ8IE0SCMGcLDi3bT+HcMlkufyNC4Bj/OzJj/8v38blvIZqA8vu+n7R9YJ1wwhGAqFPr0CO6UI82UU+24bQPqdNXUTaC2yS77xxE+9zjBGeiP6gLNiNSvMou2qkViqjPL7HDPWGG8j6PfdZaEPco417+CEDUifYh+ojJpGkb+hsiEZ/pc3yH+EW97tWJsog0gieft0hDokaG7PPQ1uh7Q4SjRcp6aIw7HI6AIsvhmtwKS0ACEugj4HYJSEACixF45OAwVOjRPosZMyajcM6IlMDpJRLj3qEIEwyBYsJXHFoc4Kc4oHVwEVZwjNkvNvculPNxlLsaj8ibOt0banNtHKIEdiO6UK82UU+2PXLcyYvoCMrk86Ip6gIv2ueRKIHYgs2IEqGpPLFGfCEhEpFoo0f1oTwEMNaL1qXNbESdOIT2IfqIeX1oG/obIhGfqQ/fUXf2vZcQWIb2iXv5DP4u6jlE1BgSgTK0zEflLVnWUJvc7wAEFFkO0MhWUQJVELASEpCABCSQhkA4U0Qw3HOCVxMUloAU9uOc4chTjyWy7MsDRp9Geaz79llke5SB6EE0xmpiQWMogsSq0RFRF+pA+9BOTbEPV4gTCCqkR8JXm9mlnChvi/ZBePw4CqadYrXaQp1oo00FlqvaPGqzR99fZfXw4yMRZcmyHhrjDschoMhynLa2pisSMGsJSEACEpCABF4RuOfAFDdU6Nb6xrHG6V18Ho6mLCZRJYJldQe+Ke8UdULcok732qbdfeyaelCftUWCi11RF0QJhJa12gdGf41yqNelzC3+i/IQP9YSw6gTot4mbdTD657wwXwsSwqb1LfHjBNz7CA4nfwngaUJKLIsTbS8/LRIAhKQgAQkIAEJ7EGgb14WnGOc/T1sGlVmOLzYSlQGzvw9h21Mvji4OO/80tCY4xbZN+qEI0t9SNgyN1+cYiIjEFg2FSQwPOpD+ywpHLX1QYzYxQmPOnF+/DXqx8TBS9hwXafN2yjqcb3cO4/ufXedx6DPwfFefvfEnkH5u5ME+gjsLLL0meV2CUhAAhKQgAQkIIGdCODU4ZzcplHOWTg47I9zd1uN/4+9O8ppGAaCAKoeoUfjRhyJIzIPJaKJjGQXQ4xYlFVI46xnZt2PnVqtvOfXlr4OF596MyU0vnZO4DaC2XhmAHOFIdHSZSTft8dunOyauCeZnRN49dbGOAYAYwWnGWZNYDx3hItfiXmszzP6MjbU5nI+VAgnBh8jzppTJ/jc6g0aqAuzaAlOgIeXtfNV/MQOt31dn+cc1RP8ilKgS4EyWbpkqkGlQClQCpQCpUAp8D8UKJZpgj4a1pw1Z4/BJBgSKDk0dzkdDg39aJ5Dgv1iKMmEwZnXLhC/mmPnBHNCY89saAW93L/nOWaEL4PV+E5AMi9FsGnm33LGS73z7+2WGWA/xO3zz7jXXDKPMnSNI3j2+jAmBHNCbTTU5yZb8+0ejmr0kueZEmuQ2VAEk/r4klr49rpYW7C3wvvL+04wjfDesq1xCifrpxXqNBVk5trX9Xm+pdbuVNKV7HIFymS5vAQFoBQoBUqBUqAU6FSghpUCpcAyCqR50/za4cJsaAVTxX07g5bB3Qsk/GA/RO+zK4wLfoYLc0JtGBTnJlvz7R6Of6ZG4QWvtQV7Kxhmy5l5K6yJwlAK/JYC7wAAAP//lNnZ6wAAAAZJREFUAwDaE5NWOY8CogAAAABJRU5ErkJggg=="/>
          <p:cNvSpPr>
            <a:spLocks noChangeAspect="1" noChangeArrowheads="1"/>
          </p:cNvSpPr>
          <p:nvPr/>
        </p:nvSpPr>
        <p:spPr bwMode="auto">
          <a:xfrm>
            <a:off x="155575" y="84138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174" name="AutoShape 6" descr="data:image/png;base64,iVBORw0KGgoAAAANSUhEUgAABFkAAAHwCAYAAAB9trC/AAAQAElEQVR4Aez9jZ3kRJZ/D2c+DjyMBctYsGDBDyxYsGDAgmksoLGgGQtgLIC1AMYCWAtgLRjWgvrfky0VWVlSpt4VN3T6o2hlKaWIGydCL/erG5H/v5P/JCABCUhAAisTeHp6+jDSJzfpi/j7bU/6Ibb/tFD6LvLpKwcbbu36YGUcZi8BCUhAAhKQgAT2IGCZGxBQZNkAskVIQAISqIlACBYfRGqFCUSKVsBAzGiFkV9in+cl6v9bpJ9u0nfx99c96bPY/slC6YvIp68cbLi169/Phr//0NaJNXVs60vdWw4KMwHZRQISkIAEJDCdgEdKoA4Ciix1tKO1kIAEJLAIgdAU2oiTz+IzYsK7WCMukC7iQxT070itMIFI0QoYiBmtMPJR7FPL0taJNXVs60vdWw4XNsGKNaxI8CPBEjHmw1qAWA8JSEAChyNghSUgAQkMJKDIMhCUu0lAAhKohUAIATj8OP4IAERmIAj8Ftufoo5txMkP8Rkx4U2sERdIRmsEjAcLjGBFgh8JlogxF8bBmTXMEbBoA9qC/R9k7dcSkIAEugm4VQISkIAEyiGgyFJOW2iJBCQggcUIhCPfRqTgxOPM49QTZYGQgsOP448AQGQGDr5RFovRf5gRrGGOgEUb0Ba0TzTbE23EZ9qMtkMQY/+HmbqDBAoloFkSkIAEJCCBQxFQZDlUc1tZCUigNgJPT0/t/Cg45G1UCkJKG5GCE48zj1NPlEVtCGqrD21EW9FmtB2CGJEv0dRPiC+08ZunpyfEF/atrf4b18fiJCABCUhAAhKQwLIEFFmW5WluEpCABFYjEI71R5EYWoKggsPN3CgkHHEc8jYqZTUbzHhDAq+LQnyhjd/FV7Q5US8k+gJ9gr5h1EvAcZGABCQgAQlIQAJ7EVBk2Yu85UpAAhK4QyDEFIb74DTjPONEE53ySxzC0BIEFRzu3SIZwg6XMgjQB+gL9An6BlEvCi9ltI1WSEACEpCABCRwQAKKLAdsdKssgcoJpKxeiCoM/0BQ+SE+E53CcB+cZpxnnOiU9dLoXQj0CS/0LfqY/WmXZrFQCUhAAhKQgASOQECR5QitbB0LIqApEjidQkRpo1SY3PSX+JsoFYZ/fB18PouEkxwrFwksRoA+Rd+ij10io6Lf0ffog0RMOcxoMdRmJAEJSEACEpDAkQkoshy59W/r7t8SkMBqBMKhJVKFSUuJUCERpcLkph+tVqgZS+A+AfoefZC+yDAjEn2UeV/uH+m3EpCABCQgAQlIQAKdBNKILJ3Wu1ECEpBAHgJMVorzasRAnjY7mqX0Tfrod0eruPWVgAQkIAEJSKAsApmtUWTJ3HraLgEJpCDw9PTEUA2iBlLYq5ESkIAEJCABCUhAAr0E/EICdwkostzF45cSkIAEFiHAXBiLZGQmEpCABCQgAQlIoJ+A30hAAnsTUGTZuwUsXwISOAKB/zpCJa2jBCQgAQlI4C4Bv5SABCRwAAIvRJanp6c3kfjVgYyJseQHaLJ5VYz25VckMrbvEJsZkjEPUOVHR/t/EWkIy9L2yR4J4k/mVn5uWb19CcR17aNIpV23jmYPPw9+m7jnMOl3m4q+T+/biy1dAhKQgARqIfBCZIlK/REJZyBjyu6EBfpNlr9FKRnbd4jN9oFo3AfL3+P7ISxL2+fXsDvlEo4f/VLHImXraXQiApxjpV23lrQnQ15fR3+5TUyi/FNsb9O/45rYLr/EB4SoH2LdijMXMSb2d5GABJISiPO5Fb35tbr23G7XvOy9nOexX7v2RXnSttbsfgK3IsuP/bsW/83/K97CnQ2MixkPoTh8O1uyWvH2gTtom/bPOPnq7+fz+fc7VSv9K/tl6S2kfTMJeLgEJhHgfoR4xHNJK85cxJi4X7EgyCDC4KgRaY1DxnPMpMI8SAIS2IwA5ynnNr9W157b7fqHsOJynl+tf+OE70itEMt14Da1ok3X+jaCjmvHdcK+KN5FAusReCGyhCNDJMvP6xW3as6czKsWUEHmtTPiQa2CZlqtClnbP7P4S2PaL6GwV7JcCUggKwEcIe5bOGrvohI4ZggvOGREvyC8INTEVy4SkECFBDi/uQZ0pVa06VrfRtBx7bhOXEc6NJ3LJq4vt4JO+/e72KNL1DE6p8LON7dKL0SWJrP/btbZVh9Ex+dkzGb3lvbWPvkmfYAL8ZZMM5WVtf3/lQnyta3NNak3DPZ6Xz9LQAISkMAgAlxTEa8RXnjTjcNEtAtvrxFmBmWSfae4v/BmvsvhK3Jbdt7afxgCXF/wJbrSm6DQJeoMjc7hetUKNqy5bl2fr5zTbcKOKM4lK4EukSVrJAttwE2XtambwBH4ZBUSults2a3cMIbmWMp+f5zP58yRLBmZl9L22iEBCUhgCAGEFaJdeHuN4EKUyxGed7i/dDl8pW4b0pbuI4GaCRAMwHnbJq5b1+frdbQNETWhpV4WPiPKkK6FGQWZgnvLK5ElHBommMw6/4FzH/R0tjhFeeDgQaRnj0yb79pKPe/ucMQvo/1RxEnZqp9Z9IW1oh8UTBKQgAS2I8BzAEILjglviY/w7LMdXUuSgAS2JsDze5cw04oyXOviUf+yIMSQ2qFN7VAmr4Mbt9orkaUpP6tjg6K3bydqABa4Ooqz92FcYlCKC2yCXU3i4ryrARMLzzp88RT9kGtRVu4Tm8vDJCABCRRDAMeEt8Q4IIotxTSLhkhAAisS4LmT1A5taocyEeUXj6ZP7ZAlronMa6XvvERjdOTRJ7KkdWyijnSsWLncEODNzs2mav+0D7xu2qwiW+ahQkc65173OLdIQAISKIMAgrdiSxltoRUSkMDGBG6K40U0fhLXROa1IhqmFWCIgGmHIyG+IFTfHO6fQwl0iizn3HMgOGTopvWfnp5w9njIuPmm2j//Vm3NpleMC+r0o/c58te4FvGLZ/uUPr9Ur0XzGZqDBCQggaUI8ByEY8GbXJ6LlsrXfCQggWkEPKosAvgK7TwxiC9EASLAIL4Q+cLQI4WXgW3WKbI0x2Z9g0wHaargqiGQNYqhMX/06qMQlrwINNiCBao1D5fNljSrf6axtNtQH+K7ubhVAhKQwJ4EeD5gzhZSxnvjnuwOVLZVlYAEggDXSHxrBGqGHiG8kIh4YbgRPkbs5nJL4J7I8q/bnZP8rYP9uqGO6OxxQXhN4phbsrZ/1rmhmI+F/seN6Zg9zlpLQAISKJ8A90acBdblW3ttoZ8lIAEJ7EcAoZqIF4YbERnIdRTR5Yt4seuzb9Mu90SWrJEsVA0Hh/XhU3R2Hh6O2OGPFr1zr69nHLby+/l85pfO7tWr5O/sfyW3jrZJQAKrEUiWMc9HRLTgLCQzXXMlIAEJFEGgFV2+C2sYXoTwQpQL22PTMZdekSUcnN8DCSlW6ZaMTuVakI/q7DFukIentbhmyjej6Jg2iqXpGIibzUdXEpBAIQQ0QwJ9BHAImHfA54Y+Qm6XgAQkMIwAQ4gQrolwITGfy+EEl16RpWGYNZolo1PZIF98dWQWR677pSM1kUyXz8n+S/sLZ8GcGwkpGXLN3ZeApUtAAjsT4JkBocXr984NYfESkEA1BLieMp8LYksb4XIIMfuRyJLV0fkwHB1UtGp66JSKNAzo3FMOr+GYo0bxXLddyqiuc+5fOKsviuW6R/lZAhKQQL0EeHbEEWBdby2tmQQkIIHtCXBdJcKFIUXM4YKwvb0VG5V4V2QJR4eQ/aw/oVp1ww3sH0f/KWOd3dMp43kwKoLuVN6/lMJWeRi1SAISkMAuBHjLSkQLDsEuBlioBCQggcoJMHEu11kiXBiuyXW3qirfFVmamiK0NB9TrXR0TqejiwwfPD097SkynPb8F3XngpXxITFrBB2/KgTzo593e3Z7y5aABCSwBAGu5UyIy3qJ/MxDAhKQgAReE/gwNhHdgtjyLnwX/o5N+ZchIktWh+fQjk50UpzrOx01f+cdWIMjDxnKeg5kFXbpkocV9ai8SQISkEBFBHiG4k2rQktFjWpVJCCBIglwnX0TliG2MJSI62/8mXcZIrJs7/AsxDOEhiM7PEcfKtT2oqxCQ2v/nHXGaK5fz+dz1l81o62OLOpRf5MEJCCBmgjwwoqfJa2pTtZFAhKQQHkE/rSIoUTpxZaHIkvj8Pz6Z71TfTqyyHJkceG6kx55EuSM/T+tqNt0Os+7BoQrCUhAApUQ+Cxe2vGGtZLqWA0JSGAsAfffhcC12EKkyy5GTC30ocjSZJx1yNAh3yrHwwBvXtKHWTV9b4lVRrFhVr0T94F/zqr4jgc3zNPdBHZEZtESkIAEshBgrgCerbLYq53HIWBNJVA7gVZseZupokNFlqy/9vFROD5HdHocKvTyLDwij4zC0h/n8zlr1Bw97oj9jHqbJCABCRyBgMOGRreyB0hAAhJYhAD+/Nfh1zOMKIWPM0hkaRyfPxZBtH0mKRpiYSwOWXgJFLHtaJE9GedjySrmtr3tiNeatu6uJSABCeQiMN5aniVSvUkdX0WPkIAEJFA0Afw5JiTn19/4XKyxg0SWxvqsDlBGZ7NBPn4VCh/hrEV3uvG1WuSIoznAGeubdVgiP93MOce5t0hnNRMJSODYBKx9sQT+Hs9ZXO+LNVDDJCABCRyAAAEFv8T1uNj5ssaILP9K2mA0QlLTJ5md0bmeVNGRBx1mfp644NAHCKsbiWj33TNPegvz3QFqgAQ2IGAREjgyAe6tDhs6cg+w7hKQQCkEuB4zXxaRLcWJ32NElqyRLPy6THHgV+ydzgvRDZdfB+Bk7P62rq0ZHf6fz+dz1iGJ9J7DiHhUttykZRKQgARWJ/BJ8zJj9YIsQAISkIAEHhLA7yGqpajAisEiS+MAZX3TDPyHLZR9h7jpIyY5ZKG/IQ/RD6L6GR3+tEOFgjfL4ws7e5kkIAEJSKAGAu9qqIR1kIAEJFAJAV6kM0/Ld+EP83n3ag0WWRpLszpCGZ3OBvmolY7efVzV94PmwjJaaLuPbZNvs0bKMR+L590mXcRCJCABCRRDgElw+VnRYgzSEAlIQAISOHFdLmL40FiRxUiWU9H/ahwqtCTwIzjDGaN1fj+fz78v2dAb51W9eLcxT4uTgAQkkIHA1xmM1EYJSEACByPAy2aGD+3qE40SWcIR+jUaKaMz9EG84Qd4mL/kUk5eUT+HCj1uDvrBrifcYxNn75Hx17TSRrE0rVV7n2qq6UoCEpCABK4IMOffEV7eXFXZjxKQgARSEGDIEBEtRLYsbPCw7EaJLE2WWR2i2h0hb/RNB32wqj3qIGM/yDoMkaFCiLcInA+6nV9LQAISOBENnD3xsu3kv2cCf3/+5AcJSEACexOw/FsCzNGyyy/CTRFZ/nVrfZK/a3euHSo0rCNmFCEG1ayJZsrm8P9xPp9xOgbVscCdqu1PBbLWJAmkJhDXuk8rSB9HHV4t0TB/jfTpVfo8Pn8T6ftINQsz/NJQtvtuNImLBLYnYIkS2InAh9w6cgAAEABJREFUF+EjIbYQ3bKZCaNFlrizGsmyWfMMKyg6Djd43qgPO+DYexHeWyurjNFaWa8n7VlUu3jb1tO1BCQggV4C8WzI3Fo/x7pNP8bnt5G+jPRxHPiXSAgviC5/xOeaFqNZ8remNZCABOomwLAhhg9tJrSMFlka/ikdoxAjMjqhDfK7K9+m38Xz6sta+0HG+ViyRsYxVIgLda2C3auTZqUNvOEmkuk68fZ7SPoqbOLNOY7bkP3Z59s45rosPmNDbHaRgATWIhBCC1GLCC9fRhlEvbDOOMdfmP9qWfkZ7FV5bpCABCQggfEEeGbfTGiZKrJkdYxqfetca73Gnz7Djqh1aFXGB72Ugm3TzTLybkxfbYVoQeJtNaIGCREEMYT013C2rheGHtwOoeDt95D0bWTEW3MctyH7s89XccxtedgQm98vQQYHEFtJOILUgUSdqBspdnORgAROExDEmYbg8n2sOdc4x7KLLUTIej+Y0Bc8RAISkMDGBDYTWqaKLFkdo+oiGJ6ennibXl29Vj7hPgpuDLFauZjtso/6cNGgL2xX6PySfo2H7Mxh40cTN3GEEBgQGxAdcI4QIq5FilbAYIgAogYJEQQxhEQe83vOijlEn7we9oAjSB1I1KmtX+x2PocZDIOAAVE1MIENjDL366hWHYu1KJ/A+XzmnOE8IsqsfIP7LcwYSdpfG7+RgAQkUC8BfKbVI1omiSxxU+RBOWOINc51Nkf0URf37ckjQt3f1yZMZazPP7ubJs3WjMwfwUUcQCTA4UE0QEBoRRSiUBAZEBsQHRAgEE4y3gsecRj0fdwLEQphQFQNTGADo7/Ed+fIBH5E8sASZxK2MI6vXCQgAQjEuUJkC0Il50vW88NnMRrTJAEJSCAHgYvQsqapk0SWxiAeFpuPqVa13QiP9jZ9qc5WG7eM9cl6DWE+Fq4j2QVb+COmtM4NwsBfzuczIgHDahANEBAOK6LMvdicz2f4EckDyy/jb9gyASgJhxL2rfgytziPl0BqAnF+cE3ivMh4zWHIUFURsqk7k8ZLYDwBBF6uQVumjNe68WTLPYLgi9V+3nmOyPLf5TK7a1k1IZ1P74cK4ezdrbBfdhKojVu2qAqGZIy/uXQ25S4bM11H2gcHoimIqiAiJfyZMw4/YgpRGIgB7LcLzKMVej6feXMPc9i34ss5ODBsgjairXjQs00CistxCMS5wX0hq9CS7T58nI5lTSXwmACRqTwXbZnaSOG49L1fwkzmquIaSGqfB3gmYKoOngsYTRK7uSxE4PLzzgvl9SKbySJLdAUaOuMDYE03wdqEghedc+0/QqRalN/a9vblH/XI2Ke5WfRVKcP2kvsO12ZuyNycEVSIUOGhgWgKoiq8QRfaw+K+ykMebURb0WZEvPDAxfw3RB3RtoVar1kSWIZAnAc8W9LnWS+T6Ta5ZBLftyFiKRKQwCgCcf3jJSQvYUjt8wDPBJ/HdzwX8FzHSxmeDRBiiIhtnw+yXTNHsVlxZ4QWfuJ50SImiyyNFRkf+GoK6Rw6RKRpLlc3BGrhl7EeWX+hjKFCjOMsJSwcwQTBipts+0aEmzA3ZG7OfH/T7f0zE4F4qOKBi/lviDqibXm4ah+saHsfqjI1qLYOIhD9nogWrmuD9i9kJ+4NhZiiGRKQQM0E4hrJswFCDBGx7fNB+2KGl2y8bMvop+/VbN8t/dJ6rsiywJChXViW/BZ6EJDoCMwHkb4egyq73k618EsXyRI3B5zD9Vp23Zz35I1owhwevOXlbQaJtxvcZHFK1q25uRdBIM6f9sGKtuehimFGOKScV4ouRbSSRswlEP2ca10mJ0GRZW6je7wEJDCLQFw3EV94ycbLtusXM4WJLrOqudbBPzT+9SL5zxVZeKBbxJCNM6khpLMWgWDjpn9R3AdxMqV+KAr7Eduy1SHrdaPtPFtGDuEww+taVGEODyIbEFxam1wfmEA8VDHMCKFN0eXA/aDSqnPtS1O1uCfvKcKn4aShEiiaQGXGxTMCL2YuoktUjRczRLogYvOMGZtcGgL4VD81n2evZoks0Wg0Tsa3pzXcBLd09GZ3tIIz+FvBtg0xLaPYljUCjqFCXIDXvn7w5paoBIb/MJ8KjrOiypCzwX0uBOLefCu6MLyIt1gZ79eXOvnfMQlEX0ZMxhnIAoB7RBZbtTMhAU2WwBwCcU1l4n0iXXhh1wouvMybk21Nx/KLQ2+XqNAskaUxIKPDlDqCId6UcBPP6Fw3XaaoVXaOGaOyEBGK6gQjjFmjvyBW40TwZgFRhfBOohJ0iEc0jLv2E4iHqvYtFsOKeKgiOoA+R9/rP9BvJFAGAQTCMix5bEW2yNLHNRq+h3tKQALJCMTzAYLL5fkzTOcFH8J2fDz08nX42rNfqC4hsmRVv9ZwlrbqkbMbfitDE5STfSLkbH2BN+yZL+BLiVowYDb4NlqFNwrc6HR6E1w0MpsYD1S8xSIyij6H4MLDFX2RPpm5atpeKYHos/TNmeJ8pXCslgQkIIEFCMR1lmcDXvC1v1p09GsuE+ES1DCZ7myRJRqFt60ZHYOlnKXJ8GccmGGoUKZ+kVJwC5WVX7ghzehKmx+aMfLtGtKcvsI5wVsCJqslMRs8267z97MENiUQ93DEPfoiD1ZEuii4bNoCp9PJ8oYQ+OeQnQrYJ/OzZQH4NEECEtibQDwXEP3KMGMSUa97m7RH+fhXX88peLbI0hSeMZrlk3BSZylUTd33WM1x9LayF2c6S7/IOi9Lhn5w29+y9Ilbu5mPhaihsdcMRJRWWCFqhbcEvJV9lb8bJLA3gXiwItKsFVwu5vifBAohcPS3qoU0g2ZIQAJHIRDPBIgtDC9GbDniNfhNaAU8+09q8qVEFhzqSQbsfNBkcHvZHY2NYz3W0dvDXJzpLP2CSY4yML1tx2xvzPhZOUSH23pk+XtoBBkiisLK+q1qCRKQwEEIxMM+11XSQWpsNSUgAQmUQSCuv4gtCC2ko12Hv5vaCkuJLFnVrWxOKu081NFj373SxZmOkxKhJctQMsSrvXhNLTebSJj1OtG2z70+wk2HYRZEq/z1fD4bsdJScy0BCUhgGQKZRfplCJiLBCQggZ0IhF+H2MLQYiYjz+LfzaXF3J2Tfm1oEZEloAM6owOVzUmlo9xz9Pi+hIS40tpx/bndVuI6g3j1zO3p6YlfMJgWffOcy+YfskQ2vQITvBmbSbr9jrGqn8c10DlWbsn4twQkIIFlCfzPstmZmwQkIAEJjCUQz7yIDszhltH3H1td9v974wfweXBaRGRpSsvoQDFMpMtxaqpU1ioaGIElg2N9PUHdqH6xI3HY7lj86KKz2UsFM1+Mr3nzNpUxqn+JGw2/0JJFSKQNTBKQgAQkIAEJSEACEphMIJ5/GbXA8CGGx0/OJ8mB+N6jJ8FdUmTJ6kANjWYpoR9kiLbgpMMJvfCKkzCNA9qIWBe7E/yXbagbv2BCxFsCtJ0m/mdsJWqF4UCk76NvZ65PVMdFAhKQgAQkIAEJSEAC0wjEs/BlqHwczbD5WFW3tBX6IvxERhG0fz9cLyayBGQc64yAMzmr12/THzbuTjt0iSpd23Yy726xGUQsfuUGRTWTOAj0f/Ff1hTXNyJWSFznslZDuyUggf0IKMrux96SJSABCVRIoIwqxTMyz8YMH8ri700F927MgYuJLE2hGeFmEC5wrLET57pBXezqeqhQa6RDhloSy6yzCSzUOuO1AbtNEpCABJYgwEPoEvmYhwQkIIHyCWjhoQiE0PJHpM+j0kyKG6sql0+enp4G+2BLiywZ31Z/EMBGhf/s1G0yRNy8GCp0xSmLg21fuGq0BT/+GhfejFFuCyIwKwlIQAISkIAESiCgDRKQwDoE4nmfSXGZt3CdAvbPdfDcLIuKLAE2izN920SDVanbAzf8m0iWDYubVFRn+0e/IEy687tJpax70N/WzX6R3DP01+uKZp2v6boOfpaABCQgAQmsTcD8JSABCaQmEH4fcxgyKS7+X+q6dBhPNMugH81ZVGRpDMniTDfmXlZFR4k0kTaDGvRSm/3+uzcs6N53+1n8uuSixazoC/SDDJFX12SztP21zX6WgAQkIIEXBHb/gwnIdzfigQFGbT4A5NcSkED9BEJo4QVrrULLoGiWNUSWjEOGinas41TMEF3BWDxOqDC3c8kivn3YCBmdlShgY7Yolkf9ogCkmiABCaQnYAWOQICXDKXX839LN1D7JCABCWxBIIQW5iKrUWjhl4Ye3o/WEFmyONMv+lc41iU7r6WLQLC82+5xohEydncfMikklcy76KirjvbL0uYdprtJAssQMBcJSGARAhmiOHnWWaSyZiIBCUggO4Hw/6oVWh61zeIiS8AkVBKgj8ou7fsiRZYQf3ioeKiWFQBzyJCQIfsUUJVTyZFDJQtAXW2XMbKtqx61brNeEpCABIonEM9CWe59GZ9/i29/DZSABPISCG2A6yK/PJS3Eq8tf+grLi6yNDbcGzbS7FLc6r+Ks+i9QQ8b8f1uu/7PkJAhEQtD9tm1Ik3hH8UDXXE/lx02IbgVZ1fDrG81o837snS7BCQgAQkcjECpz2i3zYAzcbvNvyUgAQkcmkAILWgDNf3qENNL3BX/1xJZskQsXHf4Ih3rMPBuA8b3JSyDHOk4wQijHbRvAZW6z30fA4uMtrqD4uemze/s4lcSkIAEJCCBhwRKvCffGv2797xbJP4tAQlI4D2BuD7yq0Ok9xvy/383EGIVkSUgolbhUGfDV5QT20QujB4qtAP0MaJaluEjJb41yzYfy5h+sUO3tUgJSEACEiidQDwLfRE2Zoji5Nk3THWRgAQkIIEeAl/F9loi/j6L+1PvvWkVkSXgsXTdbNhecirNsb6rkBUCcuhQodZcI1laEuPXGd7kXdcqS1tf2+xnCUhAAhIoi8Cgn8sswOQsL5EKQKUJEpDAgQg8V/V8PhOEwbAh1s/bE3/o9c3WFFkyvsUuKpIlOlxvw8V3pSyjHOk4udJMjBzqZDH8w5bS+uaj/kfYNG39aD+/l4AEJCABCXQSiHsfUSwZInqxP+PLRew2SeDABKz61gTCFySS5Zuty12pvN4AjTVFllHO90oVH5stk9gUcTOPBwvsII2tw9b7TxHT/rm1kRPL6z1xJuY357BsIkvG839O+3isBCQgAQksSCCegwjDfrdglmtm5YuFNekeNW/rLYFKCYTQ8m1UrQZhunfI0GoiS8AjDAilKhimWkpxZouJonjQelNOkCwOeEltUJLg86BLXL42bPqCwf8kIAEJSGAige/iOISWWBW/ZHmuWQykGUlAAhKYSYBhQzOzKOLwTn9xNZGlqfKUKIfm0N1WpTizGeZj+bER00Y1VhzDMJIMAtwH8Sbto1GVW2HnsIGHzN3tGFG1sfP0jMjaXSUgAQlIoHYCcd9jmFDng+uAuu+xS5YI3T3YWKYEJCCBVwQaf7CGYUOdP0yytsiSUdE6bgkAABAASURBVNnfPZIlHi4YJpTBqZ4jomV5IClB7Nq9T766Mt7fMCW66X6OfisBCUigCgJW4hGBeAZCYCGK5dGupXz/azgLGV4clcJLOyQgAQm0BBg2xMv39u+M684XAquKLM1Nh2FDmYCVEL3Q2VgFQpwjos05dksUJbRFKdFVQ7nPEd+GluF+EpDA0gTMTwI7E0gosEDsH/xnkoAEJCCBcQRCK0AnyB7N0qkdrCqyNJizONONuZfV3pEDJURPXEDc+W/SUKE2vzipUC0zvPkpYTLkvftj22xD1xnP+aF1c7+dCFisBCRQN4EQWN5GDTNFsIS5JxwE73kn/0lAAhKYRiB8wu/jSPzCWKVdXvlqW4gsGd9q7xY5EA8ZRxgq1J5BWYYM7RbN0vQH+kTLrPQ1YdM8dJZu55L2mZcEJCABCUwkEPe5jyL9Eod/HSnb8n04CN7zsrWa9kpAAqURyB7N8mpeli1ElozzM7xSozbsibs59CPruMSbmyXyGGn2pN13E93C2pl9MXLYdskoqm5LyNIkIAEJSOAUwgqRokSuILBkmIeuq9UcKtRFxW0SyEcg0wvNfHQfWBxidfZollf3sNVFloCGwp9OaImb/15iR/VDhdrz7Hw+ExqWYcjQJ9Ef+IWf1vQt13sKPFPqmUU4m1I3j5GABCQggZkE4n5K5Ariym+RFZPcxirlQhQLzzEpjddoCUjgBQFFlhc4dvkjs2jNS4MXfWh1kaVponRvt8PuV2E/sW3VJR48aJxXStiqhU7LfMn2zCLA7SW6ZYpk+T1E1Qyi2bRe71ESkIAEJDCaAM82kT6L9C4SwgqRK5nFFRjwAvErPpgkIAEJSGARAkSzcG1dJLMpmcw85oUPv5XIkvHt9h7O7V6O/Ng+tWR7ZpmXZfOIkngY5WTdK4JmbJ9g/yyCGbaaJCABCUhgJgHuU5GI9iR9EZ/fNumnWP8S6SmKQFj5IdZvIvEyKVbpl3/ES4XMzkD6BrACEjgYgeqr21xTl/Qxt2aG3/Zc5iYiS0AjnJL0XHCCD4Szbu3gbh49M6EdFp3YNPoGkQ8Z+oai2+POsmSE0+PS3EMCEpBAHgKEErcCRKlrhJF76TdEk+sU+IlK+SnWJIYAMXktiXvmiwfO2KeWhahNfgmplvpYDwnMJODhEliMQJaX710V/s/rjZuILE2BGZWpzSJL4qEFQWez8po2mbJao/Nn6BsfRBtt3T4ZRLfnPhSCWYZ2fLbXDxKQgAQ2JEAEB+JDyQlh5F6iDhsiK7aoL4u1TMNeE3CLBCSQhkD4EkTFZ3j53sX0xT1yS5HlX13WFL5tSyd3awd+Kvo1HOk1hJup9bt33NZDhnjYvWdPSd+t0S9Kqp+2SEACEpCABL5tnIBFSJiJBCQgAQm8IpDVp3gRvbmZyBI3pYzAtnRyt3bgX/XoARsYKrS4uhh9wyFDN/B3iJq5sWD0nw4VGo3MAyQgAQkUS0DDXhPg+eeb15vdIgEJSEACCxLIGJhxqX74b89Cy2Yiy6Xk0ymb0MIY6hehP6cV/kWDHHmoUEs0Q9+gPzyfPK3hK623jKJaogqE9y2Rj3lIQAISeEDAryWwC4HP46WQk93ugt5CJSCBoxCI62wGn7CvOfDpL99tLbJkfNu9xTCeLcq4NPjM/9bs9FmGDP1tJsOhh28ZRTXUpr79Volw6ivM7RIomoDGSUACNRL4Mh78ibqtsW7WSQISkEBpBLK+vH1+Gb+1yJIR2BYRBYcdKtSe0c3DC6G47aZS16uLH01k0/NJWiqIK7syntdX5h/nozWVgAQkIIHRBL6PZ5TvRx/lARKQgAQkMJVA1iFD+0SyxE0KJzrbm4BVnerGoc4QybJFpMmakTJTT/Lb4/hp77WHkGXoD9dclugb1/n5WQISkIAEJFACASI1/TWhElpCGyQggSMRyPoC9z/aRto6koVys0Hjp3vXFFqyONRbCCCFDiej275Ia7fZFtFTLyo0448/QjzNJpzOqK6HSkACEpDAQQhwb/v0IHW1mhKQgARKIsD1tyR7htry/CJ+D5EliyN9DXNNkWXeUKFrK9f7/Hs40kQhrVdC5BxlIMBlmFRu7TZbs78F6UWXLcS3RQ02MwlIQAISkMADAjzgfxrPJRmeSR5Uxa8lIAEJ5CLQXHtTX39XFVm6mjOgZXGkr81fM7Jg7aiI63pM/bylI71lWVN5fNIM85p6fO9xkS9zsTyroL07lvNFRtG0HHpaIgEJSEACpRHgOVWBpbRW0R4JSCAFgQWNROxeMLtNsnr24TYXWZrqZXCkG1Mvq1Wc6nCoMwgsANhyzo0sTvtabZcpioW+wcMoa5MEJCABCUggOwEmuVVgyd6K2i+BbgJuzUVg9VEUK+DYXWTJOGPwGs7v2sNOlug7DBXaTEk8n88IcBnCw9ZquzWjppboD9d5/BztlaGtrm32swQkIAEJSKCLAD/T7CS3XWTctgEBi5CABG4I/O/N36n+NJJleHOt4fyuFQ0xvFaP90T0eLzXsnvsUebYGqwhumHDWvmS99IpS9TR0vU2PwlIQAISqIcAb0s/jpcG/kxzX5u6XQISkIAERhHYRWSJGxlvvzeLjhhFpH/nRZ3fZqjQB/3FFfPNlkOF2kpncN751alFRbLoE/SxDH2ibacMYlhrq2sJSEACEqiQwMwqfRvHI7BkeyYNs10kIAEJVE0AATxtBXcRWRpaGRzpxtTL6qNwgp/HWV22zPtvreEm86x6efSmQ4XaokOEw3lHiGs3lbpeug0RWUqt661d9I3UF7/bCvm3BCQggYUJmF25BLh/MffKV/HMkeF5o1ySWiYBCUhgHQJcp9fJeYNc9xRZcKQ3qOKiRSzpBC8aBbFoLf/MbM822rPsPwnc/7Rkf6CkpUUb8lwrZWiftepuvhKogIBVkMBhCXwTNSd6xYnbA4SLBCQgAQksT2A3kSXeHBCamU2hWmRelqenJwSWDMNC9hgq1PbyDJFOH0Zb8pPLrc2T15EP/WGRvCYbMe7ADO0zrkbuXQ4BLZGABCSwPAFElb/G8+fbSEavLM/XHCUgAQlIoCGwm8jSlM8Nr/mYYoU4soShGSIWGA6CELZEfUfnEQ9AREpkeAj62+jKdR+wdFRMdynLbP0j2ifbubtMzU+nkxlJQAISkEAqAtyvGBpEyvZyLxVojZWABCQggfcE9hZZsr0NZ7LTJaINlhJr3rfiOv/zULJOzsNzRWgZvvc+ey4ljiwRJbUVgQztshULy5GABCQggTIJ8ByDsELic5lWapUEJCABCXQRWHIu1K78V922t8iS8aY3y6l+yjNUaGEBbFI//teko7Y9aKkJkTMIby3ZDO3S2upaAhKQgASOReD7qC5zriiuBAgXCUhAAkkJKLJMbbjz+cxwkP2FlnEVmBtxMPf4cdZO25vhICVEK5RgwxCCswSSEN64iJCGlFXCPlnapQRW2iABCUhAAusTYHjzV1HMX+LZ8stI/B1/ukhAAhKQgAQ6CKy8ae9IFqpXQsQEdgxNsxzqKGTu8ZHF6ksRTnQ8JCHCFWHLA+Jz59iZFR31wLalv/61aZel8zU/CUhAAhKQwBgCzK/ybRxA1ArpW+9PQcNFAhJIT8AKXAj8x+X/pP+VILJkcKJfNO/T09MkpziOYz6XDBELJQlfJdnyoh9c/fFJtC2/DnS1adTHDNFNbYX2/MWp1gbXEpCABCRwTAI8MxKxwq8Ekb4KYcWolWP2BWu9DwFLlcBWBDL4zL0sdhdZ4ubImwhSr5EFfjE1cmGpX6JZE0kpQ4XaOvJA1X4ueT0nQmnOsVszyTa8b2s+licBCUhAAssQ4NmQZwBEFeZXiUfG8+fn85mIFb5bphRzqYiAVZGABCoiQHBCtuowCuNi8+4iy8WK04mb6CnRv0mRLFG/DM50UW0RD1N01qJsinbsWiYJb09PT1xA5kTBdNmy1rbfoz18Y7gWXfOVgAQkcEwCiPdMVvtNVP/LSK2gQqRKK6qwT3yVeNF0CUhAAhIYRCD8I3wj0qD9C9rp2U8qRWTJ9msl/KLMqIaPzoIznSHsqcThOSXadHs+TxXeph53W/4Wf2cQu7bgYBkSkIAEqiKwc2V4NvrvEPHfRvo+koLKzg1i8RKQgAR2JoDfvLMJ84ovQmSJG2pG522sc+xQoel9NUP/+CCEtCmRSpMiYKajnHVkNjF0VmU9WAISKIKARtRPAJHlh7iH/hSJz/XX2BpKQAISkMA9AmP97Ht5bfkdIzAu5RUhslwsyTdkaKxzPMUBb9BstipSzAgRjg5bpG03LTO2T3B4motItEOGNoCpSQIbEbAYCUhgQQLcD38LoeVdpFHRwgvaYFYSkIAEJLA/gUw/CnJN63/aP0oSWTIMCWm5seZhgPXDFA8LhDxleDtTcqRChv4xuE/QaaJfjNqfY3ZMCiw7wp9UtAdJQAISyEngTZj9S9wjM7ycClNdJCABCUhgYQKZfKTrqhMYcPm7JJEl2xjcD+MBYKhwkmGoEB2iZEe6ZNtgR6JPIKjxeUiaEvkyJN819llU5FrDQPOUgAQkUDABJsP7NOybmpgQlolhSdwPeWZ6fpiLfGtbeL5iCBHJqJbaWtf6SEACEughEP51ZoGde/2lZsWILOfzmZ/jezbsYl35/w1V2TJ0lh+jDYp9YGts26J/zO11Y9p6aP+Za9MSx/NAv0Q+5iEBCUjgiAT+iPvYzzMSE8IyMSyJX9zhF3j+EvmdAybCDSLMt/E5w30yzBy8cE9lCBHrwQe5owQkIAEJpCWQdagQwNEzWJ+KEVku1pxO2Ry5h5EIocbxNoZ0mv9v1RwyRCr8c1UCy2T+sE9QTPQL3syNiXrhsL3Sr/Eg/3zR2MsIy5WABCQggdcE4vqMeIMI81V8/jhSK7x8H3sX+/IkbBu6cL8kosW5WoYScz8JSEACeQlkFdV5mfLsLy0nsizTkBkc/euaDolEyNJRCD++rluJnzPY+FEIKENEtSz9gn6Q7bzEZpMEJCCBwxIIoQXhheiWvwaEryI9P/jF56wLc7XwC0RZXlBk5azdEpCABIYRWHiv8KHwrYf4UQuXvEh2LyJJixJZeCiIKmZ66/JBdIZHN/sM87EUPVQo+sRlif7BQ+KLDnz5orz/hggomULhMohb5fUCLZKABCSwM4G4b/Jm7dtYI7Ywn0umZ6wuejxzIbR80fWl2yQgAQm0BFynJJDBb+4D+8JHLUpkaSzO5tD1OtQhwKDE8UDQVK3YVaZIhQxDhoYIKCi1xXaIK8N+j4fzFxeNq+/8KAEJSEACSQjEtfxtmIrYku05K8x+sTB86Lt4xnr3Yqt/SCAPAS2VgARuCMQ1nWt7r199s3uJf/7r2qgSRZYXBl4bW+jnew51lo6S6YErg62fNReKzi4b3yG+kTq/L2xjtnmSCsOnORKQgATKIRBCC5Etn4dFpOxRLW/ifkpUCw/mUSWXZQiYiwQkIIFdCBChmPm/ire2AAAQAElEQVR6/uKldIkiSwYn+rrn3YtIyBDylGKoUAs8HhBrGDKURXwDe6YoJ+w1SUACEpDAAwJxL+VZ6+PY7cVDYfxd9vLaOp7BEFqyvLh4XQO3SEACEpAABP7Of0kTkf/4qM/mFyeyxI2fNyupbvrxJuWV0xzbuOFnGCqULXKIzpt9yNC96CfqV1IykqWk1tAWCUigWALZDIvnLR4IPw27EVxilXbhWeuXeO5inbYSGi4BCUjgqATi+k0UC75zVgSv/KXiRJaGbAYnujH1supyml8JL5c9y/sv48NVBpvvtT9v3srrCa8tShXl9Np8t0hAAg0BVxLoJBBCSzt86PvOHfJsJMSciBaFljxtpqUSkIAEWgJftx+Srl9F/pcqsrxSgwoH3uU0Zxgq9Gs8YPEmq3C8L81rbC492olfnnoltIRSywMgD4MvK1XmXxmjnMokqVV3CPiVBCSwN4G4r34ZNmR79gqTXyzcWxFaeCP64gv/kIAEJCCBMgmEb8Q1O3MUC2Bf3T+LFFniZo8Dncn5/yg6CDd3IJ/iMx0FZ/ryd8H/ZYsYukaZwfbMEU6wzhAxhJ3rJXOWgAQkcBwCTIbL81fmGvMsxi8Pdb38ylwvbZeABCRQHYHwmblmZ49i6Yz8L1JkaXrQK0Wo2V7q6jpq4fpzqfZiV2YnOkP/6OoHXcILbTE6rXxAyiinlZmYvQQkIIFqCcQLLubEY44W1tnr+UM8vGd42ZWds/ZLQAISmEPgTRxMcEKs0i6vhgpRk5JFlk6DMbrQdO08X38u1NzTmk70ae1/8TDI27bSo50+vH7Ii8+otVnermUQsdbuZuYvAQlI4FAE4t6KwFKD0ML9lqFD2R/eD9X/rKwEJHAcAuEXcX3OHsVCg3UGLZQssqzk5MFilXRxnqPDcGPvimBYpdAZmWYYbvOoep2d+tFBG39/3RcufWTj8qcWl03knFpPj5OABCQggSsCIbTwEoM5Wq62pvzI8xgRLaxTVkCjJSABCVRM4Lvt6rZaSZ1DhSitWJElbvK8TcngRMOR1EYtXDvVbC81ZWLbxzCDUPRfV8ZniHDCXH5tIpvIid0mCUhAAhJYgEA8g/GM8NUCWe2dBUOGftjbCMuXgAQk0EvggF88PT0xTCjTy+e+Vup9KV2syNLUJNuvm9BZrp3qphrFrVIPFWppxkMgb9tKHzLEpMiEw2E2/YN16YmH69Jt1D4JSEACEliRQNxjv43ss/+0c1Th9Ek80NfwxpS6mCSwKQELk8DSBOJ6jPj99dL57pAfL6V775GliyzZnD0ElgyRLBkiQIaeKxn6yGdxQUFo4aIytF577pdN3NyTlWVLQAISqJZACC0MG+KFRvY6fhH3Yd6cZq+H9v9JwE8SkEAyAnEdZvgmojfrZNa/MrdXYGHPokWWuLkTpUDC1gwpS6RCTUNBMghGDBPK0jc4zzIIV9hpkoAEJCCB9QnUMBEulN7FA/5GL8IoziQBCUhAAjcE3sXfWV46h6l3l3/c+7ZokaUxXIevAbHQ6vcQr2p4K3XB0dSldCGOhzqinC42F/7fz8GU+ZAKN1PzJCABCUhgEoGRBzX3BISWkUcWuft3IbTU8oBfJGCNkoAEJNBFIK69RBN+0fVdwm3fx73xrv+ZQWRx6MKyPa9G0SpDnRBalm3JdXLrncBpneLMVQISkMCfBPxUJoF4mOTlDEOHyjRwuFWEqCO0sB5+lHtKQAISkMBkAiGwIK4QxTI5j8IOfDiSoniRJW7sONC+WV+uZz3sFMsVtVlONdZpM3g3BXG+3WzyTwlI4HQ6CUEChyYQz2OMPydl50AkC3MCZK+H9ktAAhIonkAILFxzaxJYiPp/OPVG8SJL03MeVqTZz9V9AlUNFWqrGg9+vGG7G7LV7uv6LgH6hxzvIir1S+2SgAQksD6BuN8SzcI9d/3C1i2BCenfrluEuUtAAhI4NoFGYPkpKNQUPfhN1OfhkkVkcQjDw6YctEPNUQoKcYO6wN2d1ukfd4v0SwlIQAISSEaA+VlqiDD+OhyALEN5k3URzZWABI5OIK6vRLDUJrAMimKh7bOILDrQtNb8VPOwmklC3HykVeXg/EdVNaeVkYAEJLA8gfP5jMDy+fI575Ij87N8uEvJFioBCUigUgIhsCBg1yaw0FqDoljYMYXIEjd0hjDUEJ4K86Fp6f0YClItw+gjRGHw4Lc0t6Pk90fD8Cj1tZ4SkIAEJDCRQNwvePk1+GFzYjFbHEYI+w9bFGQZEpCABI5AIAQWJrnlusr1taYq84tC3PsG1WmiyDIo76V3GlyppQuuJD9EiEqq0luNI9Sxt/Izv/D8mgnQwyUgAQkciUAILcxpUsO946NwCmqalPFI3dC6SkACmxF4XFBzLa11YvFRLxYyiSw1D3V53Gvn73GE4TRHqOP8ntCdg+y6ubhVAhKQgAT6CTBsqIYo0jfhHBDe3l9Tv5GABMoloGW7Eojr5weRGB70ZldD1iv8m3ixwMiawSWkEVmiYgx1qeFGPrhxFtyRoSA1vG26iyT6CJEs9pG7lHq/hF3vl34hAQlIQAISuCUQ913uuQgtt19l/Nv5WTK2WgKbNVECNRMIcQWB+reo4yeRalwQV74dW7E0IktTMR3BBsTI1ZG4HamuI7tB7+6/Ng/KvTv4hQQkIAEJSKCLQNw/eIkzKoy6K58CtjF/APMIFGDKZiZYkAQkIIFJBEJcIXqFayaJ6+ekfBIc9GXc53ihMMrUbCKLv34yqnmfdz7SUJAj1fW5gWd+kNlMgB4uAQlI4MgE4gGU+VmIOF4Qwy5ZMT8LddmlcAuVgAQkkIFACCxMbkv0ClEsGUyeauOoyW6vC8kmshilcN16wz4zVOgw3OJBj7qOVhuHoax2L5hVWzkrJgEJSGBxAmbYRYBhQzXcf78OB6LWsPeudnObBCQggUEEuDZGYu4VJretOXoFHgwT+ooPU1IqkSUcaG7eNbwpmdJWU485ogN9xDpP7R9V/7T3VCgeJ4HMBLRdAnsQiGc0Hki/3KPsFcpkfpbaHYgVsJmlBCRQI4EQVj6MhLCCwHIUEXrSMKG2/VOJLI3R/spQA2Lg6ohDQY5Y54Hd4dVujKV/tdENEliJgNlKQAIVEwihhZccpOy1/DAq8C6SiwQkIIHDEghhpRVXGBrEEKGjsPg27mezfKSMIsusCh+lZzT1PNRQoabOpzgpanjAa6uz9lpB6pmwHyQgAQlIYAECRLMQ1bJAVrtm8UU4GLXPN7ArYAuXgATKJBDXvk8iEbVyNHGFBuEHQSYPEyIDUjqRJRxohgvVcPOG/9rpyGJDXXVfqafE+SSnldiarQQkIIEjEoj7CkO7EVpqqL7DhmpoResgAQk8JBCiClErb2KNsILAcpRhQddsuH8xv9j1tkmf04ksTS2NZmlAPFhtEqXwwIa9vj5y3YcyV2AZSsr9JCABCUhgMIEQWnhO+3bwAeXuyLwszENQroVaJgEJSGAigRBU+Blmovb4GWbEFYZJMlxyYo7pD2MelkWCObKKLEMd6PQtPacC8ZBzZCf6yHUf2m08j4aScj8JSEACEhhL4Js4YJGH1chnz+WzcEQcNrRnC1i2BCSwGIG4nhGx0gor/46MEZJrusZFlSYtXy3pO2cVWXhDMonegQ46tMgQJwnhXodmMKCvex4NgOQuEpCABCQwnkBzH14k7Hp86Ysf8S4cE6JaFs/YDCUggSMR2L6uXLsiIRZzHfslLCBiRWElQFwt38c9a9Hoy5QiS0DQgb7qFT0fjVI4nWTQ0zliM5M61fCGMariIgEJSEACJRKI5zXm0Zs9gWABdSN8/usC7NAECaxHwJyrIBCCCpPWMrcKc0ohqhCtwnCgN1HBjyK5vCSAT7T4PGIpRZaGy7+atatuAkZxnE4yOPX+M4qlF41fSEACEpDAUgRCaOHtYA33HJyWI04EuVRXmJWPB0tgbQIhTvwU6W2TECpICKxrFz06/7CRIT/Yx7AfbMb232L7U2TGpLXMrfJFfFZUCQh3Fl4EfHrn+8lfZRZZdKD7m/3HeKgh2qd/jwN80zCwn3S39T+7N7tVAhKQgAQksDgBhg3V8FyC43ILx78HEMD5M+1KQIHwcT+FERFrJIQK0kW4aFoOIaNNDL1B3GgTgsdtGiRwRN6tYHJ9PMN72rxZt+Ve7ImqMOQH+xj2g73YXqQgFLaWuhDR/2njLy5uY1qRJYAAhrQ4lAoydJjMn40oiz9ZtJ/+iPMH5bb927UEJCABCVRJoIxKxT0HgWXxcOwdavdROERvdyjXIiUggf0JIGS0iaE3iBttQvC4Tb/E9eLhEtVqBZPr4xne0+bNui1XISWALbBwT/q8uTctkN3rLNKKLE1VjFJoQNys5PInEFn8yaL9JJOWhGsJSGA/ApZ8KALxMMu9h6FD2ev9dXhNg95QZ6+o9ktAAhKokAACCxEsq75wzi6yOC/L657vUKErJvFQx4nEg93V1sN/NLrn8F1AAI8I+L0EJLAKgW8i11UfbCP/LZYfQmjx14a2IG0ZEpCABJYjgF+4usCCualFlnCgcZ6BRV1M7wnoQL/ncP2/Ytw1jdOphgkITwf+Z9UlIAEJpCQQz208s9UwbIiQfUL4U7aDRktAAhI4IAHuP5sILLBNLbJQgUg6jAHhakF4uvrTj0FAJgGhWX5uHnKbP5demZ8EJCABCUign0Dcg4hk+ap/jzTf+GtDaZpKQyUggYMT4L7zcXP/2QRFDSKLkRt/dhUd6D9ZPH+KE4oJkn89PW859AfPl0M3v5WXgAQksD+BuC8zN0sNL8m+c9jQ/v1JCyQgAQncIYDAQgQL/uCd3Zb9qgaRpYab9GmhZtWB7gf5z/6vDvWNUT2Ham4rKwEJSKBYAp+HZYRvxyrt4rChtE2n4RKQwAEI4PcgsGx+rxkishTNP96GoEqhUBVt50bG0ZE2KipdMbI5nX5vzpeT/yQgAQlIQAJ7Eoj7EQ+9NczP4rChPTuSZUtAAmsQqCHPb+M+83kk7jWb1ye9yNIQM5rldPo1OhGC08l/rwk0bI4uxik0ve4abpGABCQggZ0IxL2Z+xJDh3ayYLFiHTa0GEozksAjAn4vgYcEvoz7y65zf9UisjgU5HSSwcPz7fCMHE72uI+4hwQkIAEJbEughp91dtjQtn2m3NK0TAIS2JMAAQdMcPv9nkZQdhUiSyhVRCjsEgoExEISb4MKMaVYM47M6I84T4z4KrZrapgEJCCBYxKIexPPbw4b2qD5LUICEpBAxQTwcxBY0AV2r2YVIktD8cgOtEOFmk5wbxUPcqibRZx49+xc6TsuPCtlbbYSkIAEJCCB6QTO5zP35l1Du6db/+JIhw29wOEfEpCABDYh8E34ebtMcNtXu5pEln/1VfIA2x0qNLyRj8rKoULD+4h7SkACErgi4MctCMQDMnOzZH9h5rChLTqLZUhAAhJ4T4AX6ESvvH3/Zzn/1ySyuqhONwAAEABJREFUZL8xz+kVR677WG5HZXXUeo/tH+4vgVwEtFYCdRFg2BDDhzLXyl8bytx62i4BCWQhgDCPwEIkZHE2VyOyxBsQbspHHBLhUKERp1X0ExTPIk/GEdUYuyt9hPNj7HHuL4FZBDxYAhKQwBgCcY/mXvX5mGMK3ddhQ4U2jGZJQALpCeDLMTToq+aeUWSFqhFZGrpHHBJxRGGpae7Jq6MxO+oQqXsdxO8kIAEJSKBAAvHQzD2aN5QFWjfYJIcNDUbljhKQgAQGE+DX6Ihe4T4x+KA9dqxNZCke+AqNrAM9HmrhzMZX6MERRzwvHiDxawlIQAISKJVACC1Mgps96tRhQ6V2MO2SgASyEcCXQVx5G/cHIh6Lt78qkSWgc0MmhKh48AsZ+HtT54WyG5BNBbs0zI7ST+wjFfRZqyABCUjggARqmJ/FYUMH7LhWWQISWIwA/tqX4bsxPAg/f7GM186oKpGlgYXS1XysfuVkptOb+CjsjlLP6T3BIyUgAQlIoDgC8VDNAzWh4cXZNsIghw2NgOWuEpCABBoCRKtw/Sd65ftmW+eq1I01iixHmpflaMNeljyPjsLuX0tCMy8JSEACEpDAVgRCaGFuluwvCxw2tFWHsRwJlEVAa6YRQFT5a1z/0wwN6qpmdSJLNEj2m3FXO3VtcxhIF5WB26Kf8IaMELSBR+TcLep5lPMhZwNptQQkIAEJPCLgsKFHhPxeAqMJeIAEiiPQiisMDyKSpTgDxxhUncjSVP4IjuUR6tg052qr2hnWXr/VOoYZS0ACEpBAGQTiZQEP29l/1tlhQ2O6k/tKQAJHIcD1/VpcqeYFeK0iyxGGSBxluMuaF5naGR5p6Nya/cS8JSABCUhgRwIhtDDfHkOHdrTifdEz/nfY0Ax4HioBCVRFAHGFOVcYFkTkSjXiSttKtYostb/Bd6hQ24NnrOOhrfYhQzyUziDkoRKQgAQkkIhA1abGPfurqCD37VilXfy1obRNp+ESkMACBLiGI6r8Ja7pqedcecSiSpElGg01jPSo/lm/r11E2rJdamX5a3MebMnSsiQgAQn0EHCzBBYhkH1+FocNLdINzEQCEkhEgKgVhgTxS0EkPicyf5qpVYosDYpanWeqd4ThUNRzi1TrkCGHCm3ReyyjDgLWQgISSEEgXh7wFpQQ8xT29hjpsKEeMG6WgASqIsD1GmG8HRLE31VV8F5lahZZanUy/4iHjJoFpHv9dfHvgiUnPArr4nnvnKF9ZOcGWKp485GABCQggT8JxH2buVmy3+McNvRnk/pJAhKohwB+FUM7EVYuUStxza7Rz3rYYtWKLNGgzEdRY6Nmf7B42Cl32KE2pghxXOTWRmn+EpCABCQggT0I8HY08zOew4b26DWWKQEJrEEAn+NaWPk2/PCap+0YxLBakaWpPUJL87GaVa0ROgs30KjsamNam2g0qjHdWQISkIAE6iYQD/AILJ8nr6XDhpI3oOZL4KAEEFCYVwWxmwlsiVhRWLnpDLWLLGU6zzeNMOJPIhR0oEcAG7JrPKzBlAe2Ibtn2Ke2fp+BuTZKQAISkMCGBOLezYu07POzOGxowz5jURKQwCQCiCr4SkSrIKgwFIhfCPo+rsM1+U+T4PQd9Epk6dsx6XZuwElN7zSbDt75hRtnE6iJbW39fnbjmoEEJCABCdRHIB7w30atCFWPVcrFYUMpm02jJVAXgavaIJrgRzD3FdGCCCqkz+N6S7RK5uvtVTXX/1i1yBKdAeWtps5ghMJ650QtbH+Mfs8Fcj1S5iwBCUhAAhIohwCOQOb7nsOGyulLWlIeAS1ahwDXTMQUhv0QEfhpFIOYwvCfT8OX+CoSPgW+dHzlMpZA1SJLA6MW59mhQk2DrrHiQhL5csGJVerlX6mt13gJSEACEpDACAJx/8YJIIx9xFHF7eqwoeKaZIhB7iOBYgkgoJBaEYVrJEIKAkpcNs+tmMKwn7fn8/nnSFxLi61QNsOOILLUMgyklnqUfI7UwLiGOpTcR7RNAhKQgAQKIxDOAY5E5vsfw4a+WxSrmUlAArURQDRpE9EnpGfxJCpLJEpcDi8LYgrpy/gLEYWhPggpHB+7uqxNoHqRJTrWr5FqWJjBee3+cOj8o5NwIYpV6kUV+tC92MpLQAISKJ/AShbynJT5HvjZ09PTZyuxMVsJSGB/AkxhgcjRJoRhhJI2XQsmRJ1ciyY4J4gmbUI4IT2LJ7FD5uvf/q2zsAXViywL8zI7CUhAAhKQgATKI8DDZfugOme91rH/LA9ZXRaFg8GQX+ZnWasNt8j3g6GtEvXFwYqViwQGEcCxH9q9jrgffPoSkXJ95z/XHASRF6mnRfhlnlYkYc1kspzHbboWTIg64b52xLaoos6KLFU0o5WQgAQkIIH6CVjDPgLxQPt7pPZBtcQ1D+l95rt9IQLRB4heLrH9h9pkP1moL5hNOgIIClNEDsSPTqEjCLTCx21ESFwqXi2IHn2JSPe+c5jJYRFEXqQo2+XgBBRZDt4BrL4EJCCBRQiYiQQkIAEJSEACEjidEExuh760ggcTrr5SOGIDQsgUkQPxo1PoiDxb4QN7Tv6TwJYEFFm2pG1ZEpDALgQsVAISkIAEJCABCUhgfQIhbhBZeDv0pRU8GNa3vhGWIIGdCSiy7NwAFn94AgKQgAQkIAEJSEACEpCABCQggUoIKLJU0pDrVMNcJSABCUhAAhKQgAQkIAEJSEACEhhKIK/IMrSG7icBCUhAAhKQgAQkIAEJSEACEpBAXgKJLFdkSdRYmioBCUhAAhKQgAQkIAEJSEACZRHQGglcE1BkuabhZwlIQAISkIAEJCABCUhAAvUQsCYSkMDGBBRZNgZucRKQgAQkIAEJSEACEpAABEwSkIAE6iOgyFJfm1ojCUhAAhKQgAQkIIG5BDxeAhKQgAQkMIGAIssEaB4iAQlIQAISkIAE9iRg2RKQgAQkIAEJlElAkaXMdtEqCUhAAhKQQFYC2i0BCUhAAhKQgAQOS0CR5bBNb8UlIAEJHJGAdZaABCQgAQlIQAISkMB6BBRZ1mNrzhKQgATGEXBvCUhAAhKQgAQkIAEJSCA1AUWW1M2n8RLYjoAlSUACEpCABCQgAQlIQAISkMB9Aoos9/n4bQ4CWikBCUhAAhKQgAQkIAEJSEACEtidgCLL6k1gARKQgAQkIAEJSEACEpCABCQgAQnUT+B0UmQ5QitbRwlIQAISkIAEJCABCUhAAhI4NgFrvwkBRZZNMFuIBCQgAQlIQAISkIAEJCABCfQRcLsEaiGgyFJLS1oPCUhAAhKQgAQkIAEJSGANAuYpAQlIYDABRZbBqNxRAhKQgAQkIAEJSEACpRHQHglIQAISKImAIktJraEtEpCABCQgAQlIoCYC1kUCEpCABCRwMAKKLAdrcKsrAQlIQAISkMB7Av4vAQlIQAISkIAEliagyLI0UfOTgAQkIAEJzCdgDhKQgAQkIAEJSEACCQkosiRsNE2WgAQksC8BS5eABCQgAQlIQAISkIAEuggosnRRcZsEJJCXgJZLQAISkEB6Ak9PTx9G+uQqvYnPb2emz+L4Ns+P0kOyAhKQgAQkUCQBRZYim0WjaiVgvSQgAQlIQAJHJxBCRyugtMLJd7Htp0i/RLoswei3SD9dpXfx+euZ6Yc4vs3zuawo8LdIlI8dCDlfxN+IMR/E/i4SkIAEJCCBUQQUWUbhqnpnKycBCUhAAhKQgAQWIxBCBWIK0SMIFz/E3xdhIwpoBZRWOPkitn0Saa/okg+jbMrHDoSc7+JvxJh/h80srQCDKKT4EnBchhOIDvRRJPrNvcQ58ighAtIXt0zvwvYuu27roiA5vEu45wEIJBFZym+JuAB9EOn2guPfT08y+JOBN6DyT2UtlIAEJCCBCQTiGYjnoFZQwQn8d2SDmEL0CMLFZ/H3XiJKFD1raQUYRKFWfCH6BacX4SVrvWZByX5w9FkiluirU1IrwEU295fg9Esk+s29xDnyKCEC0he3TG/C9i67butyzYNzo2XaijScJxefIPJzkcAAArl3UWRZrv24wd5ecPz7dJLBnwzoI8v1OHOSgAQkIAEJ7EQg3EqiVHBSERoQUxBVWkEFJ7D2FwtEv+D0IrxcInSCCY4lb/293+/UL0cWSxvSV6ek2vv3SJQvdr/m2oo0nCcXnyDOk3bhvGnPmVaE4dgXmRX5h0ZJ4AEBRZYHgPxaAhKQgAQkIAEJSOB0Cs+ISBXeTCOqkBhWg9CgY/S+g+Csfx0fcR55s88QKYQo+QQUl20IJCoFMbI9Z1oRhiiYuNQ8Ib4g4CJaEgGjqJWoYTX1dFJksRdIQAISkIAEJCABCbwi8PT+F34QCRALnmIHIlV4M61oEDAeLDiFDJFCiMJxRHjhbf2R2T1A5tcSeCaA+IKAi2hJBAyiJQnxReHlGZMfSiWgyFJqy2iXBCQgAQlIQAIS2JhAI6wgBjCPRButgliwsSVbF7d6eby15209ggsJxgouq2O3gIoIIFwivlwLL5xLRLwgBns+VdTY2auiyJK9BbVfAhKQgAQkIIG6CaxcuxBWmLQWJ4VIFYQVxABEgZVLPmz2OIMwxkFsI1xwIA8LxIpLYCIBziUiXtqIMc4pRZeJMD1sOQKKLMuxNCcJSEACEpDA4QhY4bwEQlz5KNLFOYlasDZiJUBsvCBmIbgwFALnkDf1G5tgcRKohsCt6IKIyTxSnGfVVNKKlE9AkaX8NtJCCUhAAhKYRsCjJCCBGwIhqrRRKwwHIvEW2CiKG047/UlbMOcEb+MZTmS77NQQFlsNAcQV5pFCbGmFTMXkapq33IoospTbNlomAQlUTcDKSUACEtiOQIgrH0Z6GyUyHIioFZyP+NOlQAK8jSe6BbGF6Bb+LtBMTZJAKgKIlgiZTOSt4JKq6fIZq8iSr820WALrE7AECUhAAhKogkAIK4griCqIK0wYiaNRRd0OUAnaCqewFVscSnSARreKmxBoz61rwUXheRP0xyhEkeUY7VxVLa2MBCQgAQlIQAL3CYS48kmkVlzBUb9/gN+WToA2ZCgRSbGl9NbSvkwEWsGFIUUImg7Vy9R6hdqqyLJsw5ibBCQgAQlIQAIS2I1ACCtt5MpPYQSOeaxcKiKAwILQQuJzRVWzKhLYnQBD8xiq1w4nMrpl9yYp3oBOAxVZOrG4UQISkIAEJCABCeQhcCWuMCxIcSVP0021FIEFoYXhDjiGU/PxOAlIoJsA11GiWzjPkk6W210xt65PQJFlfcaWIAEJSEACEpCABFYhEOIKvxbUTmiLU7BKOWZaLAGcP4Y4MEEuwx6KNVTDJPCCQJ4/EDQRMznPvMbmabddLVVk2RW/hUtAAhKQgAQkIIFpBEJg4YGfyBUmtJ2WiUfVQuDSF6JPILjVUqfd6mHBEuggQMQYYqZiSwccN70koMjykod/SUACEpCABCQggaIJhCP9USTmXGFiW6MXim6txaktSUEAABAASURBVI27lyF94evoGziBvH2/t6/fSUAC0wgotkzjdqijFFkO1dxWVgISkIAEJCCBzATCgSZS4ZeoQ4FOdFjlUgIBnEDmkeCtO8JLCTZpgwRqI8B5xjnGvC1ej2tr3Zn1UWSZCdDDJSABCUhAAhJIQCC5iSGufBLJoUHJ23Fj89shRMzbsnHRFieBwxDgF4gQNUkIL4epuBXtJ6DI0s/GbyQgAQlIQAKbELAQCdwjEOIK0SsMD/IB/h4ov+siQCQLk3aS+Ny1j9skIIH5BIhmYaje27hme67N55k6B0WW1M2n8RKQgARWJ2ABEpDATgTiQZ25Vxga5MS2O7VBRcUSzYIDyLqialkVCRRHgOu1Q4iKa5ZtDVJk2Za3pUlAAosSMDMJSEACdRIIgYWhHkSvEIpeZyWt1dYEeLtORMu7rQu2PAkcjABRhwwf4nzjvDtY9a2uIot9QAJrETBfCUhAAhKQwEgCIa58EIlfDSL5cD6Sn7sPIvAm+hhv2hXwBuFyJwlMJkDkmBFkk/HlPVCRJW/bzbLcgyUgAQlIQAISKItAOL44vUSvEMVSlnFaUxuBS1+LPocTWFvdrI8ESiKAWE5Ey7s43/hckm3ashKBEkWWlapqthKQgAQkIAEJSKBMAvHwzaSJCCw4v2UaqVW1EcDhuzh/tVXM+kigQAJvwiaGEHmNDxA3S3V/KrJU16RWSAISkIAEJCCBTARCYCFyBYEFpzeT6dpaBwGGDyG22P/qaE9rsSiBRTNDYEFo4Zq/aMZmVhYBRZay2kNrJCABCUhAAhI4EIEQWJh7hXSgWlvVAgkwbAjnjwk7CzRPkzoJuDEjAcTM75prf0b7tXkAAUWWAZDcRQISkIAEJCABCSxJIB6w2wlufaO5JFjzmkOAt+yLTYg7xxCPlcABCHwR9wHON0SXA1T3WFVUZDlWe1tbCUhAAhKQgAR2JhAP1jxUMzxIgWWftrDUfgKXvhl9lMiW/r38RgISWIIAwia/PsR6ifzMoxACiiyFNIRmSEACEpCABCRQP4FwXi9ObNS056E6vnGRwL4E6KPM0aIIuG87WPoxCHC+MVSPyc+PUeMD1FKR5QCNbBUlIAEJSEACixAwk1kEFFhm4fPg7Qkwb4RCy/bcLfF4BFqhxfOtkrZXZKmkIa2GBCQggaMTsP4SKJmAAkvJraNtdwgotNyB41cSWJiA59vCQPfKTpFlL/KWKwEJHImAdZWABA5MQIHlwI1fR9V1/OpoR2uRg4DnW452umulIstdPH4pgSMQsI4SkIAEJLAWAQWWtcia78YEdPw2Bm5xhybg+Za8+RVZkjdg9eZbQQlIQAISkEBuAt+F+U5yGxBc0hPQ8UvfhFYgEQHPt0SNdWuqIsstkRF/V7Trz2f/bUHg54r6jFWRgAQkIIEHBJ6enhBY/CncB5z8OhUBHD9/BaXsJvs9zOOZ8zb9GNu/mZi+j+Nu8/sjtrmsS4Dzzclw12U8KvehOyuyDCXlfhKQgAQkIAEJSGAggRBY3sSuPhwHBJfqCPDzzkZn7desn0bRbfq44y3hX2Pbpx3p89j2dmL6Mo67zfMvse2yhD1/jdTa1Ao5rSgTX7nMIIDQMkSsn1GEhy5NQJFlaaLmJwEJSEACEpDAoQmEwMID8btDQ7DyNRNof272w5orWWrdQtUgAr1Nv5ZgZ9j0e6TWplbIaUWZ8+l0akUYBBiiYoqwuwR2A21AaFHYHAirhN0UWUpoBW2QgAQkIAEJSKAKAiGw8CDMMKEq6mMlJNBDAKGFiBbWPbsk2ayZqxMIAaYVYRBgiIq5ROBEwUS/ILwQ9RJ/uvQQ4Dz7Ke4vrHt2cXNJBBRZSmoNbZGABCQgAQlIIC2B5gEYgcUH4Xmt2M4p8W1kgwP2eaxxxkjPQxTCcetdYv/2zTnHfBV/kw9zUqR6gx52l7woKJbcOglsixOY6BeEF6JezmEy5yvnvedpwLhZuK8otNxAKfVPRZZSW0a7JCABCUhAAhLIRgCBBcczm91T7F3qGJwphg8ghFwcrXC82jklvorPOGA/xhpnjDRoss3Yv31zzjHfxt/kw5wU7Rv0j6MCiDc4dL5FDxgTl89CXHw78VgPk8ALAnGecr5y3nN+IpRyXeAa8WK/A//B/cWhqAk6gCJLgkbSRAlIQAISkIAExhDYft9wNJnolrlYti88V4lEqSBsIHAQlYLowfABhJDNxI5w5n6NhHiDQ3cRdwIjb9GJeNGpCxgjlq+j//uLQyOAuetjAnF+IpRyXWgFF64bXD8eH1z3Hl/E+cb9pu5aJq+dIkvyBtR8CUhAAhJIRkBzqyMQD7y8Xfy6uootVyFEC95IE6FCQthA4BgUlbKcGfdzCqeOt+hEvODU/SX2/jISQ4xi5fKAgPOzPADk19MJxLmJ4MJ1g+gWBNrNBNnpVq965LvmvrNqIWY+nYAiy3R2HikBCUigOgJWSAISmESAYUKMl590cKUH8caZqBBEFaJVeCPNthTVDafuj0jfR8KhawWXozt299qO/v/DvR38TgJLEIhzEoGWqDMEF4YaLpFtxjwUNgtuNUWWghtH0yQggRcE/EMCEpBAcQTibSLzURDJUpxtOxlE5AdznyCuEBWSRljp4xVOXSu4tI4dwxaKisLps33j7Z/E+eAwho2hH7W4OC+JbiHa7Khiy4fR9kZQBoQSF0WWEltFmxIS0GQJSEACEjgagXAoEVd8yH3f8LxRRlhBYEFoeb+1sv8bx45hC210S3oRaeEmchjDwkDN7j6B5pxsxZZqrz09FN7Efcj5kHrg7LlZkWVP+luVbTkSkIAEJCABCaxBgGFCa+SbKc9WXGHy2kMJDuHcMZyIt+g4eIeq+4MO6nnxAJBfL08gzkciWxjeR8QZ80AtX0iZOX4XQgvD9cq07qBW7S6yHJS71ZaABCQgAQlIIDGBeKhlWASRLIlrMct03hgTuXI4ceWWWjh3ii0voXzUnB8vt/qXBDYgEOcjE1gzeTVzQh1hWF+6YUMbdIPdi1Bk2b0JNEACEpCABCQggUwEwoHkreFRhwkRscFPHjMsiM+Zmm5VW8O5a8UWfknpCM7dPZ78rDPO3719/E4CqxGI85H5shBbxkxYvZo9K2fMsKEji/4r4x2fvSLLeGYeIQEJSEACEpDAsQm8i+ojtMTqUMs34bgQvXIEp2VywwYjJsZlGBFDqSbnk/xAzg/Ok+TVKMl8bRlLIM5FhhAxfAjhc+zh2fb3fCuoxRRZCmoMTZGABCQgAQlIoGwCT09PvJ3/omwrF7eO+Q34GWbeDC+eeY0ZhnPHLxIxVwsOXv0RP92N+FmcL07K2c3GrRsSiPMR4ZOolprPRX7d62j3pg170biiFFnG8XJvCUhAAhKQgASOTeBok3p+Gw4KAgtCS8qW39PoYEfUD84dTt6epuxV9tHOl704W+4DAnEucg3jXGQ+qQd7p/36qMNYi2swRZbimkSDJCABCUhAAhIokUDzVn7JN/MlVrO1iTlFmHflCGH2bZ1XWYdzR1QLHPnlE7iuUk6hmX4Y541v1wttnKOZ1ZyLnIe1ip6cb0YcFtCxFVkKaARNkIAEJCABCZRHQIs6CBzlLSEh9UxuW/Mb347mXXdTOHjw5E06b9TXLays3N+F0MIcLWVZpTWHJRDnIqInw/lqZPB3z7f9m1WRZf820AIJSEACEhhLwP0lsDGBeGglgoW0ccmbF4cA4PCglbCHc3cRsCL7I02Ki8DyJursIoFiCMS5yDlIVEtt0WWebwX0MkWWAhpBEyQggboIWBsJSKBKAkeIYiHSggiW2pyOojpkOHcMH+It+jdFGbauMb5dX5evuU8gEOfi5ZoXh9Z2zft71MllRwKKLDvCt2gJ7EDAIiUgAQlIYCSBp/e/KFR7FMv34XAwB0ttzsbI1t5u9+DN3AmILdsVul9Jvl3fj70l3yEQ5yHRe/wKWE3Xvg/ivuVcSHfafe2vFFnWJmz+Iwi4qwQkIAEJSKBIArVHsSCwHMXZL6qDhYPHkIWjsPftelG9T2NaAnEe1ii01H7fapuvyLUiy9BmcT8JSEACEpCABA5HIN4G8ga+5jeCOBdMAnm4ti2lwuHgHUVo8e16KZ1OO14RiPOQayFztLz6LukGfmnos6S2l2H2DCsUWWbA81AJSEACEpCABKonULvA4hwsBXThcPCOIrT4dr2A/qYJ3QTiPPw5vkkRWRZ2Dln+NmQn91megCLL8kzNUQISkIAEJCCBegjUOsSB+Qecg6WgfhoO3hGEFt6u1z6/UUG9ahdTUhfanIffpq7En8Z/9vR+TrE/t/hpEwKKLJtgthAJSEACEpCABLIRiIdTnMEPs9k90F4EFn5OeODu7rYFgcocvD5kO75d7zPJ7RL4k0CchwyhJKrlz415P9UcjVlsqyiyFNs0GiYBCUhAAhKQwM4EanUGvwknohYHYucusmDxTVbRNjh4PzZ/1rj6IgRM5jqqsW7WqR4CzM9CxF/2GtV6Hyu6XRRZim4ejZOABCQgAQlIYEcCNU4a+Gs48fx08Cis7rw5AeaFYCLOzQveqEDfrm8E2mKmEYjrJAIL5+G0DMo5iiF6H5VjzjEsUWQ5RjtbSwlIQAISkECtBFapV7xpR2Cp7W07TgNvZ1dhZqbLEajIweuD4tv1PjJuL4ZAnIdElJGKsWmiIZ5vE8FNPUyRZSo5j5OABCQgAQk8JOAOiQn8V2Lb+0z/RzgNzsPSR6ew7dFWRLIwdKgwyxYx56MQMmud72gRQGZSDAGiWRCoizFogiG8NJhwmIdMJaDIMpWcx0lAAhLITkD7JSCBewRqeyj9PZx2hwnda/ECv4s241dOap0/p7ZzrMAepElzCcQ5iMCSXex0yNDcjjDyeEWWkcDcXQIS2IaApUhAAhLYi0C8YWf8em1DhXgbuxdSy51HgLbD0ZuXS3lHO4ShvDbRog4CIbR8H5uJLItV2oVfy0trfDbDFVmytZj2lkBAGyQgAQlIoG4Ctb1h/zmchFqjIeruiVG7aDuGeP0jPta2OGSothatuz7Zo1lqHAJbbI9TZCm2aaYa5nESkIAEJCABCcwk8P9mHl/a4d+UZpD2jCMQQgtDvRBbxh1Y/t6+XS+/jbQwCMQ5iFBNir9SLp5rGzbbtiLLhhWzKAlIQAISkIAEJDCRQE0Po0axTOwEBR5Wo1jm2/UCO5om9RJIfQ4+PT1tf2/rRVn3F4osdbevtZOABCQgAQlIYASBCh9CUzsFI5qu+l3jTTrzQtQWzaLTV33PLbeCYy2Lc5BIFtLYQ0vZ3/Nto5ZQZNkItMVIQAISkIAEJJCCQE0PofyiUGaHIEWH2djI2kSzD0LYZKLpjTEWX5wGlksg8/xItQ2FLbaXKLIU2zQaJgEJSEACEpDADgRqegjN7Azs0PTlFxlv0guIZlmckyLL4kjNcC0CcQ7+GHlnjSjzXIvG22JRZNmCsmVIQAISkIAEJJD9VAEkAAAQAElEQVSFQE0PoTjkWbgvY+cxcqlNPKtJ2DxGD7SW/0yKgMixD5PanspsRZZUzbWasZ88+W80gdVaw4wlIAEJSGAXAnEj+CAKJsVq+WXjHH+MN65/bFymxW1DoDbxrCZhc5seYCl7E8h8Dnq+bdB7FFk2gGwREpCABCQggcIJaN57AjU9fP73+yr5f20EGvEss5N32yQ1nXe3dfPvCgnEOchwoV+TVs3zbYOGU2TZALJFSEACEpDAHAIeK4HNCNT08Mm8AZuBs6DNCVQloj09PdV07m3eGSxwFwJZhwz95y60DlaoIsvBGtzqSkACCxMwOwlIoCYC/1FJZX6NN60OFaqkMbuqEe2LiFZTGztPRFdDu61kApyDJdvXZ1stQ2L76lfEdkWWIppBIySwDgFzlYAEJCCBUQRqeZteVZTDqBY81s5ZnbyuVqrl3Ouqm9sqJBBCJ0OGSNlq90k2gzPaq8iSsdXqsNlaSEACEpCABEojUMsbvqxzBZTWH0q351+lGzjCvlqiyEZU2V0rIPBzBXWwCisQUGTphOpGCUhAAhKQgAQOSKCWt+k++B+j89bUzg4XOkafra2WKYXOp6cno1le9cRlNyiyLMvT3CQgAQlIQAISkMCeBH4/n881zdWxJ8uiy452ZqgCqWg7BxpXSxTZwOq6WyUEtokarATWkaqhyHKk1rauEpCABCQgAQl0Eog3e7VEsdTidHe2kxtfEajFyavl/HvVQLVvOHL9QujMev4ZObZyx1VkWRmw2UtAAhKQgAQkkIJALW/Ssz70p+gkBRr5PwXaVIpJ2iGBLQhkvOYqsqzcMxRZVgZs9hKQgAQkIAEJSGBDAv+3YVkWNZnAYgdmdPAWq7wZSaAAAg7PLKARSjNBkaW0FtEeCUhAAhKQgAQkMJ3AfKd7etkeuT2Bahy8iobsbd8LLHFPAiknv90T2BHKVmQ5QitbRwlIQAISkEAlBFasRi1zQlTjdK/Y1jVlXZOoVsuQvZr6l3Wpk8B/1FmtcmqlyFJOW2iJBCQgAQnkJqD1uQno4OVuv0Naf/aXpA7Z7la6KAIZhW3nZFm5CymyrAzY7CUgAQmUQUArJCABCUhAAhKQgAQWJlBTNNnCaI6bnSLLcdvemkugHAJaIgEJSEACixA4n88/L5KRmUhAAhKQgAQkMImAIsskbB50JALWVQISkIAEJCABCUhAAhKQgAQkMISAIssQSuXuo2USkIAEJCABCUjgmYC/0PKMwg8SkIAEJCCBXQisKLLsUh8LlYAEJCABCUhAAlMIZJy8sKueTuDbRcVtEpCABCSwMgGzbwkosrQkXEtAAhKQgAQkcGQCTl545Na37iUQqEXoLIGlNtwSWO/vjL/U8/t6OMwZAoosUDBJQAISkIAEJCABCUhAArsROJ/PhxU6d4NuwUsQyCiy/O8SFTePfgKKLP1s/EYCEpCABCQgAQlkI/BRNoO1dzqBDebgmW6cR0pAAhI4KAFFloM2vNWWgAQkIAEJSOAFgVqGKhxoTpYX7XfUP2zvo7a89S6FwP8rxRDtKIeAIks5baElEpCABCQgAQnsRGDxoQo71SOK/c9ILsch8EklVXWOiEoa8oDVyCh01vJSodjupshSbNNomAQkIAEJSGAdAuZaNYGMD/xVN8jKlfuPlfPfKntFlq1IW87SBDIO0XT+o6V7wU1+iiw3QPxTAhKQgAR2JWDhEtiTQA0PnrVENuzZDzKVndHBy8RXWyXQS8A5kXrRHP4LRZbDdwEBSEACwwm4pwQkUDmBKkKoffCvvJe+rF4tIsu/XlbLvySQgkDW88/IsZW7lyLLyoDNXgKbEbAgCUhAAhKYS6AWRy/rg//c9jvU8SGmfVZRhasQOCtqD6syjEDKSW/P57Miy7D2nbyXIstkdB44hoD7SkACEpCABBIQqMXRS/ngn6B/lGZiTe1cw1C90vqH9qxPIOPwTAWW9fvFSZHldNoAs0VIQAISkIAEJJCAQC2OXsYH/wTdozgTa4pk0fErrntp0D0CT09PH8b3pFilWjzXTqfVG0yRZXXEFiABCUhAAhKQQAYC5/P55wx2DrDxw3AAHDI0AFTWXaJ9ce5IWavwwu4493T8XhDxjwQEVhI5V6+559rqiE9GsmzA2CIkIAEJSEACEshDoJYHUKNZ8vS5KZb+fcpBhR5Ti7hZKN4FzTKrawJ/u/4j0ef/TWRrWlONZEnbdBouAQlIQAISkMAKBGpx+LI6ACs0aZVZZn2L3tUYiwzT68rYbRJYg0ATSZY1WrCWe9waTbtYnoosi6FMn9GnUQPT6TSGQSBzkYAEJCCBygj8TyX1+ahxBCqpTupqLGp8tCsCy4eLZrpvZrWcc/tStPQtCXAOblnekmXVEq25JJPF81JkWRxpygx/PZ/PP5vGMUjZ0hotAQlIQAKPCNT0lm/AkJJHOPy+QAK1tWtN51yB3UWTViCQ9Rz8I/w9RZYVOsRtloost0SO+XctP1l5zNaz1hKQgARqJbBDveIBlKELtdwXv9gBoUWuSODp/S+a1DTfzu9xzun0rdhnzHpZAnEOcv5ljSTj/rYsEHPrJKDI0onlcBs94Q7X5FZYAhKYS8DjqyZQy5v1D8IhUGipq6t+XVd1TrWcayf/HYZA5nPwX4dppZ0rqsiycwMUUvz/FWKHZkhAAssQMBcJSGAegf+ed3hRR2cNay8KYgnGhGDG2/PaRDOdvhI6lzYMIhDnIJPdEskyaP8Cd1LU3KhRFFk2Al14MUayFN5AdZlnbSQgAQkUT6CmB1EmwM3sFBTfWTY08LsNy9qqqJrOta2YWc5+BN7tV/T8ks/ns+fbfIyDclBkGYSp+p1qGXs+v6HMQQISkIAEDk8gHkSZI6KmFxCZw9sP3x8BEG/QEcpI/FlL4ocXONdqqY/1qJhABeegAsuG/VORZUPYc4vyeAlIQAISkIAENiPwz81KWr+gT8JBqG2YyfrUyirBKJay2kNrjkcgu1hd0zDY4nvfUiJL8RXVQAlIQAISkIAEJDCCwI8j9s2w69chtHyQwVBtfEkg2u1tbGE+llhVtdQkZFbVMFbmJYE4Bz+LLdkjyZaOZAkkLn0EFFn6yLhdAhKQgAQkIIHDEqhwyBBO+pvDNmjSiodzx0Sb2d+gd9Hnp5trGpLXVUe37UZguYLjHESczh5J5vm2XJcYlJMiyyBM7iQBCUhAAhKQwAEJ1PamnWgWnPYDNmW+KjfO3Q/5LB9kcW2RYoMqfdnJ/7IRQOREaMlm97W9nm/XNDb4rMiyAWSLkIAEJCABCUggJYEaH0yzv5FN2ZEmGs0vmRCBNPHw8YdteMQ/NizLoiQwiUAInQwRqiECsLYXBpPac8uDFFm2pG1ZEpCABCQgAQmkIdAMGapNaOEnnZnjI007NIYeahXOHRMVk2qst78qVGOrVlanOAeJXqkhkozzzaF5G/dPRZaNgVucBCQgAQlIQAKpCAx4A5iqPhjLsCHe0PLZVBiBcO5om5ojjoxiKazPaU4nAc5BhJbOLxNtrPEeVjx+RZbim0gDJSABCUhAAjMIeOgsAufzmUiW32dlUubBP4QzX+tQlDKJD7Aq2oQ5c2p4e95X2z/iC86pWLlIoEwCcR4S7ccvCpVp4Dirvh+3u3svQUCRZQmK5iEBCUhAApMIeJAEkhD4JomdY8zkDS1CC+sxx7nvSgTCsaMtforsWceqyuX7EC4RWqqsnJXKTyDOQ4bpMdlt/sqcTp5vp33+KbLsw91SJSCB8glooQQkIIGWAG/ea3QMa4+aaNuv+HU4dggrtQsstINDhaBgKpJAnIe1DdXzfNuppymy7ATeYiUwj4BHS0ACEpDAVgSaN++1Pqx+Eo4Fcw9shdNybggE/1ZgQfS6+baqP3+Mc6nGoXdVNdJRKxPnIedfTUP1fo7zzQlvd+rQiiw7ga+6WCsnAQlIQAISqI/At1GlGqNZolqnL8LBUGiBxMYpuOPYEcHCeuPSNy+uVqFyc5AWuCyBq/MQwXPZzPfLrcZhrvvRHFny4USWkXzcXQISkIAEJCABCZzijSACS81OokLLxv38yrE7gsDCW/WfN0ZscRJ4SODqPKxJYOFnmz3fmtbfY6XIsgd1y5SABCQgAQlIICOBmqNZaI+L0BJOR03OBvUqLgXjz8IoIliOwtq36tHgLmURiPMQgXPP83AtIF+tlbH5DiOgyDKMk3tJQAISkIAEJHBwAgeIZqGF+WWNn8L5OIrzT503TcGWn4dl7oejMDaKZdMetlRhdecT5yHXul+ilrWdh55v0ah7L4ose7eA5UtAAhKQgAQkkIkA0Sy1T97J291fwglhnaltirY1eH4QCXHl66INXd645d+qL2+jOR6IQJyHCJ21zkNl1FgBfVmRpYBG0AQJSEACEpCABHIQaKJZjvAQ+2G0CBEtvO2Njy5DCXTtF07dJ7H9t0gME4rVYZbv45zxF04O09xlVzTOQ4ROxJVahU5+wcu5WArohoosBTSCJkhAAhKQgAQkkIdAOI3fh7UZH2TD7FELYfTfhWNC4vOog935dAp2OHXvgkWN8z5Ete4uTBZ9BEHyLgS/LINAnItE5nEe1iwcGzVWRnc7KbIU0hCaIQEJSEACEjg2gXS1P9LDLE4Jw4eIxkjXUHsZHE4dvJjz4c1eNuxc7j9CkKx9aN3OiC1+CIE4FzkHEVgQWoYcknGfbzzfymk2RZZy2kJLJCABCUigVALaJYEbAvEwyxAI5me5+abaP9vhQ0a1PGjicOg+jMTcKzh1cHtwRJVf/x7nCPNeVFk5K5WDQJyHRJJxLhJNVnM0nudbYV1SkaWwBtEcCUhAAmMJuL8EJLAbAYZCHO1NPVEtv4Xzwpvh3cCXWHAwwaFDWDji3Cu3TfLl7Qb/lsCWBOJ85Bp1lHPR823LzjWgLEWWAZDcRQISmEzAAyUgAQlUSyDe1DPnxBEfbnkj/C6cGMQWRJdq23hIxYLDtbjy9ZBjKt+HyW6PMGdR5c2Ys3pxPn4UiSiy2qNX2gb6Nu5Fnm8tjULWiiyFNIRm7EHAMiUgAQlIQALzCDQPt0caNnQNjKEwDB86pNgSjtytuIL4dM3niJ8RHo80X9ER27jIOsf5yDA9fjmIeZCYD6lIOxc2imGrRFQunK3ZzSWgyDKX4FrHm68EJCABCUhAAlkI8JB7tGFD123zQmwJZ6dqsSHqx5tynLl/BwQiV6qub9RxzPJlCI8ILWOOcV8JTCYQ52MrrjA06GiRdZ5vk3vOugdOElnWNcncJSABCUhAAhKQQB4CjVP5eR6LV7P0IrZE7kS2EOFSzS95hCNH1MoXseYtOelozlw068OFYQs/PtzLHSSwAIE4F48srkDwq7j3EMnC59WTBYwjoMgyjpd7S0ACEpCABCQggVcEmoddh0m8J0NkByIEP/tMeoND9P6rPP+Hza2wwq+TELVC9Eo1wtHCLYGzR0TXwtmanQReEojz8rNIpzBaVAAAEABJREFUzLnSRq683OEYf/0Y95yjDlNN0cKKLCmaSSMlIAEJSEACEiidQPPQ65v8lw2FKMEElES3ILgwYW6x8yWE88bbcUSha2Hls5dV8q8bAgwPctjCDZT3f/r/EgSa85JrB8IK52ax15Al6vsgDwTNI064/gBLWV8rspTVHlqzEoG4OKN6v4216elpCAMfKFfqi2YrAQlUT4CH3yPPz3KvgRFc+FnVn+J+zMKae9In8QfRL/eOXeW7KJf5VRBVGN6EA0dCFKr/PrgcUYctLMfSnBoCcW62gifD8zgvuXYwJLHZ45ArBc0kza7IkqShNHM2AX7a7O+RCxPUmU6nRwx+iJsbod6BzEUCEpCABIYSOJ/PPAQzPwvroYcddT/eRnM/IvT/33HfIdrlIrzEZ+Y/QXxZxKmK/MirfeGCoEJUzVOAx4FDVOGet0hZkeeRlu+jz39/pApb13UIxDnK8DzO0TZiBWGFcxNxdp1C8+X6eZxvRLLks/xgFiuyHKzBj1rduCDxsPvpUes/sd48hDL+fOLhHiYBCUigSgIPKxX3HB6CiWh5uK87vCCAyNEKL9x/EF8QXsL/ekKEQYC5TkTB3Kbr7y9CylP8i1LIi2EGiDoIKjpuAWXm8mv0dfv5TIhHPTxOSyJVWlGF85N5jzhHjVjp7hQMyeOlcfe3bi2KgCJLUc2hMWsSiAcBH3rHA+ZNIlEtu4RxjzfXIyRwdALWvxQCcc9hbhYnwl2uQbgPIcBcJwST23T9vULKcvxvc/Ll1S0R/+4lEIIKkWQ8UyKKIoQiqBCp0ooqnLe9x/vFiSF5Rowl6giKLIkaS1PnE4iHXi5QpPmZHScHxqVzQ+QN43FqbU2XJ2COEjgYgbjn8OsP3nMO1u4HqO5FYIn+zfoA1S2riiFYEP2BaNGmXcXEsId5jVpbEFFIvKDj2ZEINIblEalCdBqiKIIKomlZYMu1hiF53EvKtVDLXhFQZHmFxA21E4iHAkJbDbcb19DcwAm7Zj3uyCR7a6YEJCCBNQg09xyFljXgmudeBJwXYi/y78sl+gPRok08n4XW8WphO0LHo4Qocp0YLn7vmHYI36XAMIl5jVpbEFFIvKBTTAk4MxcEFvyWmdl4+NYEFFm2Jm55pRBgUkKGD5Vizz07SvmOtw7csBnLXopN2iEBCUggAwGGDXnPydBS2viIgPNCPCJUzve8GEPoeJQQRa4Tz3n3jjGyeZs2VmDZhvMqpSiyrIL1SJnmrGu8WSTEFWWYdc5K7Gc1bzgI+dzPAkuWgAQkkIhAc89h8nWFlkTtpqmvCCCwGJX1CosbJLA4AQWWxZFum2HdIsu2LC0tGYF46OVhl4iWZJYXYS6TlxHVQnRLEQZphAQkIIGSCcQ9B1FfoaXkRtK2ewScePMeHb+TwHIEFFjmsCzkWEWWQhpCM/YhEA+9zM1CRMs+BuQulTBUxuUSUpq7JlovAQlIYAMCcc9RaNmAs0UsTgCnz4k3F8dqhkcjMKC+iJn6JQNAlb6LIkvpLaR9qxOIh15CX79ZvaA6CyCShcnR3tZZPWslAQlIYFkCcc9RaFkWqbmtSwCBRadvXcYl5K4N+xNgOJ5i5v7tsIgFiiyLYDST7ATioReRALEle1X2sv/rp6cnfq4P0WUvGyxXAhKQQAoCcc9RaEnRUoc3EqevAIHl8O0ggLoJXO4HcV/QD6monRVZKmpMqzKPQFzceJD4cV4uhz6an+tz+NChu4CVl4AEhhKIe87lwTr298E6IKRd6jUcgcW+WW/7WrMyCDA/5KdxP2D6gjIs0opFCCiyLILRTCoigNDCBa+iKm1aFSJZHD60KXILk4AEshKIB+s/InHfWcWZzcpFu3cnoMCyexNowAEI8GIXgUW/o8LGVmSpsFGt0nQC8bDbvln0gjcdI0cyfAix5UP+MElAAhK4IeCfVwTi3oPQ8tXVJj9KYA8CPAN9HP1R0W8P+pZ5JALfxHn2eSTOuSPV+zB1VWQ5TFNb0aEEmgseP7PphW8otO79+NUhfuaZYUTde7hVAkUS0CgJbE8g7j1MeIjY4r1ne/yWeDr9fjqdfKseEFwksCIBru+cZ8wFuWIxZr03AUWWvVvA8oskEA+7l4tgGMc6Vi4TCTB8iAlxSXyemI2HPRPwgwQkUC2BuPcQQYDIj8NbbT2tWHEEmA+CCBajeItrGg2qiADDg/4a13nOt4qqZVW6CCiydFFxmwSCQFwEedjgYVehJXgMWe7sQzSLk+LeAeRXEpCABCDQ3Hs+js8+iAcEl9UJfBt9jjfrPuusjtoCDkqAc+urOM8cHnSgDqDIcqDGPnhVJ1U/LogKLZPIdR5EJAvztLx7enric+dObpSABCRwdAJx72FCXET+b47OwvqvRgDHjwlunQtoNcRmLIETYjlRYgwHPfnvOAQUWYpoa40omUA87Cq0LNtAbyI75mphzpb46CIBCUhAAl0E4v7DuP3P4zsc4li5SGARApfnmuhfDE9bJEMzkYAEXhDgmk30ClFiDv98geYYfzwWWY7BwVpK4C6BeBDhgYQH3bv7+eVgAh/GnkS1OFdLgHCRgAQk0Ecg7j+XcfzxPW9EY+UigVkEeKOO48dzzayMPFgCEugkgHjJ3Cuca507FL9RA2cTUGSZjdAMjkIgHnR5wOWXH45S5S3q2c7VwnqL8ixDAhKQQDoCcf9phw8xtIM3pOnqoMG7E6DfMCcEb9f5vLtBGiCBKQQKPgbhEgGTYXieYwU31BamKbJsQdkyqiEQD7qo0woty7Yo87MQ0UJkCxEuy+ZubhKQgAQqIRD3IN6MOiluJe25YTUu0VDRf1hvWOzhirLCxySAoIKwwtwrvJA9JgVr/YKAIssLHP4hgccE4iFFoeUxpil7MEcLc7UwB8GU4z1GAhKQQPUE4h70eyQmxTWqpfrWnl1BnD+iVz4/n898np2hGUhAAs8EOKeYnJyhQfgGz1/4QQKKLPYBCUwgEA+4XEyJaOECOyEHD+khQFTL109PT/7ccw8gN0tAAhKAQNyH6olqoUKmpQnwnILzZ/TK0mTNTwKnE9dfzq+3cS3WFzj575aAIsstEf+WwEACcVHlAYa3iV5cBzIbsRvDhhg+xDAiPo841F0lIAEJnE5PT09vInEdQbydjKTkA+M+1Ea1MDG7v2BRcmNtZ5vzQmzH2pKORYDnfZ79EVec2+hYbT+6tooso5F5gAT+JBAPuJeHmdjChTdWLgsTYELcyxCicJaqdZQWZmZ2xyFgTTsIxLXik0i/xFfvIjEMkXV8rHeJexHRCszVQui696N6m/pezWh3HD/nhbhHye8kMJ4A5xbXVsQV5l5R0B7P8HBHKLIcrsmt8NIE4uFWoWVpqC/zQ1z5OjYhtnwRa5cUBDRSAtsSCGHlw0g/RKk/RfooUrt8EdvftH/Uuo57Eb9A9Dbqh9jC29b46HIQAu3QBdYHqbLVlMDqBBBTmPsKccVhQavjrqsARZa62tPa7EQgHm4VWtZnz7Ch78JZIvyft9PTS/RICUigGgJxTfggEuLCb1Epot9i9Wp5F/v0ffdq58wb4n7EECLmDPtr1MNfuggIFS+IaTiARLDwtr3iqlo1CWxGgOsmE0Zzbn0b11TPrc3Q11OQIks9bWlNdiYQF+FWaGE92RoPfEgAgQWhxflaHqJyBwnUTSCEEyJUEFeIdntUWUTa6wiXR/un/j7uSYgtzBtGwmlIXR+Nf0GgFVccuvACi39IYDIBhBQiwRBWPo3rJ0MwJ2fmgRJQZLEPjCHgvg8IxEUZgYUHWtYP9vbrmQR4K82vEOE4EeUyMzsPl4AEshAIcYUhQIgrzLfCkMIhprMfAi3rIftXsU/cl36OxH2JpNiSu1UVV3K3n9aXRwAxhaiVv8R1kogwhgiVZ6UWpSNQkciSjr0GV0ogLtKo4TzMKrRs08bM08J8LW/D8TqU87QNXkuRQDkE4hxnUlvEle/CqiniKteIwwktweoU96ZWbGEYEc46m005CNBevGE3ciVHe2ll2QQQVhhSibCCwMLfZVusdT0Eyt2syFJu22hZYgLxMNsKLTwYJa5JGtNxnBguQGSLYkuaZtNQCQwj0IgrTGhLmiKuXBfEkKFDCi1AiPsTw4hwMBBb+MUM7ld8ZSqLAO1C++AIKq6U1TZak48AQgrXPc4nhJXv41rIObZeTcz50AQUWQ7d/FZ+TQJcvCNxQVdoWRP0y7wVW17y8C8JpCZwI64wH9NS9UFo4ZeIlsovXT5xf0Js4Rcz/hLGc68y+jJAFLAwpAtRBWeQ9tERLKBRajPhAPVh2A/P359HXTmXFFYChMt2BBRZtmNtSQclEA+yPLzyE3AHJbBLtRVbdsFuoRJYhsCK4sq1gQw9YtjR9bZDfo77FG91+elnEpM/6thv2xPgDXeGBDHpJs7hthaUU5qWSGAKAc4holV43v44rmmcS4iVP8ZnvpuSp8dIYDIBRZbJ6DxQAsMJxAWehyfEFi/0w7EtsadiyxIUzUMCGxEIcYUJbRkSRFoycqWvBpSn0NLQiXvVr5GY/JHoFt4A47Q037o6nRZngJjCG3betMOdt++LF2KGEqiQAOcK16dWVOEc4lz6Nq5hRuVV2ODZqqTIkq3FtDctgbjo8zDFhLgKLdu3Yiu2/DucOH+NaHv+liiBuwTivETsaCe03UJcubaHsvlJeK4T19tzfV7Y2rhn8QYYoQXBhZcEODQLl3LI7OAIT5zCy5v2Q1Kw0hIYToDnZobRMUcR1ySiVEiKKsMZuufGBBRZNgZucccmEA+tqOuEY7M+Noz9as+vETFBLmLL1s7cfrW2ZAnsSKCr6BBWPojERNWtuDJ3QtuuYoZu+yx2POxkuFH33iXuW39EYjgRzg2CC2teGuD49B7nF88EeOMOLxzCQHlmDU/5PSPygwQuBDgnEFM4XxBUeDGJGEliGB1zFCH+ck5dDvA/CZRKQJGl1JbRrmoJnM9nbg7cOHibVW09E1QMsQWnioSDlcBkTVyBgFluTCCElQ8jvYtiEVf4VbA9xZUw43lhMlyuB0a0PCN5+SHuXwguODlEYCC48NIAZwjH6OXOx/4LHu0wBt64w8t7/rH7hLU/nVoRhfOD6waJ52EElLi8nFsxhfMFQeXn8/nMMSf/SSAbAUWW5VqMiwAXjYwJ25cjYU4PCXDTiMTbQOZqebi/O6xKgGgWhgoQ3fImnL+CHKxV623mEtiUQJxbTDTLL/ogrryJwks811qhhXWY6HKPQNzHmMMFZ+jiJMW+OEw4TjwLxZ+HWHiGor7U+8IhuLB2bojym79tN9puicQzHXlOSSVHOPNysK9O1PmWHc+3XAtITEIbp8RlaUUUzg+uGySEFPIuv7dooQRGEFBkGQHr3q5x6eBBg4tGxlTyhf0e9vTfRb/hTRdjs/PVpT6LeZt+ebseziBDifi7vlpaIwlsSCDOJYYEMecJwgqT2WaIGkNgIaKF9dkyVzkAABAASURBVIa08hcV9zQcJhwnnoXOUSMiXbjH4YjV4Ei1ggr1oV44kK3jSL1rqGM02zGWq/5K2y2Rvoo86ftTEn0pDi9yIRqrr07U+ZYd0W5cC0j6GMc4nazlDQFFlhsg/lkHgUy1iNspY095EOXhLZPptdrK23WGEhHZgqPF51rrar0ksAqBEFcYEsSv9iCusM4mWnId+CXq4fk/o4fE/Y0XUMw/giOGk4bw8tfIkjfcvP3m/ocwUdr9r31zj5iCndiLo9kKKtSHeulARmO6SEACEpDASwKKLC95bPGXZUjgFQEeRGMjD54+sAWIghaGEhHVwq8SvQuHK5ujWBBKTamdQJwfbdQKESuIKwgUiBWZq875T4Rb5joUZXvc736PxBtu3n4z9wLiC+IFAgwvHBA0iBJB3CAxlwlCTJum1gchp82DNQIP+ZPa4Q0IKWHemTV2IaZgJ/YivEwt2+MkIAEJSOBABG5ElgPV3KpKoDAC5/OZCQV5wOTBrzDrDm8OjiJzSDxHt+BQHp6KACQQBOJc+CgS0SoIK6wRJ+ObahbmaiKqjetANZUqsSJxHyTyBUGDKBHEDRK/xoPg0abYbdKCkNPmwRqBh/xJ7fAGhZQSO4Y2SUACKxIw6zUIKLKsQdU8JTCDQDw68gaPxFu3GTl56EoEcCBxJBFceMvN3ysVZbYSKJNAiCoMB0J8QFj5JaysIWolqtG7cJ5zzrPu3ckvJCABCUhgQQJmJYGkBBRZkjacZtdNIIQWolkImfatWrlNzVttHEvecON8MZzIiTLLbS8tm0kghJV2OFD7C0EMoznSEDrOec73tzNRergEJFABAasgAQlIoI+AIksfGbdLYGcCIbQwPwvDhxiPvrM1Fv+AAI4mw4mYKJPEG362PTjMryVQPoEQVz6LRPTWv8Na1hl+IShMXW35OnggtniOr4bYjGcS8HAJSEACEtiRgCLLjvAtWgKPCITQwjwtTMj31aN9/b4YAkSz8Iaf6BYFl2KaRUPGEAgR4SKsxBphhcgVorbGZFH7vgwbupzftVd0+fqZowQkIAEJSKBuAoosdbevtauEQIgt/IwkUS0OH8rVpl2CC9ty1UJrqycQYko7FIh5hq6FFYbIVF//5wqO+wAbhgka1TKOm3tLQAISkIAEqiagyFJ181q5mgiE0OLwodwNirhChAtvv4lywTnjbXjuWmn9ZgSWLiiEFSav/SLWRKogrDAUiIgVxIOli6s5P85jzmuGDNZcT+smAQlIQAISkMAAAoosAyC5iwRKIRBCSzt8yF8fKqVRptnBXA44ZLwB/3c4uUQP4OxmdW6nUfCozQlEX/skEgIfvwjELwMhrBx9jpUl2oFzF66c0wiqS+RpHhKQgAQkIAEJJCSgyJKw0TRZAiG28OtDDB8iukUgdwkU/yXOGdEDOLsILrwRfxuOMG/HizdeA8smEP3oOVolPhOt8lNYjMCnEBAgVlg4bzmHEVw4t1cowiwlIAEJSEACEiiZgCJLya2jbfUTmFHDEFp+j4TQ8s2MbDy0PAI4v1+HWbwRR3T5IZxjfq2I7bHZRQL9BKKvMLcKk9bi5BOpQkLAI1pFp78f3dLfIGQxLBABdem8zU8CEpCABCQggYIJKLIU3Dh7m2b5OQiE0PI2LP00kpPiBoTKFpxinON2LhdFl8oaeG51bkQVhgARrcIcKzj5DEubW4THTyfA+ctQQMQWIlym5+SREpCABCQgAQmkIZBVZEkDWEMlsAWBEFp+jnKIauFXiOKjS6UEcNpuRRciXi7Di3C4K6231WoIRBt/FIn5ey7Oe2y+FlWMdgogBS6IXZynJMWWAhtIkyQgAQlIoHgCqQxUZEnVXBorgX4CIbQwKe5XsYdRLQHhIAuiC07bZXhR1JlIF+aDwAHHEdfpDihZlxBTmE+FoT+IaDjoCCpEqzD8h2EoOO9Zq3dEuzlXaUcSn4/IwDpLQAISqJCAVZLASwKKLC95+JcE0hMIsaWNavkxfWWswBQCCCs44DjiCC7hqz/h1DFHB3O76NxNobryMU9PT12CCvOpMPQHEY12Q1Rb2RKz34AAbck5SeLzBkVahAQkcFgCVlwCEticgCLL5sgtUALrEwihhaiWz6MkknO1BIiDLzhyzNHB3C44duHTPzFPBJPqEiVBtATizMExrV/9p/diCj+jDHciji7tESUrqASEgy2cl7Q/CWH0YNW3uhI4nWQgAQlIoEYCiiw1tqp1kkBDIMQWolmcq6Xh4eoFAYaaML8LURJES7RRL4gvOH2IAJfIF4SBF0f6x0MCwQwhBfEKjrdiCj+jDHccaxzth/m5Q9UE6AP0Ec49zjkjlspobq2QgAQkIAEJTCKgyDIJmwdJIA+BEFqIanGuljxNtreliC84fYgAl8iXMAjnL3SDJ9YIMDiEiAfM+4KYcKgomKenJ34mmXqT4ECCCym+fnoKZggpiFdwVEwJIC4PCSCufMA1++GeJ/eQgAQkIAEJSKBUAoospbaMdklgYQLx4N7O1fLNwlmb3XEItAIMogHiAfO+ICa0UTAIDHxGbGiHIr2NjSQEiTbhTBZFLWxsbWONeITNJAQl6kNiYmEEFCagpd4kOJAQpkhF1WsXYyx0CoHL9Tmu02+nHOwxEpCABCQgAQmUQ0CRpZy20BIJrE4gHuCJauEhniFEPNSvXqYFHI4AUS2IDe1QJAQIEoJEmy5iRQgb7cLfiBhdiQl7ETumJISeF3lGgfyNEBQf/1yilVrbWCMeYTMJQYn6kIoTh8Jul9wE/gjzP49r86eRnD8rYLhIQAISkIAEshNQZMnegtovgQkE4mH+10j81POXcTgP+bFy2ZnAkYtHvEDE6EpM2IvYMSUh9HTliRB0ZN7WvQwC34YZf41rMXNnxUcXCUhAAhKQgARqIKDIUkMrWgcJTCQQD/ffx6F/jcQ6Vn2L2yUgAQlIYCECv0Y+RK58FddgRe6A4SIBCUhAAhKoiYAiS02tedS6WO9ZBHjIj0REC5EtPPzPys+DJSABCUigkwCCCsLKx3HNdbhmJyI3SkACEpCABPITUGRZuQ3NXgJZCPDQH4m5WhBccAaymK6dEpCABEonQLQgQ4MYIlS6rdonAQlIQAISkMBEAhymyAIFkwQk8EwghJaLMxAbdAYCgosEJCCBGQSIWCFy5cu4tipezwDpoRKQgAQkMJuAGWxEQJFlI9AWI4FMBHAGIn0VNjNfC05CfHSRgAQkIIGBBPiloPZXgxyGORCau0lAAkcmYN0lUA8BRZZ62tKaSGBxAiG0/B6JuVpIOA2Ll2GGEpCABCoiQLTKN3HdZGiQvxpUUcNalYMTsPoSkIAERhBQZBkBy10lcFQC4TD8HImoFudrOWonsN4SkMAjAgyxRFx5+2hHv5fAkgTMSwISkIAEyiKgyFJWe2iNBIomEEJLO1/LN2Eob2xj5SIBCUjg0AQu18W4PvLLQV4XX3YF/5KABCQgAQkcjoAiy+Ga3ApLYB6BcCT+iMSbWiJbeHM7L0OPloAEJLALgdmFMl/Vp3E9ZFJbh1POxmkGEpCABCQggToIKLLU0Y7WQgKbEwjHArGlnRyXN7mb22CBEqiWgBUrmUArriCw8LlkW7VNAhKQgAQkIIGNCSiybAzc4iRQG4EQW5gcl7laiGxRbKmtgTvq4yYJHJQA0SpErSiuHLQDWG0JSEACEpDAEAKKLEMouY8EJPCQQCFiy0M73UECEpDASAKtuMKktgrJI+G5uwQkIAEJSOBoBBRZjtbi1ndHAsco+kps+TRq/GMkFwlIQAIZCSiuZGy1DW1+enr6JNLbSN9F+qkjvYttbyJ9sqFZk4oKGz+LhL3UIz52Lv+OrXzPfp9NKmjjg8LeDyLRTrQDbXWbqPdHG5s1ubioy0eRvohEPWiL2/RD8x31+mByQR4oAQnMIqDIMgtfRQdbFQksTCDElp8jfR7ZOowoILhIQAJpCBxeXAknDac0VneX39Zu0Sgdh/LWiXzx99o23OYfNuHg4sg+xXc/Rfo60heREFJu05vY/i4SNiNQIMawT2zaf4m6fBgJm/4d1vwQCXvv2YfTzvfsB4Pi6hR1OEWdqBdC0C/xN3WjnWgH2uo2Ue9f4pgi6xL2Ux/OA+rDOUedvovt1IO2uE2IX3xHvagTdaPP0nZx2DpL8EP0idWrBfaLFBo5U5dYdS7Ud6ly4NZVCKwXKcNM6ieQQmSpvxmsoQTqJRBCi3O21Nu81kwCNRFgElvmXHFY0LBWxZH9cNiuk/f6WxyJY3MvxS7rL+Fx4aji5OLg4siOLRQnFzEGweW3yI86jc1jkf2jbKI7EB2oDzZh25S8OY7jqRNiDX9PyWeRY6JeiIM49dQLIWhMhAq2t3XZtX1aGFf1QVihPlPONxjQZ6kTQgj1bItYcv1rT2aU3/PV8M3Bgrrfy2uR86kpp5NRPM9yjxhutHvOIpD9YEWW7C2o/RJIQiBuTootSdpKMyVwMAI8ODOZLck5V8Y1/hSxYUwJa+f/0JZwuogiwMnFUcXRe3jMgB3IB2GCaJBOh25AHpN2oT5xIPXBaY+Piy0IFDjy9xzhxQq7zijqhGhEJAMCyxLO9m7tQ72a+iCCLVUfsqWfEeFCNMgSjMjzOnEdvf67/UzbwLP9e+r6kc2Us0Tf6yvnun5T6+BxByKgyHKgxraqEiiBwJXY8pew55tIf0RykYAEJLA1AQQVhBWSD9DT6BNpMu3IB0eFo4nDtIRz9qCk/q/DBoQDBAls6d9x+jeISJsJE1Ef6oHjvhZXHHnEI8qZTmXEkVGnC8M4hHWsFl3Ic+v6wI42miiCPaw/bU+d3j7cc8QO8WzHs1xfNEufcDGihNP/G7Az7TVgt7u7/GfPt//ds93NEugkoMjSicWNEpDA2gS4IUfiJs+cLV9FecyDECsXCUhAAqsRwBFAXGFIEEODFFfmoSbKA6dtXi7dR68m4HQX93JrOO8ILESvvPzi/l/cx+hTpPt7/vktwgTRBZT359aFP0V9KIf6sH6UO+cJdbhNbH90LPnjxL/uF4+OHPl91AlmRLBQ5sijB+9+ET2iLNaDD5qyY1MGAsuYsmiTtp36RI4uc76O8ugPXd9N3YYdXcf2CRdd+/ZtGyLUDBFi+vJvt/eV01e39jjXEnhBQJHlBQ7/kIAEtiYQQssfkb6NhNjyZZTvjSwguEhAAosSwPklcq4VV/h70QIOnFmfUzIXyRJvpQfbcL1jOJ8470McUO5XvCT4OO5hLPQvIqNI58izva8N+aU95jSh3DhslYXIiHvOO+cEdaEOf4nKUIfbRATqx2Ed5xLOfXzsXBA9hvDrPHjIxmgjhtMMKQPhAXuZiJ/6RNXOtA2/gEj6Nsqj7rHqXS71iTJZ9+4054vIG1EKgeVRGXDHZupDO5GoF+nSD8MO2oi2pO7xZ+/CPENDGPZmcPPF/9z83f55r9+1+/SuGzbw6d2n+WLWtSjKgX25Ih0rAAAQAElEQVSXrTynPmLZmOBKAu8JKLK85+D/EpBAAQTO5/P3kXjoIfG2uQCrNEECEkhMgAdjIlZwHN/G9QUHJVt1Srf3v5Y2MJwdHCrS0lk/zC/Kxsl65HgimtCncGx5SUA/e5V39DfmIuO+hkOM4MJxr/a72oDQMstRvMrr+WPUCZbMx/G87ebDV2Er9aEudwWH2O/XSG0UKuLFTVbPfzIJ7SqiUdSHfBGNngvr+MAzBHVCeODc/zHsRhS77MrnJl3qHht57uhsx/iOZUi/YL+p6VFEDtcurmWIKthMfdj2qryoF21EWyK2PKrXkkLLM98bo+b26cHHR98YvO+NjfxJG7O+TX31ut3PvyXwTECR5RmFHyQggVIIxAMCP/9MVAsPpTzEdT5IlGKvdkjguASKrTkOFg4wDhafizW0AsM+C8eGN8BLVmWXKJamHji7fXXhXkS/+jzuU3fFiNsM2D8SYguJfG53af9eYzLcezypD5ERbfmD1lEX3u4jtnCv7jvm731fTN0ebYQjfE8Eo1047xEk+DyoqKgPzx2IEveuF/R1BJ5BeQ7dKepEVA716jsEcQ7B6J5tnccOrBdCy+x6RVnwJr2yJeo4R/zoEnL7+mzXvq/s6dnQZ+O/evZ3swR6CSiy9KLxCwlIYG8C3LAj8QaKEGUe5HybsHejZCpfW49GgId7RFmcERwsrxfL9wAYd+Xa55x07Ttk217zsRDtQdRHl41EOdC3ZvWruKfhMBNd0Ce0IFjdExG6bHu0rY/nN2HP3Prg+JO6bGDOnnviQdcxj7bdE8FoIwQW1o/y6fw+ePCs0VcfjnkXggFtxOfZKfKCz72oHNoIUa+vvwyyoakXdevbn3r19f2+Y7q29/Un6tm1/5BtXdcXhiZ1ldW175Ay2KdvTpeuctjfJIFeAoosvWj8QgISKIlAPCAQcs2DafumadYDx951s3wJSGAxAjitOCE4wIiyfULAYgUeOCPYkm4RzHl7/CKvcDpx9G4dsq4yXxw394+m3D5nl/sNER+s5xZ1ivsZIgD3s778iJiY4yw+2xj1QhC45cn3lN0XDcD3YxLzf5Bf1zH3omi69u/dFnUhcob+0bXPhWmw7bOj65jObZEHYkSfYw3Pvn7Smd+DjUSx9O3CkB/q3Pf9qO1RL8QjhOiu46jXPVu6juna1hf10SdgdOXxvC3anL6Lbc/bmg+0T1dZCHtd+zeH3V1R1u0ORGzRt263+7cE7hJQZLmLxy8lcEgCRVc6HhIYa8wDEEOJWHvzK7rFNE4CqxDA6cZZQFhBYEFoWaUgM31FoIv1Yo50lNaVV1eZseuiy73oEfrYbOf92lruZfE3Q4di1bkQVdP5xciNXY4jWTA8ZpE6RV3IBweefG/TJOf6NpPm777hR5RP9BrrZtfZK54v+vLrs2NUoSEgMESnT0zjWQfxalSej3aOtkK0QaDo2hVxr6+/dO3fta0v76n5dvFB+OAe0FdW1zFdtj5vi7bAvi5xpq+M52P9IIEuAoosXVTcVjABTZPAewLxoMBNlugWIltIvJHreyB6f5D/S0AC2QngbOPwIq4YtbJPa/6zo9gPwknpEkc6dn24qWtoS9cb64cZDd0hbMfB6nPMuM+s4mjFfYx8EQu7TGXi2D6buvYfu43hFmOPubd/V79gf9iynpWijRAkupxg8mVIzaIvXKJtcOL/QeYdaan+fk9IQ+TpKHqRTeTd97w0S0BquMHu1tAPow372u923+u/u0Q6zhsiwlh31aPrmOs8uz739dNVrz1dhritDgKKLEu2o3lJQAK7EIib+uWNT6zbuVtwxHaxxUIlIIHFCfDAzhtdflUDgcXze3HEwzOM6yzOLG1ye9AUx+ZFHo0TduvsIKiv3eZ9jiUOXJ8I8sL2GX/ce0HQJTjNKOrFof/x4q+ZfzT9oiuXKY51Vz59bcQvOMGw65i528iXPtCVz6whctHXEdD6hj4h7HGedZU7e1u0Fedvn4DEJLhz2wzxo8tO6ty1/d62rmOuhY+usrqOuVcG3/Vdv7ryZ3+TBN4T6PlfkaUHjJslIIGcBOLhgYcTQrAZToRjttqDSk5CWi2BFARwbHBwmMSSqBXmJmBbCuMPYGSX6LFEJEtXHl1lLYY4nF0cSqIkuvLkfoJD2vXdItvinkW/7nN4u3gsUm5kMsURjcPuLgwZwiklIU616e5Bj76MNkKMuBXf2sMoo/286Lppm67+R5/435mF3RPQVqvTlc201dWfLz7O7XfXIsh1xn1teL3P8+dod/oo5+fztubDdZt0lcW8LPSZZvdBK8q63RGBN/Uz5G2F/Hs7Aoos27G2JAlIYEMC8XB0ebsVa4YSkXDYeDDa0AqLkoAERhDA2eTBn2gVola+ivPXB9wRADfctcuxYTjAKCeqw96u6ID/7thvyU33HMo+8WPJ8smLfs/6Ni0xLKXvvkd73av7rS0P/47zlXlRmCCYxHC+S3p44OMd7tl57XA/zmn8HvQ/GNJGDLNB9CUxt8n43OKIEA8QDnYT9sIEhtpQpz52Xechhw1NiGxd+15Hi3R9f7utS/jg2Q7b2337yuo6tj3mxbppjy5Rpi/vF8f7hwS6CCiydFFxmwQkUBWBePBrhxMR3YLgwsMSDl1V9bQyEkhKgAf91nnBSePvpFU5htlxTaWNuq6h95zhu3AaR+f2eN4kU9bdY2d+2edQ/hj1vHbmZhbTf3hTTp9D12dff4ZX3zR599Xju+A+Vxi7Km21j33OOff2rn4405A/Dw9+9ANEFa5NS0U23RMAthL2qCQCEuvbdHse3n5/9+9gRn8j3e43tq91tfuL8yTKQojv6gNdx97a0/7d1x5dYnJ7jGsJ3CWgyHIXj19KQAK1EeCGHImHJeZvYViRgkttjWx9MhDAcUZYIWKFyBWcl64H5Qx1OaqNtOFt3ecIAl2OXVcZt2XO/bvPwepzQOeW13d8X3kv7es7+v72Po5EVPwSQsvbSHy+n8t+3/Yx6GO2n6XDSu4TAIjSQDQYlsv8vfr6xSn6Qx/zoaW+EEOag4jMGiO0dNnQJXx0ldV1bGPGq1WfTV35vjrYDRLoIqDI0kXFbRKQwCEIhNjCGyoFl0O0tpUsgAAP9AorBTTEQia8cnAj3ylzIcRhl6VLoOkq47LzEv+FI4lz1ScubO1g9ZXHsJ4+G4dieBQdwa/c/BY8EFu6hk0MLWfx/cIm7Omrfx+zxe1YOEP6XVeWXCO7tq+yLZ6BELb7RJ0xIkWXfV1iCPv11Z3vnlO0e1/5XW3eVRbnDX3nOc87H7pEr60Frzvm+VVGAoosGVtNmyUggcUJxMPGteDCkCLncFmcshkejAAP8ESKlSCsHAz9+tXlmtlTSldESs+uLzZ3OVVdDtWLg2b+0efw4WB1DXeYWVz/4cGzz9nloD47+e5hirypy6PJVBEyWrGF6JY34ejOKvehYcN2uOco32M2LPd99urq61jSJRawfc3Ux/A/Zxbad+4OzbdLdO07L/vKGnot6mqPvjxnYvHwoxBQZDlKS1tPCUhgMIF4IGWcN5NutnO4+CtFg+m543gCVR2BM4dAyRAghgIRKeZQoKqa+EVlut68dzlHLw66/SOceZwhnPzrrxC+Eequty39uc+Bpx8vXdaQ/Pocu9liR9zXmKi1z6G+tY3y3sVGxJZonifW756enj6LdNtOsduqS5cDfCkw6rR2/7iUs+R/wa+vz1HMHv2u71eSZrVztA11IVGv69Tbntc7xeeu/TrPjyiLft3VF7oiVCLrP5doj65y2GEPwYtyTZUQUGSppCGthgQksA4Bbt6R+PlYoluYx4W38jgWXTf0dYzYM1fLlsBjAjzgIkR+HOcKE0QiUHKOPD7SPbIT6BrO80k4LmMdtC5hpivvpXn9R0+GpTlYY3n2VOv0aXzB+RqrUQuiy5s44odI/472/SkSkS73BIPYddWl0+FetcRlMu9lFtfPKW0z16o+jrT53Ly76vMw3+hb9Peu/e5dE7rq0SegXNerqxy+78qP7SYJDCKgyDIIkztJQAIlEtjapngA4pcueCt/eUsf5fPAylv7rgeJ+NpFAlUS4O3k9TAgxBWESM+DKpv7bqX6xDQiU+4eePNl1/59ed8cOuvPXod3Vq7TD15V3OEeFqZx35rLFueVSBfmcUFw+SLydamLAELH3Bp19ucQUeg/9/Lu+/6e8NElwAyZaLcr2qVvWNI9m/1OAi8IKLK8wOEfEliMgBkdgEA8sP4cibf211EuOJ84oQcgYBUPRACn7DpaxWFAB2r8vqrG9Y+Ivi7HpysypTObcLgQWG4dui2GCnXaU+jGofNYPDSfNovEL+uRlrhX4RB/F+1IhAsT59625UOb3KFaAl3XBirbFz3Cd6Qu4YNh3Fxv+L4r9ZVF/+zav93WZUtfXu0xriXwkIAiy0NENe5gnSQggaUJxENrG+WC88lcLiScUpzTew8GS5tifhJYggAPmUyU+Wn0bRait4xWWYJsfXl0vUF+5NhcU+gSZLryvD7maJ8XFy7ipEbI4j6F2ML5PpcpNjJxLvO3jGn/ueV6fKEEoo8R3dj1/NMlolzXoqv/3O2jURaCIek6Hz73lhXCIJFsJPa7Tp0RONc7+FkCjwiUJ7I8stjvJSABCSQgwA0/Ek4pzilzuRDt0oouXQ8CCWqliRUT4AH2WlRBXHkbfZjtFVfbqi1AACH5NhvC9IlQud3e9XeXQ9WVZ9exbptJIM5xxBaGECG4cI/CMZ6TK06rQ4jmENz22C4RZEkLuu4hXdEjlzIb4aPr+yHCR1dZ965DXeVgR1c+bDetRaDCfBVZKmxUqyQBCZRHIB5kCXVtRRceZklMosvworkPteVVWItKJsBDNU4sDhViSnTPM2tFlZJbrVDbzuczonHXNawrQuVFLcKhwsnBKb/ezjBM+uj1tqN/Xp0H7RiJexQvBHgxwP1pzpxjDCFyrpbCe260ede5u6TVXeLIh3HuE/nUVU6X6Mp+Q4SPrrJOUVZfnl1RLq/mY6FwkwTGElBkGUvM/SUgAQksQCAebLiRM4kuw4vah1reJhJNwMPE6g/VC1TDLHIQoD/hLOE08es//LQyEVY4VHyXoxZaWTKBf3YYd+8Ncrv739oPV+sthwqt7WBeVWvWx/+ZdfTIg+P+1A5//So+t/cnrh+8FBhzb0JoQUgbaYG7DyQwe7c7AsTsvJsM+u4xY4QPXlIN6Xdjy+qyoS+PpjquJDCMgCLLME7uJQEJSGBVAvEgy0Mtb3CJJiCqgDeJRLswXl7hZVX6VWWO04gjRJQKv/oTXetMf8JZQtQj6qCqCluZIgh0OSYMGXrkYHcJMURZbVWp/+spqOsNd8+ui27+/y+a20KZnc9n7k9cP3gpwL2J+xLXmTuO73Ph/ArR8x9+SENgSNs+rEz0He5JXXn1XRsmCx9RFvc30q1dfedzlw2d0TC3Gfq3BB4RUGR5RMjvQ7pQ2AAAD8NJREFUJSABCexEgAeGSIyX7xNecEa6Hih2sthiNyTAQyuObRuh0goqrHGEiFLh4XZDkyzqqATiOkVf67oWdUWqXDDFG3QcnNuhQryx7srncsxi/5WbEUy6rON879q+y7Zob+5LXGcQXBB079n3SbR1l+M81Hb6Vte+fay69i1mW7Djut1pT3Dao06352BrWx/39vsx6646vxI+ov7YQrrNe0x0W1dZr/pflPVqW1No1/HNV64kMJyAIstwVu4pAQlIYHcC8YDGMCMecBFeGPLB8I9zGMZQIx52cbp5SLj30Bu7uyQiQHvy1piIJtqZNmfIz3WEypIPxInQ1Gdq4hoh+t6a3xWp0u7TJcB0DTtq919jzbnVlW+fA9a175Lb+pzsYs/vuCdxzyHq8p6Nf58Bqe9eRqRU37weM4rb5NC+OnUJDGsb9J89BSwpdnZFh3SdY13bTtHH+s7TLtO7yuqal6WrLJ6vlqx3l31uOwgBRZaDNLTVlIAE6ibAQ0gkohcYFoLzjRPeii+MpcdBxwm69yBcN6Sya8eDHQ+SOCyIZa2YEs16pj15a4ywxpAy9t2jNpYpgXsEugQSJrjscxy7nByuUffKWPq73nMp3nT3CR5L23DJL8qDU59oUPR1+3w+Ixpwzeqzs6utL/V+9F/kzXWxb7dN26jPiAnb+zi9iu6YkPfYQ/ra5n/HZnRn/842jD5/235dk2V3Hju2rNj/tqwucWlsWZGtiwS6CSiydHNxqwQkIIEqCPCAGomx9DjoRL4wnOQclSPMm4fiVoAhUoIHjF6nI44peElhGnxJCF4k+F/aI9qI6BTEFEQyxDLFlBRNqpEtgejDOI442+2mdv0qmiWcKwSFW6dn86FCYTPXO1Jr6/W6z/m83mfJz684NZnDpYtr8/XwVXD/iDT8iOF7BktsRCDuOoiok9v27tqvbxt9q+u7TdoomL2L9FskJvL9LNZ9YliXjV3b+urT1we68pi9LerRdR62+XKvaj/PWkffoL70j9t8bvtEV3t2RqbcZtT+HWVxPpPaTe36VsDqKmvMsKQ2X9cS6CSgyNKJxY0SkIAEFiRQYFbxIMJEhjjyrQBDpAROPs4+Igzh34gATHCIIEDioYvU9QBTYC03M4mHR7iQiESBFc4G/FoRJZCf4UtC8CLBn4fPzQy1IAmsTKArEqVrWFCXM7mXg8N524VlzhCXrvwebevixDF99vHd3RRO9E+REAdi9fQUO/8S6YdIqyzn8xlb+65pc4QJ8u2y+dZx7tpniW045AgSX0Rm8Pt3AP0lEttj0+ilTzgg8utWeBid+YgDus5DDr88H/BhwdTVhs/tFyypd1cf6TrukVld1yHyvxy3cFmXPP1PArcEFFluifi3BA5GwOpKoItAPCwzNhkRoJ3/BVEAgYB0EWJin3Mc+3EkxAQSwgICAwmxgYejNmURZq4FE2znYY36tIl6XhL1bxJDs+BCIhIFVm00Sp/DEdhcJFAdgS6hhOgJHNTrynYJCpxr1/ts9fmewzvViR5le+P0PTuBNwf32XezW+ef2H/L/vbvzgNnbOS6OePwzkP7GDCpbpdj3pnJlI3RNuTf1TZsm8Qy7hv3+vqW4l5fWVu1IQzbZqGvtp+f18Fqii1d/QUBi7Yk7+ty+Zu0WMQYmZkkoMhiHyiZgLZJQAKFE4gHIB5MEGNICAsIDCTEBkSHNj0LM3HMZYmqtdEyF9Ei/r5et8OYWnFjzvo63xefL4a8/O9aMMF2hlhRnzZRz0sKe10kIIErAnEq4TwiVF5tvXx8dqDCacUxvXVyEHX3EiSx+WJkx39fd2xbY1Ofs0tEwT37HtnSyTTaoC+C4VF+Q77/vyE7jdznnqO9Zl0w817+9+zi2HuJIbpd338R7cM50vXdYtuiDKJy+srpEkvnlt3F6vo60DVHytS+31UW9rflPUfQsLFJfcc0X7uSwDgCiizjeF3t7UcJSEACEphDIBwyHKuLYBGfb9ftMKZW3Jizvs37+e859nusBCTQSaDLMbqe0PJZcLk6uuuYq6/X+xjXHkShPoeXSIkuexczKJxd8sfh7cpzLpdOkSUKum6P+LPspWmjPhZdUVFLVqhPaOP+NSdC856Q0VfmFvVC2Os7HyaXH21IX+Rce5FH0//ZxnnA+jp1RaRcf9/5OcqiHMq7/b4toxVbrr+fVNZ1Bn4+AoHhdVRkGc7KPSUgAQlIQAISkIAE7hPoclauowG6HPyuXya6X8qy394r/7tli3qV27tXW/7cQATfn3+N/9TVFuSyxOSt5NOVutqX/bqcXrYPTX1ttJoQFgIA4ldftEefPYPqE0IAolGfSEM0SysIDMpvzE5Rrzexf1+9FhdYoqx26eoD7TCeLnvmRJd0HfsfUXeGDHWJLF37t3bnWGtlUQQUWYpqDo2RgAQkIAEJSEACqQngPL6qQDg3rWN/LbiwHxEBXc4X322SwuHFwSJ1lYcTeE8I6Tpm0LZg8jZ27HL4YvOJiLs+J/w08F9fnXA0cbQHZjNst6gPjnJXfWhjoguGZdSxV7QR/aovj8XbJ+oCo3v5LiFG3BPR+CUjbOigMX1T1Iv2uRcp84/pufcf2XzTJfoxTKhLUCKiZs51oausvv7JsOe+vtWY7koC4wgosozj5d4SkIAEJCABCUhAAj0EwhnGWcEhvt2DCIdbgYV9uvZl+9bpnsP7JpxTohoWsynyw7G85+zes2eQHdEWiDR9fL9ubBiU18Cd+kSJPhsGZvu8W58AwOTKUyOOnjO/+UB+fSIHw1lhe3PIuD+jfRBq+vJBEOCXjMZlemfvaG/qs3q97pjQJfoh+pBuD+va93afe393Hc85R7o9rmvf2338WwKjCCiyjMLlzhKQgAQkIAEJSEACDwh0zTeBc9M14eSsYRcP7Bj8dTi8OFr3xAAiCxYRWsLZhcU9Bxon/ufTabD593bsEyY45oewpUv44rtRKfKBTV9e92wYUw6/WoeI13UMQ2wQELq+G7Ut6kI+fXWhfH5Jb1Sed3a+lxdDoeh3iCN3snj8VdSJPH6KPbsEjdh8Wrpep9t/zTl2u5lzoeu60BWJcnts799RFvXpioRB7L09blZZt5n5twQgoMgCBZMEJCABCUhAAhKQwHAC9/dEsLjdgzfzt47r3CEBt2XM/ZtfNcM568sHh/dd47D27XN3exzLECGcXZzern2JbLjneHcd07stnE3agtS1DzYgtCxRJ4SJrjIQjKhT13ejtkVdaBvaqO+4i9ASjKlX3z53t8ex1APBqG+/bxo7+r4ftT3yQthDPOo7Dlt+Crv6xJG+4563x7EIGb/Fhnt5fBm2wDd2W3Xp6ovYd1to1363+zz6uyuPLgZd+z3K2+8lcJeAIstdPH4pAQlIQAISkEA2Atq7L4Fw1nCqu94i3zq/OJj7GntVetiNk/lpbGIdq86FuUx+CccVh/62Pp0HsLHZH0f33hAhyv28sYPDlkqINuTdlx91+i1sfBsJMaxvv+ftsd8HkWBwr06UOXvY03Oh8SHY0GcYZhN/dS6IErRPl+PeeQAboy4MOUL84ng2dSXmybkniHQd83Bb1In26Tpf2mMRBqgTIt+g9uHAqBORMNSJdK+vfhs2wJXD1k5DokaYw+cej6E2DinL+ViG0nS/UQQUWUbhcmcJSEACEpDALAIeLIGjEBgyDKhrWNGufMLZxLnD6b1nB44uEQ8IE0SCMGcLDi3bT+HcMlkufyNC4Bj/OzJj/8v38blvIZqA8vu+n7R9YJ1wwhGAqFPr0CO6UI82UU+24bQPqdNXUTaC2yS77xxE+9zjBGeiP6gLNiNSvMou2qkViqjPL7HDPWGG8j6PfdZaEPco417+CEDUifYh+ojJpGkb+hsiEZ/pc3yH+EW97tWJsog0gieft0hDokaG7PPQ1uh7Q4SjRcp6aIw7HI6AIsvhmtwKS0ACEugj4HYJSEACixF45OAwVOjRPosZMyajcM6IlMDpJRLj3qEIEwyBYsJXHFoc4Kc4oHVwEVZwjNkvNvculPNxlLsaj8ibOt0banNtHKIEdiO6UK82UU+2PXLcyYvoCMrk86Ip6gIv2ueRKIHYgs2IEqGpPLFGfCEhEpFoo0f1oTwEMNaL1qXNbESdOIT2IfqIeX1oG/obIhGfqQ/fUXf2vZcQWIb2iXv5DP4u6jlE1BgSgTK0zEflLVnWUJvc7wAEFFkO0MhWUQJVELASEpCABCSQhkA4U0Qw3HOCVxMUloAU9uOc4chTjyWy7MsDRp9Geaz79llke5SB6EE0xmpiQWMogsSq0RFRF+pA+9BOTbEPV4gTCCqkR8JXm9mlnChvi/ZBePw4CqadYrXaQp1oo00FlqvaPGqzR99fZfXw4yMRZcmyHhrjDschoMhynLa2pisSMGsJSEACEpCABF4RuOfAFDdU6Nb6xrHG6V18Ho6mLCZRJYJldQe+Ke8UdULcok732qbdfeyaelCftUWCi11RF0QJhJa12gdGf41yqNelzC3+i/IQP9YSw6gTot4mbdTD657wwXwsSwqb1LfHjBNz7CA4nfwngaUJKLIsTbS8/LRIAhKQgAQkIAEJ7EGgb14WnGOc/T1sGlVmOLzYSlQGzvw9h21Mvji4OO/80tCY4xbZN+qEI0t9SNgyN1+cYiIjEFg2FSQwPOpD+ywpHLX1QYzYxQmPOnF+/DXqx8TBS9hwXafN2yjqcb3cO4/ufXedx6DPwfFefvfEnkH5u5ME+gjsLLL0meV2CUhAAhKQgAQkIIGdCODU4ZzcplHOWTg47I9zd1uN/4+9O8ppGAaCAKoeoUfjRhyJIzIPJaKJjGQXQ4xYlFVI46xnZt2PnVqtvOfXlr4OF596MyU0vnZO4DaC2XhmAHOFIdHSZSTft8dunOyauCeZnRN49dbGOAYAYwWnGWZNYDx3hItfiXmszzP6MjbU5nI+VAgnBh8jzppTJ/jc6g0aqAuzaAlOgIeXtfNV/MQOt31dn+cc1RP8ilKgS4EyWbpkqkGlQClQCpQCpUAp8D8UKJZpgj4a1pw1Z4/BJBgSKDk0dzkdDg39aJ5Dgv1iKMmEwZnXLhC/mmPnBHNCY89saAW93L/nOWaEL4PV+E5AMi9FsGnm33LGS73z7+2WGWA/xO3zz7jXXDKPMnSNI3j2+jAmBHNCbTTU5yZb8+0ejmr0kueZEmuQ2VAEk/r4klr49rpYW7C3wvvL+04wjfDesq1xCifrpxXqNBVk5trX9Xm+pdbuVNKV7HIFymS5vAQFoBQoBUqBUqAU6FSghpUCpcAyCqR50/za4cJsaAVTxX07g5bB3Qsk/GA/RO+zK4wLfoYLc0JtGBTnJlvz7R6Of6ZG4QWvtQV7Kxhmy5l5K6yJwlAK/JYC7wAAAP//lNnZ6wAAAAZJREFUAwDaE5NWOY8CogAAAABJRU5ErkJggg=="/>
          <p:cNvSpPr>
            <a:spLocks noChangeAspect="1" noChangeArrowheads="1"/>
          </p:cNvSpPr>
          <p:nvPr/>
        </p:nvSpPr>
        <p:spPr bwMode="auto">
          <a:xfrm>
            <a:off x="155575" y="84138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1" name="Заголовок 3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7175" name="Прямоугольник 3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65500" y="5153025"/>
            <a:ext cx="762000" cy="762000"/>
          </a:xfrm>
          <a:prstGeom prst="rect">
            <a:avLst/>
          </a:prstGeom>
        </p:spPr>
      </p:pic>
      <p:pic>
        <p:nvPicPr>
          <p:cNvPr id="7176" name="Прямоугольник 3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03700" y="5153025"/>
            <a:ext cx="762000" cy="762000"/>
          </a:xfrm>
          <a:prstGeom prst="rect">
            <a:avLst/>
          </a:prstGeom>
        </p:spPr>
      </p:pic>
      <p:pic>
        <p:nvPicPr>
          <p:cNvPr id="7177" name="Прямоугольник 3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41900" y="5153025"/>
            <a:ext cx="762000" cy="762000"/>
          </a:xfrm>
          <a:prstGeom prst="rect">
            <a:avLst/>
          </a:prstGeom>
        </p:spPr>
      </p:pic>
      <p:pic>
        <p:nvPicPr>
          <p:cNvPr id="7178" name="Прямоугольник 3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80100" y="5153025"/>
            <a:ext cx="762000" cy="762000"/>
          </a:xfrm>
          <a:prstGeom prst="rect">
            <a:avLst/>
          </a:prstGeom>
        </p:spPr>
      </p:pic>
      <p:pic>
        <p:nvPicPr>
          <p:cNvPr id="7179" name="Прямоугольник 3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18300" y="5153025"/>
            <a:ext cx="762000" cy="762000"/>
          </a:xfrm>
          <a:prstGeom prst="rect">
            <a:avLst/>
          </a:prstGeom>
        </p:spPr>
      </p:pic>
      <p:pic>
        <p:nvPicPr>
          <p:cNvPr id="7180" name="Прямоугольник 3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56500" y="5153025"/>
            <a:ext cx="762000" cy="762000"/>
          </a:xfrm>
          <a:prstGeom prst="rect">
            <a:avLst/>
          </a:prstGeom>
        </p:spPr>
      </p:pic>
      <p:pic>
        <p:nvPicPr>
          <p:cNvPr id="7181" name="Прямоугольник 37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94700" y="5153025"/>
            <a:ext cx="762000" cy="762000"/>
          </a:xfrm>
          <a:prstGeom prst="rect">
            <a:avLst/>
          </a:prstGeom>
        </p:spPr>
      </p:pic>
      <p:pic>
        <p:nvPicPr>
          <p:cNvPr id="7182" name="Прямоугольник 38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232900" y="5153025"/>
            <a:ext cx="762000" cy="762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32293" y="1452207"/>
            <a:ext cx="893444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245BA9"/>
                </a:solidFill>
                <a:latin typeface="Century Gothic"/>
                <a:cs typeface="Century Gothic"/>
              </a:rPr>
              <a:t>Переговоры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40994" y="1960067"/>
            <a:ext cx="2499360" cy="2160270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919"/>
              </a:spcBef>
            </a:pP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Статистика</a:t>
            </a:r>
            <a:endParaRPr sz="1100">
              <a:latin typeface="Century Gothic"/>
              <a:cs typeface="Century Gothic"/>
            </a:endParaRPr>
          </a:p>
          <a:p>
            <a:pPr marL="503555" marR="342265">
              <a:lnSpc>
                <a:spcPct val="257700"/>
              </a:lnSpc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Как</a:t>
            </a:r>
            <a:r>
              <a:rPr sz="1100" spc="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заключить</a:t>
            </a:r>
            <a:r>
              <a:rPr sz="1100" spc="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контракт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О </a:t>
            </a:r>
            <a:r>
              <a:rPr sz="1100" spc="-25" dirty="0">
                <a:solidFill>
                  <a:srgbClr val="FFFFFF"/>
                </a:solidFill>
                <a:latin typeface="Century Gothic"/>
                <a:cs typeface="Century Gothic"/>
              </a:rPr>
              <a:t>нас</a:t>
            </a:r>
            <a:endParaRPr sz="1100">
              <a:latin typeface="Century Gothic"/>
              <a:cs typeface="Century Gothic"/>
            </a:endParaRPr>
          </a:p>
          <a:p>
            <a:pPr marL="503555" marR="635635">
              <a:lnSpc>
                <a:spcPct val="257700"/>
              </a:lnSpc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Фотоотчет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и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отзывы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Контакты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и</a:t>
            </a:r>
            <a:r>
              <a:rPr sz="1100" spc="-3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тарифы</a:t>
            </a:r>
            <a:endParaRPr sz="1100">
              <a:latin typeface="Century Gothic"/>
              <a:cs typeface="Century Gothic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59994" y="4658995"/>
            <a:ext cx="9360535" cy="2385060"/>
            <a:chOff x="359994" y="4658995"/>
            <a:chExt cx="9360535" cy="2385060"/>
          </a:xfrm>
        </p:grpSpPr>
        <p:sp>
          <p:nvSpPr>
            <p:cNvPr id="5" name="object 5"/>
            <p:cNvSpPr/>
            <p:nvPr/>
          </p:nvSpPr>
          <p:spPr>
            <a:xfrm>
              <a:off x="364756" y="6688785"/>
              <a:ext cx="802005" cy="350520"/>
            </a:xfrm>
            <a:custGeom>
              <a:avLst/>
              <a:gdLst/>
              <a:ahLst/>
              <a:cxnLst/>
              <a:rect l="l" t="t" r="r" b="b"/>
              <a:pathLst>
                <a:path w="802005" h="350520">
                  <a:moveTo>
                    <a:pt x="750214" y="51320"/>
                  </a:moveTo>
                  <a:lnTo>
                    <a:pt x="708907" y="20691"/>
                  </a:lnTo>
                  <a:lnTo>
                    <a:pt x="660493" y="3376"/>
                  </a:lnTo>
                  <a:lnTo>
                    <a:pt x="626313" y="0"/>
                  </a:lnTo>
                  <a:lnTo>
                    <a:pt x="175221" y="0"/>
                  </a:lnTo>
                  <a:lnTo>
                    <a:pt x="124360" y="7549"/>
                  </a:lnTo>
                  <a:lnTo>
                    <a:pt x="77881" y="29537"/>
                  </a:lnTo>
                  <a:lnTo>
                    <a:pt x="64065" y="39777"/>
                  </a:lnTo>
                  <a:lnTo>
                    <a:pt x="51320" y="51320"/>
                  </a:lnTo>
                </a:path>
                <a:path w="802005" h="350520">
                  <a:moveTo>
                    <a:pt x="51320" y="299161"/>
                  </a:moveTo>
                  <a:lnTo>
                    <a:pt x="92627" y="329779"/>
                  </a:lnTo>
                  <a:lnTo>
                    <a:pt x="141041" y="347092"/>
                  </a:lnTo>
                  <a:lnTo>
                    <a:pt x="175221" y="350469"/>
                  </a:lnTo>
                  <a:lnTo>
                    <a:pt x="621550" y="350469"/>
                  </a:lnTo>
                  <a:lnTo>
                    <a:pt x="659898" y="347092"/>
                  </a:lnTo>
                  <a:lnTo>
                    <a:pt x="708907" y="329779"/>
                  </a:lnTo>
                  <a:lnTo>
                    <a:pt x="737469" y="310702"/>
                  </a:lnTo>
                  <a:lnTo>
                    <a:pt x="750214" y="299161"/>
                  </a:lnTo>
                </a:path>
                <a:path w="802005" h="350520">
                  <a:moveTo>
                    <a:pt x="51320" y="51320"/>
                  </a:moveTo>
                  <a:lnTo>
                    <a:pt x="20702" y="92627"/>
                  </a:lnTo>
                  <a:lnTo>
                    <a:pt x="3382" y="141041"/>
                  </a:lnTo>
                  <a:lnTo>
                    <a:pt x="0" y="175221"/>
                  </a:lnTo>
                  <a:lnTo>
                    <a:pt x="0" y="170497"/>
                  </a:lnTo>
                  <a:lnTo>
                    <a:pt x="3382" y="208843"/>
                  </a:lnTo>
                  <a:lnTo>
                    <a:pt x="20702" y="257847"/>
                  </a:lnTo>
                  <a:lnTo>
                    <a:pt x="39779" y="286410"/>
                  </a:lnTo>
                  <a:lnTo>
                    <a:pt x="51320" y="299161"/>
                  </a:lnTo>
                </a:path>
                <a:path w="802005" h="350520">
                  <a:moveTo>
                    <a:pt x="750214" y="299161"/>
                  </a:moveTo>
                  <a:lnTo>
                    <a:pt x="780832" y="257847"/>
                  </a:lnTo>
                  <a:lnTo>
                    <a:pt x="798156" y="209438"/>
                  </a:lnTo>
                  <a:lnTo>
                    <a:pt x="801535" y="175260"/>
                  </a:lnTo>
                  <a:lnTo>
                    <a:pt x="801535" y="179984"/>
                  </a:lnTo>
                  <a:lnTo>
                    <a:pt x="798156" y="141636"/>
                  </a:lnTo>
                  <a:lnTo>
                    <a:pt x="780832" y="92627"/>
                  </a:lnTo>
                  <a:lnTo>
                    <a:pt x="761755" y="64065"/>
                  </a:lnTo>
                  <a:lnTo>
                    <a:pt x="750214" y="51320"/>
                  </a:lnTo>
                </a:path>
              </a:pathLst>
            </a:custGeom>
            <a:ln w="9525">
              <a:solidFill>
                <a:srgbClr val="9CC9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19999" y="4658995"/>
              <a:ext cx="1799996" cy="1799996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5567298" y="397358"/>
            <a:ext cx="4208780" cy="319958"/>
          </a:xfrm>
          <a:prstGeom prst="rect">
            <a:avLst/>
          </a:prstGeom>
        </p:spPr>
        <p:txBody>
          <a:bodyPr vert="horz" wrap="square" lIns="0" tIns="425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lang="en-US" sz="1800" dirty="0" smtClean="0">
                <a:solidFill>
                  <a:srgbClr val="245BA9"/>
                </a:solidFill>
                <a:latin typeface="Century Gothic"/>
                <a:cs typeface="Century Gothic"/>
              </a:rPr>
              <a:t>переговоров с сетями по категории «Полезные снеки»</a:t>
            </a:r>
            <a:endParaRPr sz="1800" dirty="0">
              <a:latin typeface="Century Gothic"/>
              <a:cs typeface="Century Gothic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xfrm>
            <a:off x="600163" y="6789623"/>
            <a:ext cx="305434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150">
              <a:lnSpc>
                <a:spcPts val="1200"/>
              </a:lnSpc>
            </a:pPr>
            <a:fld id="{81D60167-4931-47E6-BA6A-407CBD079E47}" type="slidenum">
              <a:rPr spc="-25" smtClean="0">
                <a:solidFill>
                  <a:srgbClr val="FFFFFF"/>
                </a:solidFill>
              </a:rPr>
              <a:pPr marL="57150">
                <a:lnSpc>
                  <a:spcPts val="1200"/>
                </a:lnSpc>
              </a:pPr>
              <a:t>2</a:t>
            </a:fld>
            <a:r>
              <a:rPr spc="-25" dirty="0" smtClean="0"/>
              <a:t>/</a:t>
            </a:r>
            <a:r>
              <a:rPr lang="en-US" spc="-25" dirty="0" smtClean="0"/>
              <a:t>8</a:t>
            </a:r>
            <a:endParaRPr spc="-25" dirty="0"/>
          </a:p>
        </p:txBody>
      </p:sp>
      <p:sp>
        <p:nvSpPr>
          <p:cNvPr id="8" name="object 8"/>
          <p:cNvSpPr txBox="1"/>
          <p:nvPr/>
        </p:nvSpPr>
        <p:spPr>
          <a:xfrm>
            <a:off x="3587305" y="-90499"/>
            <a:ext cx="1657985" cy="2595245"/>
          </a:xfrm>
          <a:prstGeom prst="rect">
            <a:avLst/>
          </a:prstGeom>
        </p:spPr>
        <p:txBody>
          <a:bodyPr vert="horz" wrap="square" lIns="0" tIns="3556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00"/>
              </a:spcBef>
            </a:pPr>
            <a:r>
              <a:rPr sz="7500" spc="-25" dirty="0">
                <a:solidFill>
                  <a:srgbClr val="245BA9"/>
                </a:solidFill>
                <a:latin typeface="Century Gothic"/>
                <a:cs typeface="Century Gothic"/>
              </a:rPr>
              <a:t>30+</a:t>
            </a:r>
            <a:endParaRPr sz="7500" dirty="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1614"/>
              </a:spcBef>
            </a:pPr>
            <a:r>
              <a:rPr sz="4500" spc="-25" dirty="0">
                <a:solidFill>
                  <a:srgbClr val="245BA9"/>
                </a:solidFill>
                <a:latin typeface="Century Gothic"/>
                <a:cs typeface="Century Gothic"/>
              </a:rPr>
              <a:t>3</a:t>
            </a:r>
            <a:r>
              <a:rPr sz="4500" spc="-944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100" spc="-20" dirty="0">
                <a:solidFill>
                  <a:srgbClr val="245BA9"/>
                </a:solidFill>
                <a:latin typeface="Century Gothic"/>
                <a:cs typeface="Century Gothic"/>
              </a:rPr>
              <a:t>часа</a:t>
            </a:r>
            <a:endParaRPr sz="1100" dirty="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200" spc="-10" dirty="0">
                <a:solidFill>
                  <a:srgbClr val="245BA9"/>
                </a:solidFill>
                <a:latin typeface="Century Gothic"/>
                <a:cs typeface="Century Gothic"/>
              </a:rPr>
              <a:t>подготовки</a:t>
            </a:r>
            <a:endParaRPr sz="1200" dirty="0">
              <a:latin typeface="Century Gothic"/>
              <a:cs typeface="Century Goth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587305" y="2663304"/>
            <a:ext cx="2148840" cy="1242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800"/>
              </a:lnSpc>
              <a:spcBef>
                <a:spcPts val="100"/>
              </a:spcBef>
            </a:pPr>
            <a:r>
              <a:rPr sz="1200" dirty="0">
                <a:latin typeface="Century Gothic"/>
                <a:cs typeface="Century Gothic"/>
              </a:rPr>
              <a:t>Виртуальный </a:t>
            </a:r>
            <a:r>
              <a:rPr sz="1200" spc="-10" dirty="0">
                <a:latin typeface="Century Gothic"/>
                <a:cs typeface="Century Gothic"/>
              </a:rPr>
              <a:t>ассистент </a:t>
            </a:r>
            <a:r>
              <a:rPr sz="1200" spc="-35" dirty="0">
                <a:latin typeface="Century Gothic"/>
                <a:cs typeface="Century Gothic"/>
              </a:rPr>
              <a:t>поможет</a:t>
            </a:r>
            <a:r>
              <a:rPr sz="1200" spc="110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подготовиться</a:t>
            </a:r>
            <a:r>
              <a:rPr sz="1200" spc="110" dirty="0">
                <a:latin typeface="Century Gothic"/>
                <a:cs typeface="Century Gothic"/>
              </a:rPr>
              <a:t> </a:t>
            </a:r>
            <a:r>
              <a:rPr sz="1200" spc="-50" dirty="0">
                <a:latin typeface="Century Gothic"/>
                <a:cs typeface="Century Gothic"/>
              </a:rPr>
              <a:t>к </a:t>
            </a:r>
            <a:r>
              <a:rPr sz="1200" spc="-10" dirty="0">
                <a:latin typeface="Century Gothic"/>
                <a:cs typeface="Century Gothic"/>
              </a:rPr>
              <a:t>переговорам,</a:t>
            </a:r>
            <a:r>
              <a:rPr sz="1200" spc="-55" dirty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создать коммерческое </a:t>
            </a:r>
            <a:r>
              <a:rPr sz="1200" dirty="0">
                <a:latin typeface="Century Gothic"/>
                <a:cs typeface="Century Gothic"/>
              </a:rPr>
              <a:t>предложение</a:t>
            </a:r>
            <a:r>
              <a:rPr sz="1200" spc="-10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и</a:t>
            </a:r>
            <a:r>
              <a:rPr sz="1200" spc="-5" dirty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записаться </a:t>
            </a:r>
            <a:r>
              <a:rPr sz="1200" dirty="0">
                <a:latin typeface="Century Gothic"/>
                <a:cs typeface="Century Gothic"/>
              </a:rPr>
              <a:t>к</a:t>
            </a:r>
            <a:r>
              <a:rPr sz="1200" spc="-25" dirty="0">
                <a:latin typeface="Century Gothic"/>
                <a:cs typeface="Century Gothic"/>
              </a:rPr>
              <a:t> </a:t>
            </a:r>
            <a:r>
              <a:rPr sz="1200" spc="-35" dirty="0">
                <a:latin typeface="Century Gothic"/>
                <a:cs typeface="Century Gothic"/>
              </a:rPr>
              <a:t>нужным</a:t>
            </a:r>
            <a:r>
              <a:rPr sz="1200" spc="-25" dirty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сетям</a:t>
            </a:r>
            <a:endParaRPr sz="1200" dirty="0">
              <a:latin typeface="Century Gothic"/>
              <a:cs typeface="Century Gothic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855296" y="1566314"/>
            <a:ext cx="629285" cy="93853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sz="4500" spc="-25" dirty="0">
                <a:solidFill>
                  <a:srgbClr val="245BA9"/>
                </a:solidFill>
                <a:latin typeface="Century Gothic"/>
                <a:cs typeface="Century Gothic"/>
              </a:rPr>
              <a:t>2</a:t>
            </a:r>
            <a:r>
              <a:rPr sz="4500" spc="-944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100" spc="-25" dirty="0">
                <a:solidFill>
                  <a:srgbClr val="245BA9"/>
                </a:solidFill>
                <a:latin typeface="Century Gothic"/>
                <a:cs typeface="Century Gothic"/>
              </a:rPr>
              <a:t>дня</a:t>
            </a:r>
            <a:endParaRPr sz="11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200" spc="-10" dirty="0">
                <a:solidFill>
                  <a:srgbClr val="245BA9"/>
                </a:solidFill>
                <a:latin typeface="Century Gothic"/>
                <a:cs typeface="Century Gothic"/>
              </a:rPr>
              <a:t>встреч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855296" y="2663304"/>
            <a:ext cx="2108200" cy="8362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800"/>
              </a:lnSpc>
              <a:spcBef>
                <a:spcPts val="100"/>
              </a:spcBef>
            </a:pPr>
            <a:r>
              <a:rPr sz="1200" dirty="0">
                <a:latin typeface="Century Gothic"/>
                <a:cs typeface="Century Gothic"/>
              </a:rPr>
              <a:t>Личное</a:t>
            </a:r>
            <a:r>
              <a:rPr sz="1200" spc="55" dirty="0">
                <a:latin typeface="Century Gothic"/>
                <a:cs typeface="Century Gothic"/>
              </a:rPr>
              <a:t> </a:t>
            </a:r>
            <a:r>
              <a:rPr sz="1200" spc="-30" dirty="0">
                <a:latin typeface="Century Gothic"/>
                <a:cs typeface="Century Gothic"/>
              </a:rPr>
              <a:t>общение</a:t>
            </a:r>
            <a:r>
              <a:rPr sz="1200" spc="55" dirty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вместо </a:t>
            </a:r>
            <a:r>
              <a:rPr sz="1200" dirty="0">
                <a:latin typeface="Century Gothic"/>
                <a:cs typeface="Century Gothic"/>
              </a:rPr>
              <a:t>месяцев</a:t>
            </a:r>
            <a:r>
              <a:rPr sz="1200" spc="-55" dirty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ожиданий, </a:t>
            </a:r>
            <a:r>
              <a:rPr sz="1200" dirty="0">
                <a:latin typeface="Century Gothic"/>
                <a:cs typeface="Century Gothic"/>
              </a:rPr>
              <a:t>отказов,</a:t>
            </a:r>
            <a:r>
              <a:rPr sz="1200" spc="45" dirty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длительных </a:t>
            </a:r>
            <a:r>
              <a:rPr sz="1200" dirty="0">
                <a:latin typeface="Century Gothic"/>
                <a:cs typeface="Century Gothic"/>
              </a:rPr>
              <a:t>рассылок</a:t>
            </a:r>
            <a:r>
              <a:rPr sz="1200" spc="-10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и</a:t>
            </a:r>
            <a:r>
              <a:rPr sz="1200" spc="-5" dirty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командировок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123301" y="1566314"/>
            <a:ext cx="1299845" cy="93853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sz="4500" spc="-20" dirty="0">
                <a:solidFill>
                  <a:srgbClr val="245BA9"/>
                </a:solidFill>
                <a:latin typeface="Century Gothic"/>
                <a:cs typeface="Century Gothic"/>
              </a:rPr>
              <a:t>5-</a:t>
            </a:r>
            <a:r>
              <a:rPr sz="4500" spc="-25" dirty="0">
                <a:solidFill>
                  <a:srgbClr val="245BA9"/>
                </a:solidFill>
                <a:latin typeface="Century Gothic"/>
                <a:cs typeface="Century Gothic"/>
              </a:rPr>
              <a:t>7</a:t>
            </a:r>
            <a:r>
              <a:rPr sz="4500" spc="-944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245BA9"/>
                </a:solidFill>
                <a:latin typeface="Century Gothic"/>
                <a:cs typeface="Century Gothic"/>
              </a:rPr>
              <a:t>новых</a:t>
            </a:r>
            <a:endParaRPr sz="11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200" spc="-10" dirty="0">
                <a:solidFill>
                  <a:srgbClr val="245BA9"/>
                </a:solidFill>
                <a:latin typeface="Century Gothic"/>
                <a:cs typeface="Century Gothic"/>
              </a:rPr>
              <a:t>контрактов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123301" y="2663304"/>
            <a:ext cx="2056130" cy="14446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800"/>
              </a:lnSpc>
              <a:spcBef>
                <a:spcPts val="100"/>
              </a:spcBef>
            </a:pPr>
            <a:r>
              <a:rPr sz="1200" spc="-10" dirty="0">
                <a:latin typeface="Century Gothic"/>
                <a:cs typeface="Century Gothic"/>
              </a:rPr>
              <a:t>Автоматизированная </a:t>
            </a:r>
            <a:r>
              <a:rPr sz="1200" spc="-25" dirty="0">
                <a:latin typeface="Century Gothic"/>
                <a:cs typeface="Century Gothic"/>
              </a:rPr>
              <a:t>система</a:t>
            </a:r>
            <a:r>
              <a:rPr sz="1200" spc="-30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и</a:t>
            </a:r>
            <a:r>
              <a:rPr sz="1200" spc="-30" dirty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готовые </a:t>
            </a:r>
            <a:r>
              <a:rPr sz="1200" spc="-20" dirty="0">
                <a:latin typeface="Century Gothic"/>
                <a:cs typeface="Century Gothic"/>
              </a:rPr>
              <a:t>шаблоны</a:t>
            </a:r>
            <a:r>
              <a:rPr sz="1200" spc="-35" dirty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позволяют </a:t>
            </a:r>
            <a:r>
              <a:rPr sz="1200" dirty="0">
                <a:latin typeface="Century Gothic"/>
                <a:cs typeface="Century Gothic"/>
              </a:rPr>
              <a:t>подписывать</a:t>
            </a:r>
            <a:r>
              <a:rPr sz="1200" spc="45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контракты</a:t>
            </a:r>
            <a:r>
              <a:rPr sz="1200" spc="45" dirty="0">
                <a:latin typeface="Century Gothic"/>
                <a:cs typeface="Century Gothic"/>
              </a:rPr>
              <a:t> </a:t>
            </a:r>
            <a:r>
              <a:rPr sz="1200" spc="-25" dirty="0">
                <a:latin typeface="Century Gothic"/>
                <a:cs typeface="Century Gothic"/>
              </a:rPr>
              <a:t>за минуты.</a:t>
            </a:r>
            <a:r>
              <a:rPr sz="1200" spc="35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Без</a:t>
            </a:r>
            <a:r>
              <a:rPr sz="1200" spc="35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рисков</a:t>
            </a:r>
            <a:r>
              <a:rPr sz="1200" spc="35" dirty="0">
                <a:latin typeface="Century Gothic"/>
                <a:cs typeface="Century Gothic"/>
              </a:rPr>
              <a:t> </a:t>
            </a:r>
            <a:r>
              <a:rPr sz="1200" spc="-50" dirty="0">
                <a:latin typeface="Century Gothic"/>
                <a:cs typeface="Century Gothic"/>
              </a:rPr>
              <a:t>и </a:t>
            </a:r>
            <a:r>
              <a:rPr sz="1200" dirty="0">
                <a:latin typeface="Century Gothic"/>
                <a:cs typeface="Century Gothic"/>
              </a:rPr>
              <a:t>давления</a:t>
            </a:r>
            <a:r>
              <a:rPr sz="1200" spc="110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по</a:t>
            </a:r>
            <a:r>
              <a:rPr sz="1200" spc="110" dirty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срокам поставки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091304" y="4628794"/>
            <a:ext cx="3435985" cy="11753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700"/>
              </a:lnSpc>
              <a:spcBef>
                <a:spcPts val="100"/>
              </a:spcBef>
            </a:pPr>
            <a:r>
              <a:rPr sz="1100" spc="-45" dirty="0">
                <a:latin typeface="Century Gothic"/>
                <a:cs typeface="Century Gothic"/>
              </a:rPr>
              <a:t>Ваша</a:t>
            </a:r>
            <a:r>
              <a:rPr sz="1100" spc="-5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продукция окажется на </a:t>
            </a:r>
            <a:r>
              <a:rPr sz="1100" spc="-10" dirty="0">
                <a:latin typeface="Century Gothic"/>
                <a:cs typeface="Century Gothic"/>
              </a:rPr>
              <a:t>полках </a:t>
            </a:r>
            <a:r>
              <a:rPr sz="1100" spc="-20" dirty="0">
                <a:latin typeface="Century Gothic"/>
                <a:cs typeface="Century Gothic"/>
              </a:rPr>
              <a:t>интересующих</a:t>
            </a:r>
            <a:r>
              <a:rPr sz="1100" spc="10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вас</a:t>
            </a:r>
            <a:r>
              <a:rPr sz="1100" spc="10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сетей</a:t>
            </a:r>
            <a:r>
              <a:rPr sz="1100" spc="10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гораздо</a:t>
            </a:r>
            <a:r>
              <a:rPr sz="1100" spc="10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быстрее,</a:t>
            </a:r>
            <a:r>
              <a:rPr sz="1100" spc="10" dirty="0">
                <a:latin typeface="Century Gothic"/>
                <a:cs typeface="Century Gothic"/>
              </a:rPr>
              <a:t> </a:t>
            </a:r>
            <a:r>
              <a:rPr sz="1100" spc="-25" dirty="0">
                <a:latin typeface="Century Gothic"/>
                <a:cs typeface="Century Gothic"/>
              </a:rPr>
              <a:t>чем </a:t>
            </a:r>
            <a:r>
              <a:rPr sz="1100" dirty="0">
                <a:latin typeface="Century Gothic"/>
                <a:cs typeface="Century Gothic"/>
              </a:rPr>
              <a:t>вы</a:t>
            </a:r>
            <a:r>
              <a:rPr sz="1100" spc="75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ожидаете!</a:t>
            </a:r>
            <a:endParaRPr sz="1100" dirty="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100" dirty="0">
              <a:latin typeface="Century Gothic"/>
              <a:cs typeface="Century Gothic"/>
            </a:endParaRPr>
          </a:p>
          <a:p>
            <a:pPr marL="12700" marR="372745">
              <a:lnSpc>
                <a:spcPct val="115700"/>
              </a:lnSpc>
            </a:pPr>
            <a:r>
              <a:rPr sz="1100" dirty="0">
                <a:latin typeface="Century Gothic"/>
                <a:cs typeface="Century Gothic"/>
              </a:rPr>
              <a:t>Перейдите по</a:t>
            </a:r>
            <a:r>
              <a:rPr sz="1100" spc="5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QR коду</a:t>
            </a:r>
            <a:r>
              <a:rPr sz="1100" spc="5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или </a:t>
            </a:r>
            <a:r>
              <a:rPr sz="1100" u="sng" dirty="0">
                <a:solidFill>
                  <a:srgbClr val="245BA9"/>
                </a:solidFill>
                <a:uFill>
                  <a:solidFill>
                    <a:srgbClr val="245BA9"/>
                  </a:solidFill>
                </a:uFill>
                <a:latin typeface="Century Gothic"/>
                <a:cs typeface="Century Gothic"/>
                <a:hlinkClick r:id="rId3"/>
              </a:rPr>
              <a:t>ссылке</a:t>
            </a:r>
            <a:r>
              <a:rPr sz="1100" spc="5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100" spc="-50" dirty="0">
                <a:latin typeface="Century Gothic"/>
                <a:cs typeface="Century Gothic"/>
              </a:rPr>
              <a:t>и </a:t>
            </a:r>
            <a:r>
              <a:rPr sz="1100" spc="-10" dirty="0">
                <a:latin typeface="Century Gothic"/>
                <a:cs typeface="Century Gothic"/>
              </a:rPr>
              <a:t>ознакомьтесь</a:t>
            </a:r>
            <a:r>
              <a:rPr sz="1100" spc="5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с</a:t>
            </a:r>
            <a:r>
              <a:rPr sz="1100" spc="5" dirty="0">
                <a:latin typeface="Century Gothic"/>
                <a:cs typeface="Century Gothic"/>
              </a:rPr>
              <a:t> </a:t>
            </a:r>
            <a:r>
              <a:rPr sz="1100" spc="-35" dirty="0">
                <a:latin typeface="Century Gothic"/>
                <a:cs typeface="Century Gothic"/>
              </a:rPr>
              <a:t>программой</a:t>
            </a:r>
            <a:r>
              <a:rPr sz="1100" spc="5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мероприятия!</a:t>
            </a:r>
            <a:endParaRPr sz="1100" dirty="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9994" y="0"/>
            <a:ext cx="10332085" cy="7560309"/>
            <a:chOff x="359994" y="0"/>
            <a:chExt cx="10332085" cy="756030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39998" y="0"/>
              <a:ext cx="7452004" cy="756000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0994" y="1168070"/>
              <a:ext cx="2499004" cy="43200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0994" y="1780070"/>
              <a:ext cx="2499004" cy="43200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40994" y="2392070"/>
              <a:ext cx="2499004" cy="17280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59994" y="359994"/>
              <a:ext cx="2519997" cy="692124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740994" y="1168070"/>
            <a:ext cx="2499360" cy="432434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919"/>
              </a:spcBef>
            </a:pP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Переговоры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32293" y="1884210"/>
            <a:ext cx="81915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245BA9"/>
                </a:solidFill>
                <a:latin typeface="Century Gothic"/>
                <a:cs typeface="Century Gothic"/>
              </a:rPr>
              <a:t>Статистика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40994" y="2392070"/>
            <a:ext cx="2499360" cy="1728470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919"/>
              </a:spcBef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Как</a:t>
            </a:r>
            <a:r>
              <a:rPr sz="1100" spc="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заключить</a:t>
            </a:r>
            <a:r>
              <a:rPr sz="1100" spc="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контракт</a:t>
            </a:r>
            <a:endParaRPr sz="11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730"/>
              </a:spcBef>
            </a:pPr>
            <a:endParaRPr sz="1100">
              <a:latin typeface="Century Gothic"/>
              <a:cs typeface="Century Gothic"/>
            </a:endParaRPr>
          </a:p>
          <a:p>
            <a:pPr marL="503555">
              <a:lnSpc>
                <a:spcPct val="100000"/>
              </a:lnSpc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О </a:t>
            </a:r>
            <a:r>
              <a:rPr sz="1100" spc="-25" dirty="0">
                <a:solidFill>
                  <a:srgbClr val="FFFFFF"/>
                </a:solidFill>
                <a:latin typeface="Century Gothic"/>
                <a:cs typeface="Century Gothic"/>
              </a:rPr>
              <a:t>нас</a:t>
            </a:r>
            <a:endParaRPr sz="1100">
              <a:latin typeface="Century Gothic"/>
              <a:cs typeface="Century Gothic"/>
            </a:endParaRPr>
          </a:p>
          <a:p>
            <a:pPr marL="503555" marR="635635">
              <a:lnSpc>
                <a:spcPct val="257700"/>
              </a:lnSpc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Фотоотчет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и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отзывы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Контакты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и</a:t>
            </a:r>
            <a:r>
              <a:rPr sz="1100" spc="-3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тарифы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64756" y="6688785"/>
            <a:ext cx="802005" cy="350520"/>
          </a:xfrm>
          <a:custGeom>
            <a:avLst/>
            <a:gdLst/>
            <a:ahLst/>
            <a:cxnLst/>
            <a:rect l="l" t="t" r="r" b="b"/>
            <a:pathLst>
              <a:path w="802005" h="350520">
                <a:moveTo>
                  <a:pt x="750214" y="51320"/>
                </a:moveTo>
                <a:lnTo>
                  <a:pt x="708907" y="20691"/>
                </a:lnTo>
                <a:lnTo>
                  <a:pt x="660493" y="3376"/>
                </a:lnTo>
                <a:lnTo>
                  <a:pt x="626313" y="0"/>
                </a:lnTo>
                <a:lnTo>
                  <a:pt x="175221" y="0"/>
                </a:lnTo>
                <a:lnTo>
                  <a:pt x="124360" y="7549"/>
                </a:lnTo>
                <a:lnTo>
                  <a:pt x="77881" y="29537"/>
                </a:lnTo>
                <a:lnTo>
                  <a:pt x="64065" y="39777"/>
                </a:lnTo>
                <a:lnTo>
                  <a:pt x="51320" y="51320"/>
                </a:lnTo>
              </a:path>
              <a:path w="802005" h="350520">
                <a:moveTo>
                  <a:pt x="51320" y="299161"/>
                </a:moveTo>
                <a:lnTo>
                  <a:pt x="92627" y="329779"/>
                </a:lnTo>
                <a:lnTo>
                  <a:pt x="141041" y="347092"/>
                </a:lnTo>
                <a:lnTo>
                  <a:pt x="175221" y="350469"/>
                </a:lnTo>
                <a:lnTo>
                  <a:pt x="621550" y="350469"/>
                </a:lnTo>
                <a:lnTo>
                  <a:pt x="659898" y="347092"/>
                </a:lnTo>
                <a:lnTo>
                  <a:pt x="708907" y="329779"/>
                </a:lnTo>
                <a:lnTo>
                  <a:pt x="737469" y="310702"/>
                </a:lnTo>
                <a:lnTo>
                  <a:pt x="750214" y="299161"/>
                </a:lnTo>
              </a:path>
              <a:path w="802005" h="350520">
                <a:moveTo>
                  <a:pt x="51320" y="51320"/>
                </a:moveTo>
                <a:lnTo>
                  <a:pt x="20702" y="92627"/>
                </a:lnTo>
                <a:lnTo>
                  <a:pt x="3382" y="141041"/>
                </a:lnTo>
                <a:lnTo>
                  <a:pt x="0" y="175221"/>
                </a:lnTo>
                <a:lnTo>
                  <a:pt x="0" y="170497"/>
                </a:lnTo>
                <a:lnTo>
                  <a:pt x="3382" y="208843"/>
                </a:lnTo>
                <a:lnTo>
                  <a:pt x="20702" y="257847"/>
                </a:lnTo>
                <a:lnTo>
                  <a:pt x="39779" y="286410"/>
                </a:lnTo>
                <a:lnTo>
                  <a:pt x="51320" y="299161"/>
                </a:lnTo>
              </a:path>
              <a:path w="802005" h="350520">
                <a:moveTo>
                  <a:pt x="750214" y="299161"/>
                </a:moveTo>
                <a:lnTo>
                  <a:pt x="780832" y="257847"/>
                </a:lnTo>
                <a:lnTo>
                  <a:pt x="798156" y="209438"/>
                </a:lnTo>
                <a:lnTo>
                  <a:pt x="801535" y="175260"/>
                </a:lnTo>
                <a:lnTo>
                  <a:pt x="801535" y="179984"/>
                </a:lnTo>
                <a:lnTo>
                  <a:pt x="798156" y="141636"/>
                </a:lnTo>
                <a:lnTo>
                  <a:pt x="780832" y="92627"/>
                </a:lnTo>
                <a:lnTo>
                  <a:pt x="761755" y="64065"/>
                </a:lnTo>
                <a:lnTo>
                  <a:pt x="750214" y="51320"/>
                </a:lnTo>
              </a:path>
            </a:pathLst>
          </a:custGeom>
          <a:ln w="9525">
            <a:solidFill>
              <a:srgbClr val="9CC9E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10" dirty="0"/>
              <a:t>Статистика</a:t>
            </a:r>
            <a:endParaRPr sz="3000"/>
          </a:p>
        </p:txBody>
      </p:sp>
      <p:sp>
        <p:nvSpPr>
          <p:cNvPr id="13" name="object 13"/>
          <p:cNvSpPr txBox="1"/>
          <p:nvPr/>
        </p:nvSpPr>
        <p:spPr>
          <a:xfrm>
            <a:off x="3587305" y="1014527"/>
            <a:ext cx="5642610" cy="2861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800"/>
              </a:lnSpc>
              <a:spcBef>
                <a:spcPts val="100"/>
              </a:spcBef>
            </a:pPr>
            <a:r>
              <a:rPr lang="en-US" sz="1600" dirty="0" smtClean="0">
                <a:solidFill>
                  <a:srgbClr val="245BA9"/>
                </a:solidFill>
                <a:latin typeface="Century Gothic"/>
                <a:cs typeface="Century Gothic"/>
              </a:rPr>
              <a:t>Шифрина, ознакомьтесь с итогами последнего ЦЗС™ по категории «Полезные снеки»</a:t>
            </a:r>
            <a:r>
              <a:rPr lang="en-US" sz="1600" dirty="0" smtClean="0">
                <a:solidFill>
                  <a:srgbClr val="245BA9"/>
                </a:solidFill>
                <a:latin typeface="Century Gothic"/>
                <a:cs typeface="Century Gothic"/>
              </a:rPr>
              <a:t/>
            </a:r>
            <a:r>
              <a:rPr lang="ru-RU" sz="1600" dirty="0" smtClean="0">
                <a:solidFill>
                  <a:srgbClr val="245BA9"/>
                </a:solidFill>
                <a:latin typeface="Century Gothic"/>
                <a:cs typeface="Century Gothic"/>
              </a:rPr>
              <a:t/>
            </a:r>
            <a:r>
              <a:rPr lang="en-US" sz="1600" dirty="0" smtClean="0">
                <a:solidFill>
                  <a:srgbClr val="245BA9"/>
                </a:solidFill>
                <a:latin typeface="Century Gothic"/>
                <a:cs typeface="Century Gothic"/>
              </a:rPr>
              <a:t/>
            </a:r>
            <a:endParaRPr sz="1600" dirty="0">
              <a:latin typeface="Century Gothic"/>
              <a:cs typeface="Century Gothic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136900" y="1800225"/>
            <a:ext cx="2971800" cy="683713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12700" marR="5080" indent="513715" algn="l">
              <a:lnSpc>
                <a:spcPct val="112700"/>
              </a:lnSpc>
              <a:tabLst>
                <a:tab pos="2100580" algn="l"/>
                <a:tab pos="2240280" algn="l"/>
              </a:tabLst>
            </a:pPr>
            <a:r>
              <a:rPr lang="en-US" sz="3600" spc="-25" dirty="0" smtClean="0">
                <a:solidFill>
                  <a:srgbClr val="245BA9"/>
                </a:solidFill>
                <a:latin typeface="Century Gothic"/>
                <a:cs typeface="Century Gothic"/>
              </a:rPr>
              <a:t>178.26	</a:t>
            </a:r>
            <a:r>
              <a:rPr lang="en-US" sz="3600" spc="-25" dirty="0" smtClean="0">
                <a:solidFill>
                  <a:srgbClr val="245BA9"/>
                </a:solidFill>
                <a:latin typeface="Century Gothic"/>
                <a:cs typeface="Century Gothic"/>
              </a:rPr>
              <a:t/>
            </a:r>
            <a:r>
              <a:rPr lang="ru-RU" sz="3600" spc="-25" dirty="0" smtClean="0">
                <a:solidFill>
                  <a:srgbClr val="245BA9"/>
                </a:solidFill>
                <a:latin typeface="Century Gothic"/>
                <a:cs typeface="Century Gothic"/>
              </a:rPr>
              <a:t/>
            </a:r>
            <a:r>
              <a:rPr lang="en-US" sz="3600" spc="-25" dirty="0" smtClean="0">
                <a:solidFill>
                  <a:srgbClr val="245BA9"/>
                </a:solidFill>
                <a:latin typeface="Century Gothic"/>
                <a:cs typeface="Century Gothic"/>
              </a:rPr>
              <a:t/>
            </a:r>
            <a:r>
              <a:rPr sz="1100" dirty="0">
                <a:latin typeface="Century Gothic"/>
                <a:cs typeface="Century Gothic"/>
              </a:rPr>
              <a:t/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8318500" y="2333625"/>
            <a:ext cx="1642745" cy="1101071"/>
          </a:xfrm>
          <a:prstGeom prst="rect">
            <a:avLst/>
          </a:prstGeom>
        </p:spPr>
        <p:txBody>
          <a:bodyPr vert="horz" wrap="square" lIns="0" tIns="295275" rIns="0" bIns="0" rtlCol="0">
            <a:spAutoFit/>
          </a:bodyPr>
          <a:lstStyle/>
          <a:p>
            <a:pPr marL="12700" marR="5080">
              <a:lnSpc>
                <a:spcPct val="110800"/>
              </a:lnSpc>
              <a:spcBef>
                <a:spcPts val="465"/>
              </a:spcBef>
            </a:pPr>
            <a:r>
              <a:rPr sz="1200" spc="-10" dirty="0" err="1" smtClean="0">
                <a:latin typeface="Century Gothic"/>
                <a:cs typeface="Century Gothic"/>
              </a:rPr>
              <a:t>Заключенных</a:t>
            </a:r>
            <a:r>
              <a:rPr sz="1200" spc="-10" dirty="0" smtClean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контрактов — </a:t>
            </a:r>
            <a:r>
              <a:rPr sz="1200" spc="-10" dirty="0">
                <a:latin typeface="Century Gothic"/>
                <a:cs typeface="Century Gothic"/>
              </a:rPr>
              <a:t>средний </a:t>
            </a:r>
            <a:r>
              <a:rPr sz="1200" dirty="0">
                <a:latin typeface="Century Gothic"/>
                <a:cs typeface="Century Gothic"/>
              </a:rPr>
              <a:t>результат</a:t>
            </a:r>
            <a:r>
              <a:rPr sz="1200" spc="100" dirty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одного поставщика</a:t>
            </a:r>
            <a:endParaRPr sz="1200" dirty="0">
              <a:latin typeface="Century Gothic"/>
              <a:cs typeface="Century Gothic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600005" y="1875244"/>
            <a:ext cx="6852095" cy="3574415"/>
            <a:chOff x="3600005" y="1875244"/>
            <a:chExt cx="6696075" cy="3574415"/>
          </a:xfrm>
        </p:grpSpPr>
        <p:sp>
          <p:nvSpPr>
            <p:cNvPr id="17" name="object 17"/>
            <p:cNvSpPr/>
            <p:nvPr/>
          </p:nvSpPr>
          <p:spPr>
            <a:xfrm>
              <a:off x="3604767" y="1880006"/>
              <a:ext cx="6686550" cy="1656714"/>
            </a:xfrm>
            <a:custGeom>
              <a:avLst/>
              <a:gdLst/>
              <a:ahLst/>
              <a:cxnLst/>
              <a:rect l="l" t="t" r="r" b="b"/>
              <a:pathLst>
                <a:path w="6686550" h="1656714">
                  <a:moveTo>
                    <a:pt x="6666776" y="19697"/>
                  </a:moveTo>
                  <a:lnTo>
                    <a:pt x="6632344" y="1296"/>
                  </a:lnTo>
                  <a:lnTo>
                    <a:pt x="6619227" y="0"/>
                  </a:lnTo>
                  <a:lnTo>
                    <a:pt x="67233" y="0"/>
                  </a:lnTo>
                  <a:lnTo>
                    <a:pt x="29879" y="11331"/>
                  </a:lnTo>
                  <a:lnTo>
                    <a:pt x="24576" y="15262"/>
                  </a:lnTo>
                  <a:lnTo>
                    <a:pt x="19685" y="19697"/>
                  </a:lnTo>
                </a:path>
                <a:path w="6686550" h="1656714">
                  <a:moveTo>
                    <a:pt x="19685" y="1637017"/>
                  </a:moveTo>
                  <a:lnTo>
                    <a:pt x="54116" y="1655418"/>
                  </a:lnTo>
                  <a:lnTo>
                    <a:pt x="67233" y="1656714"/>
                  </a:lnTo>
                  <a:lnTo>
                    <a:pt x="6614464" y="1656714"/>
                  </a:lnTo>
                  <a:lnTo>
                    <a:pt x="6656585" y="1645378"/>
                  </a:lnTo>
                  <a:lnTo>
                    <a:pt x="6661886" y="1641447"/>
                  </a:lnTo>
                  <a:lnTo>
                    <a:pt x="6666776" y="1637017"/>
                  </a:lnTo>
                </a:path>
                <a:path w="6686550" h="1656714">
                  <a:moveTo>
                    <a:pt x="19685" y="19697"/>
                  </a:moveTo>
                  <a:lnTo>
                    <a:pt x="1292" y="54116"/>
                  </a:lnTo>
                  <a:lnTo>
                    <a:pt x="0" y="67233"/>
                  </a:lnTo>
                  <a:lnTo>
                    <a:pt x="0" y="1584718"/>
                  </a:lnTo>
                  <a:lnTo>
                    <a:pt x="11329" y="1626828"/>
                  </a:lnTo>
                  <a:lnTo>
                    <a:pt x="15256" y="1632127"/>
                  </a:lnTo>
                  <a:lnTo>
                    <a:pt x="19685" y="1637017"/>
                  </a:lnTo>
                </a:path>
                <a:path w="6686550" h="1656714">
                  <a:moveTo>
                    <a:pt x="6666776" y="1637017"/>
                  </a:moveTo>
                  <a:lnTo>
                    <a:pt x="6685176" y="1602598"/>
                  </a:lnTo>
                  <a:lnTo>
                    <a:pt x="6686473" y="1589481"/>
                  </a:lnTo>
                  <a:lnTo>
                    <a:pt x="6686473" y="71996"/>
                  </a:lnTo>
                  <a:lnTo>
                    <a:pt x="6675132" y="29886"/>
                  </a:lnTo>
                  <a:lnTo>
                    <a:pt x="6671204" y="24587"/>
                  </a:lnTo>
                  <a:lnTo>
                    <a:pt x="6666776" y="19697"/>
                  </a:lnTo>
                </a:path>
              </a:pathLst>
            </a:custGeom>
            <a:ln w="9525">
              <a:solidFill>
                <a:srgbClr val="214E8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604767" y="3726243"/>
              <a:ext cx="6686550" cy="1718945"/>
            </a:xfrm>
            <a:custGeom>
              <a:avLst/>
              <a:gdLst/>
              <a:ahLst/>
              <a:cxnLst/>
              <a:rect l="l" t="t" r="r" b="b"/>
              <a:pathLst>
                <a:path w="6686550" h="1718945">
                  <a:moveTo>
                    <a:pt x="6666776" y="19697"/>
                  </a:moveTo>
                  <a:lnTo>
                    <a:pt x="6632344" y="1296"/>
                  </a:lnTo>
                  <a:lnTo>
                    <a:pt x="6619227" y="0"/>
                  </a:lnTo>
                  <a:lnTo>
                    <a:pt x="67233" y="0"/>
                  </a:lnTo>
                  <a:lnTo>
                    <a:pt x="29879" y="11341"/>
                  </a:lnTo>
                  <a:lnTo>
                    <a:pt x="24576" y="15269"/>
                  </a:lnTo>
                  <a:lnTo>
                    <a:pt x="19685" y="19697"/>
                  </a:lnTo>
                </a:path>
                <a:path w="6686550" h="1718945">
                  <a:moveTo>
                    <a:pt x="19685" y="1698625"/>
                  </a:moveTo>
                  <a:lnTo>
                    <a:pt x="54116" y="1717025"/>
                  </a:lnTo>
                  <a:lnTo>
                    <a:pt x="67233" y="1718322"/>
                  </a:lnTo>
                  <a:lnTo>
                    <a:pt x="6614464" y="1718322"/>
                  </a:lnTo>
                  <a:lnTo>
                    <a:pt x="6656585" y="1706986"/>
                  </a:lnTo>
                  <a:lnTo>
                    <a:pt x="6661886" y="1703055"/>
                  </a:lnTo>
                  <a:lnTo>
                    <a:pt x="6666776" y="1698625"/>
                  </a:lnTo>
                </a:path>
                <a:path w="6686550" h="1718945">
                  <a:moveTo>
                    <a:pt x="19685" y="19697"/>
                  </a:moveTo>
                  <a:lnTo>
                    <a:pt x="1292" y="54128"/>
                  </a:lnTo>
                  <a:lnTo>
                    <a:pt x="0" y="67246"/>
                  </a:lnTo>
                  <a:lnTo>
                    <a:pt x="0" y="1646313"/>
                  </a:lnTo>
                  <a:lnTo>
                    <a:pt x="11329" y="1688436"/>
                  </a:lnTo>
                  <a:lnTo>
                    <a:pt x="15256" y="1693735"/>
                  </a:lnTo>
                  <a:lnTo>
                    <a:pt x="19685" y="1698625"/>
                  </a:lnTo>
                </a:path>
                <a:path w="6686550" h="1718945">
                  <a:moveTo>
                    <a:pt x="6666776" y="1698625"/>
                  </a:moveTo>
                  <a:lnTo>
                    <a:pt x="6685176" y="1664200"/>
                  </a:lnTo>
                  <a:lnTo>
                    <a:pt x="6686473" y="1651076"/>
                  </a:lnTo>
                  <a:lnTo>
                    <a:pt x="6686473" y="72009"/>
                  </a:lnTo>
                  <a:lnTo>
                    <a:pt x="6675132" y="29887"/>
                  </a:lnTo>
                  <a:lnTo>
                    <a:pt x="6671204" y="24587"/>
                  </a:lnTo>
                  <a:lnTo>
                    <a:pt x="6666776" y="19697"/>
                  </a:lnTo>
                </a:path>
              </a:pathLst>
            </a:custGeom>
            <a:ln w="9525">
              <a:solidFill>
                <a:srgbClr val="245BA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3746500" y="4467225"/>
            <a:ext cx="1278255" cy="7089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200"/>
              </a:lnSpc>
            </a:pPr>
            <a:r>
              <a:rPr sz="1100" spc="-10" dirty="0" err="1" smtClean="0">
                <a:latin typeface="Century Gothic"/>
                <a:cs typeface="Century Gothic"/>
              </a:rPr>
              <a:t>Закупщика</a:t>
            </a:r>
            <a:endParaRPr sz="1100" dirty="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100" spc="-10" dirty="0">
                <a:latin typeface="Century Gothic"/>
                <a:cs typeface="Century Gothic"/>
              </a:rPr>
              <a:t>участвовало</a:t>
            </a:r>
            <a:endParaRPr sz="1100" dirty="0">
              <a:latin typeface="Century Gothic"/>
              <a:cs typeface="Century Gothic"/>
            </a:endParaRPr>
          </a:p>
          <a:p>
            <a:pPr marL="12700" marR="5080">
              <a:lnSpc>
                <a:spcPct val="110800"/>
              </a:lnSpc>
            </a:pPr>
            <a:r>
              <a:rPr sz="1100" spc="70" dirty="0">
                <a:latin typeface="Century Gothic"/>
                <a:cs typeface="Century Gothic"/>
              </a:rPr>
              <a:t>в</a:t>
            </a:r>
            <a:r>
              <a:rPr sz="1100" dirty="0">
                <a:latin typeface="Century Gothic"/>
                <a:cs typeface="Century Gothic"/>
              </a:rPr>
              <a:t> переговорах </a:t>
            </a:r>
            <a:r>
              <a:rPr sz="1100" spc="-25" dirty="0">
                <a:latin typeface="Century Gothic"/>
                <a:cs typeface="Century Gothic"/>
              </a:rPr>
              <a:t>по </a:t>
            </a:r>
            <a:r>
              <a:rPr sz="1100" spc="-30" dirty="0">
                <a:latin typeface="Century Gothic"/>
                <a:cs typeface="Century Gothic"/>
              </a:rPr>
              <a:t>Вашей</a:t>
            </a:r>
            <a:r>
              <a:rPr sz="1100" spc="-45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категории</a:t>
            </a:r>
            <a:endParaRPr sz="1100" dirty="0">
              <a:latin typeface="Century Gothic"/>
              <a:cs typeface="Century Gothic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335422" y="3798693"/>
            <a:ext cx="2065020" cy="1674817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60"/>
              </a:spcBef>
            </a:pPr>
            <a:r>
              <a:rPr sz="1800" dirty="0">
                <a:latin typeface="Century Gothic"/>
                <a:cs typeface="Century Gothic"/>
              </a:rPr>
              <a:t>В</a:t>
            </a:r>
            <a:r>
              <a:rPr sz="1800" spc="-20" dirty="0">
                <a:latin typeface="Century Gothic"/>
                <a:cs typeface="Century Gothic"/>
              </a:rPr>
              <a:t> </a:t>
            </a:r>
            <a:r>
              <a:rPr sz="1800" spc="-85" dirty="0">
                <a:latin typeface="Century Gothic"/>
                <a:cs typeface="Century Gothic"/>
              </a:rPr>
              <a:t>том</a:t>
            </a:r>
            <a:r>
              <a:rPr sz="1800" spc="-15" dirty="0">
                <a:latin typeface="Century Gothic"/>
                <a:cs typeface="Century Gothic"/>
              </a:rPr>
              <a:t> </a:t>
            </a:r>
            <a:r>
              <a:rPr sz="1800" spc="-10" dirty="0">
                <a:latin typeface="Century Gothic"/>
                <a:cs typeface="Century Gothic"/>
              </a:rPr>
              <a:t>числе:</a:t>
            </a:r>
            <a:endParaRPr sz="1800" dirty="0">
              <a:latin typeface="Century Gothic"/>
              <a:cs typeface="Century Gothic"/>
            </a:endParaRPr>
          </a:p>
          <a:p>
            <a:pPr marL="45085">
              <a:lnSpc>
                <a:spcPct val="100000"/>
              </a:lnSpc>
              <a:spcBef>
                <a:spcPts val="750"/>
              </a:spcBef>
            </a:pPr>
            <a:r>
              <a:rPr lang="en-US" sz="3600" spc="-382" baseline="-5787" dirty="0" smtClean="0">
                <a:solidFill>
                  <a:srgbClr val="245BA9"/>
                </a:solidFill>
                <a:latin typeface="Century Gothic"/>
                <a:cs typeface="Century Gothic"/>
              </a:rPr>
              <a:t>7.16 </a:t>
            </a:r>
            <a:r>
              <a:rPr sz="1200" spc="-25" dirty="0" err="1" smtClean="0">
                <a:solidFill>
                  <a:srgbClr val="245BA9"/>
                </a:solidFill>
                <a:latin typeface="Century Gothic"/>
                <a:cs typeface="Century Gothic"/>
              </a:rPr>
              <a:t>федеральных</a:t>
            </a:r>
            <a:r>
              <a:rPr sz="1200" spc="5" dirty="0" smtClean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200" spc="-10" dirty="0">
                <a:solidFill>
                  <a:srgbClr val="245BA9"/>
                </a:solidFill>
                <a:latin typeface="Century Gothic"/>
                <a:cs typeface="Century Gothic"/>
              </a:rPr>
              <a:t>Сетей</a:t>
            </a:r>
            <a:endParaRPr sz="1200" dirty="0">
              <a:latin typeface="Century Gothic"/>
              <a:cs typeface="Century Gothic"/>
            </a:endParaRPr>
          </a:p>
          <a:p>
            <a:pPr marL="45085">
              <a:lnSpc>
                <a:spcPct val="100000"/>
              </a:lnSpc>
              <a:spcBef>
                <a:spcPts val="805"/>
              </a:spcBef>
            </a:pPr>
            <a:r>
              <a:rPr lang="en-US" sz="3600" spc="-382" baseline="-5787" dirty="0" smtClean="0">
                <a:solidFill>
                  <a:srgbClr val="245BA9"/>
                </a:solidFill>
                <a:latin typeface="Century Gothic"/>
                <a:cs typeface="Century Gothic"/>
              </a:rPr>
              <a:t>17.94</a:t>
            </a:r>
            <a:r>
              <a:rPr sz="3600" spc="-397" baseline="-5787" dirty="0" smtClean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200" dirty="0">
                <a:solidFill>
                  <a:srgbClr val="245BA9"/>
                </a:solidFill>
                <a:latin typeface="Century Gothic"/>
                <a:cs typeface="Century Gothic"/>
              </a:rPr>
              <a:t>региональных </a:t>
            </a:r>
            <a:r>
              <a:rPr sz="1200" spc="-10" dirty="0">
                <a:solidFill>
                  <a:srgbClr val="245BA9"/>
                </a:solidFill>
                <a:latin typeface="Century Gothic"/>
                <a:cs typeface="Century Gothic"/>
              </a:rPr>
              <a:t>Сетей</a:t>
            </a:r>
            <a:endParaRPr sz="1200" dirty="0">
              <a:latin typeface="Century Gothic"/>
              <a:cs typeface="Century Gothic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682624" y="4137342"/>
            <a:ext cx="2617076" cy="1321067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5"/>
              </a:spcBef>
            </a:pPr>
            <a:r>
              <a:rPr lang="en-US" sz="3600" baseline="-5787" dirty="0" smtClean="0">
                <a:solidFill>
                  <a:srgbClr val="245BA9"/>
                </a:solidFill>
                <a:latin typeface="Century Gothic"/>
                <a:cs typeface="Century Gothic"/>
              </a:rPr>
              <a:t>13.58</a:t>
            </a:r>
            <a:r>
              <a:rPr sz="3600" spc="-352" baseline="-5787" dirty="0" smtClean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200" dirty="0">
                <a:solidFill>
                  <a:srgbClr val="245BA9"/>
                </a:solidFill>
                <a:latin typeface="Century Gothic"/>
                <a:cs typeface="Century Gothic"/>
              </a:rPr>
              <a:t>локальных</a:t>
            </a:r>
            <a:r>
              <a:rPr sz="1200" spc="30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200" spc="-10" dirty="0">
                <a:solidFill>
                  <a:srgbClr val="245BA9"/>
                </a:solidFill>
                <a:latin typeface="Century Gothic"/>
                <a:cs typeface="Century Gothic"/>
              </a:rPr>
              <a:t>Сетей</a:t>
            </a:r>
            <a:endParaRPr sz="1200" dirty="0">
              <a:latin typeface="Century Gothic"/>
              <a:cs typeface="Century Gothic"/>
            </a:endParaRPr>
          </a:p>
          <a:p>
            <a:pPr marL="426720" marR="189865" indent="-389255">
              <a:lnSpc>
                <a:spcPct val="99200"/>
              </a:lnSpc>
              <a:spcBef>
                <a:spcPts val="825"/>
              </a:spcBef>
            </a:pPr>
            <a:r>
              <a:rPr lang="en-US" sz="3600" baseline="-5787" dirty="0" smtClean="0">
                <a:solidFill>
                  <a:srgbClr val="245BA9"/>
                </a:solidFill>
                <a:latin typeface="Century Gothic"/>
                <a:cs typeface="Century Gothic"/>
              </a:rPr>
              <a:t>7.52</a:t>
            </a:r>
            <a:r>
              <a:rPr sz="3600" spc="-397" baseline="-5787" dirty="0" smtClean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lang="ru-RU" sz="3600" spc="-397" baseline="-5787" dirty="0" smtClean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lang="ru-RU" sz="1200" spc="-10" dirty="0" smtClean="0">
                <a:solidFill>
                  <a:srgbClr val="245BA9"/>
                </a:solidFill>
                <a:latin typeface="Century Gothic"/>
                <a:cs typeface="Century Gothic"/>
              </a:rPr>
              <a:t>Компаний </a:t>
            </a:r>
            <a:r>
              <a:rPr lang="en-US" sz="1200" spc="-10" dirty="0" err="1" smtClean="0">
                <a:solidFill>
                  <a:srgbClr val="245BA9"/>
                </a:solidFill>
                <a:latin typeface="Century Gothic"/>
                <a:cs typeface="Century Gothic"/>
              </a:rPr>
              <a:t>H</a:t>
            </a:r>
            <a:r>
              <a:rPr sz="1200" spc="-10" dirty="0" err="1" smtClean="0">
                <a:solidFill>
                  <a:srgbClr val="245BA9"/>
                </a:solidFill>
                <a:latin typeface="Century Gothic"/>
                <a:cs typeface="Century Gothic"/>
              </a:rPr>
              <a:t>oReCa</a:t>
            </a:r>
            <a:endParaRPr sz="1200" dirty="0">
              <a:latin typeface="Century Gothic"/>
              <a:cs typeface="Century Gothic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612089" y="5747842"/>
            <a:ext cx="6671945" cy="10839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9734" marR="1760855" algn="ctr">
              <a:lnSpc>
                <a:spcPct val="115700"/>
              </a:lnSpc>
              <a:spcBef>
                <a:spcPts val="100"/>
              </a:spcBef>
            </a:pPr>
            <a:r>
              <a:rPr sz="2000" spc="-30" dirty="0">
                <a:latin typeface="Century Gothic"/>
                <a:cs typeface="Century Gothic"/>
              </a:rPr>
              <a:t>Гарантируем</a:t>
            </a:r>
            <a:r>
              <a:rPr sz="2000" spc="-85" dirty="0">
                <a:latin typeface="Century Gothic"/>
                <a:cs typeface="Century Gothic"/>
              </a:rPr>
              <a:t> </a:t>
            </a:r>
            <a:r>
              <a:rPr sz="2000" spc="-10" dirty="0">
                <a:latin typeface="Century Gothic"/>
                <a:cs typeface="Century Gothic"/>
              </a:rPr>
              <a:t>заключение </a:t>
            </a:r>
            <a:r>
              <a:rPr sz="2000" dirty="0">
                <a:latin typeface="Century Gothic"/>
                <a:cs typeface="Century Gothic"/>
              </a:rPr>
              <a:t>предварительного</a:t>
            </a:r>
            <a:r>
              <a:rPr sz="2000" spc="140" dirty="0">
                <a:latin typeface="Century Gothic"/>
                <a:cs typeface="Century Gothic"/>
              </a:rPr>
              <a:t> </a:t>
            </a:r>
            <a:r>
              <a:rPr sz="2000" dirty="0">
                <a:latin typeface="Century Gothic"/>
                <a:cs typeface="Century Gothic"/>
              </a:rPr>
              <a:t>договора,</a:t>
            </a:r>
            <a:r>
              <a:rPr sz="2000" spc="145" dirty="0">
                <a:latin typeface="Century Gothic"/>
                <a:cs typeface="Century Gothic"/>
              </a:rPr>
              <a:t> </a:t>
            </a:r>
            <a:r>
              <a:rPr sz="2000" spc="-20" dirty="0">
                <a:latin typeface="Century Gothic"/>
                <a:cs typeface="Century Gothic"/>
              </a:rPr>
              <a:t>либо </a:t>
            </a:r>
            <a:r>
              <a:rPr sz="2000" spc="-10" dirty="0">
                <a:latin typeface="Century Gothic"/>
                <a:cs typeface="Century Gothic"/>
              </a:rPr>
              <a:t>вернем</a:t>
            </a:r>
            <a:r>
              <a:rPr sz="2000" spc="-100" dirty="0">
                <a:latin typeface="Century Gothic"/>
                <a:cs typeface="Century Gothic"/>
              </a:rPr>
              <a:t> </a:t>
            </a:r>
            <a:r>
              <a:rPr sz="2000" spc="-10" dirty="0">
                <a:latin typeface="Century Gothic"/>
                <a:cs typeface="Century Gothic"/>
              </a:rPr>
              <a:t>деньги!</a:t>
            </a:r>
            <a:endParaRPr sz="2000">
              <a:latin typeface="Century Gothic"/>
              <a:cs typeface="Century Gothic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3600005" y="5638851"/>
            <a:ext cx="6696075" cy="1365250"/>
            <a:chOff x="3600005" y="5638851"/>
            <a:chExt cx="6696075" cy="1365250"/>
          </a:xfrm>
        </p:grpSpPr>
        <p:pic>
          <p:nvPicPr>
            <p:cNvPr id="24" name="object 2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793530" y="5792368"/>
              <a:ext cx="899998" cy="899998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3604767" y="5643613"/>
              <a:ext cx="6686550" cy="1355725"/>
            </a:xfrm>
            <a:custGeom>
              <a:avLst/>
              <a:gdLst/>
              <a:ahLst/>
              <a:cxnLst/>
              <a:rect l="l" t="t" r="r" b="b"/>
              <a:pathLst>
                <a:path w="6686550" h="1355725">
                  <a:moveTo>
                    <a:pt x="6666776" y="19685"/>
                  </a:moveTo>
                  <a:lnTo>
                    <a:pt x="6632344" y="1292"/>
                  </a:lnTo>
                  <a:lnTo>
                    <a:pt x="6619227" y="0"/>
                  </a:lnTo>
                  <a:lnTo>
                    <a:pt x="67233" y="0"/>
                  </a:lnTo>
                  <a:lnTo>
                    <a:pt x="29879" y="11329"/>
                  </a:lnTo>
                  <a:lnTo>
                    <a:pt x="24576" y="15256"/>
                  </a:lnTo>
                  <a:lnTo>
                    <a:pt x="19685" y="19685"/>
                  </a:lnTo>
                </a:path>
                <a:path w="6686550" h="1355725">
                  <a:moveTo>
                    <a:pt x="19685" y="1335900"/>
                  </a:moveTo>
                  <a:lnTo>
                    <a:pt x="54116" y="1354293"/>
                  </a:lnTo>
                  <a:lnTo>
                    <a:pt x="67233" y="1355585"/>
                  </a:lnTo>
                  <a:lnTo>
                    <a:pt x="6614464" y="1355585"/>
                  </a:lnTo>
                  <a:lnTo>
                    <a:pt x="6656585" y="1344255"/>
                  </a:lnTo>
                  <a:lnTo>
                    <a:pt x="6661886" y="1340328"/>
                  </a:lnTo>
                  <a:lnTo>
                    <a:pt x="6666776" y="1335900"/>
                  </a:lnTo>
                </a:path>
                <a:path w="6686550" h="1355725">
                  <a:moveTo>
                    <a:pt x="19685" y="19685"/>
                  </a:moveTo>
                  <a:lnTo>
                    <a:pt x="1292" y="54116"/>
                  </a:lnTo>
                  <a:lnTo>
                    <a:pt x="0" y="67233"/>
                  </a:lnTo>
                  <a:lnTo>
                    <a:pt x="0" y="1283589"/>
                  </a:lnTo>
                  <a:lnTo>
                    <a:pt x="11329" y="1325705"/>
                  </a:lnTo>
                  <a:lnTo>
                    <a:pt x="15256" y="1331008"/>
                  </a:lnTo>
                  <a:lnTo>
                    <a:pt x="19685" y="1335900"/>
                  </a:lnTo>
                </a:path>
                <a:path w="6686550" h="1355725">
                  <a:moveTo>
                    <a:pt x="6666776" y="1335900"/>
                  </a:moveTo>
                  <a:lnTo>
                    <a:pt x="6685176" y="1301469"/>
                  </a:lnTo>
                  <a:lnTo>
                    <a:pt x="6686473" y="1288351"/>
                  </a:lnTo>
                  <a:lnTo>
                    <a:pt x="6686473" y="71996"/>
                  </a:lnTo>
                  <a:lnTo>
                    <a:pt x="6675132" y="29879"/>
                  </a:lnTo>
                  <a:lnTo>
                    <a:pt x="6671204" y="24576"/>
                  </a:lnTo>
                  <a:lnTo>
                    <a:pt x="6666776" y="19685"/>
                  </a:lnTo>
                </a:path>
              </a:pathLst>
            </a:custGeom>
            <a:ln w="9525">
              <a:solidFill>
                <a:srgbClr val="245BA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xfrm>
            <a:off x="600163" y="6789623"/>
            <a:ext cx="305434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150">
              <a:lnSpc>
                <a:spcPts val="1200"/>
              </a:lnSpc>
            </a:pPr>
            <a:fld id="{81D60167-4931-47E6-BA6A-407CBD079E47}" type="slidenum">
              <a:rPr spc="-25" smtClean="0">
                <a:solidFill>
                  <a:srgbClr val="FFFFFF"/>
                </a:solidFill>
              </a:rPr>
              <a:pPr marL="57150">
                <a:lnSpc>
                  <a:spcPts val="1200"/>
                </a:lnSpc>
              </a:pPr>
              <a:t>3</a:t>
            </a:fld>
            <a:r>
              <a:rPr spc="-25" dirty="0" smtClean="0"/>
              <a:t>/</a:t>
            </a:r>
            <a:r>
              <a:rPr lang="en-US" spc="-25" dirty="0" smtClean="0"/>
              <a:t>8</a:t>
            </a:r>
            <a:endParaRPr spc="-25" dirty="0"/>
          </a:p>
        </p:txBody>
      </p:sp>
      <p:sp>
        <p:nvSpPr>
          <p:cNvPr id="28" name="Прямоугольник 27"/>
          <p:cNvSpPr/>
          <p:nvPr/>
        </p:nvSpPr>
        <p:spPr>
          <a:xfrm>
            <a:off x="3746500" y="2638425"/>
            <a:ext cx="192841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200" dirty="0" smtClean="0">
                <a:latin typeface="Century Gothic"/>
                <a:cs typeface="Century Gothic"/>
              </a:rPr>
              <a:t>Контрактов  </a:t>
            </a:r>
            <a:r>
              <a:rPr lang="ru-RU" sz="1200" spc="-10" dirty="0" smtClean="0">
                <a:latin typeface="Century Gothic"/>
                <a:cs typeface="Century Gothic"/>
              </a:rPr>
              <a:t>заключили</a:t>
            </a:r>
            <a:endParaRPr lang="ru-RU" sz="1200" dirty="0"/>
          </a:p>
        </p:txBody>
      </p:sp>
      <p:sp>
        <p:nvSpPr>
          <p:cNvPr id="29" name="object 14"/>
          <p:cNvSpPr txBox="1"/>
          <p:nvPr/>
        </p:nvSpPr>
        <p:spPr>
          <a:xfrm>
            <a:off x="5422900" y="1800225"/>
            <a:ext cx="2971800" cy="683713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12700" marR="5080" indent="513715" algn="l">
              <a:lnSpc>
                <a:spcPct val="112700"/>
              </a:lnSpc>
              <a:tabLst>
                <a:tab pos="2100580" algn="l"/>
                <a:tab pos="2240280" algn="l"/>
              </a:tabLst>
            </a:pPr>
            <a:r>
              <a:rPr lang="en-US" sz="3600" spc="-25" dirty="0" smtClean="0">
                <a:solidFill>
                  <a:srgbClr val="245BA9"/>
                </a:solidFill>
                <a:latin typeface="Century Gothic"/>
                <a:cs typeface="Century Gothic"/>
              </a:rPr>
              <a:t>	</a:t>
            </a:r>
            <a:r>
              <a:rPr lang="en-US" sz="3600" spc="-25" dirty="0" smtClean="0">
                <a:solidFill>
                  <a:srgbClr val="245BA9"/>
                </a:solidFill>
                <a:latin typeface="Century Gothic"/>
                <a:cs typeface="Century Gothic"/>
              </a:rPr>
              <a:t/>
            </a:r>
            <a:r>
              <a:rPr lang="ru-RU" sz="3600" spc="-25" dirty="0" smtClean="0">
                <a:solidFill>
                  <a:srgbClr val="245BA9"/>
                </a:solidFill>
                <a:latin typeface="Century Gothic"/>
                <a:cs typeface="Century Gothic"/>
              </a:rPr>
              <a:t/>
            </a:r>
            <a:r>
              <a:rPr lang="en-US" sz="3600" spc="-25" dirty="0" smtClean="0">
                <a:solidFill>
                  <a:srgbClr val="245BA9"/>
                </a:solidFill>
                <a:latin typeface="Century Gothic"/>
                <a:cs typeface="Century Gothic"/>
              </a:rPr>
              <a:t/>
            </a:r>
            <a:r>
              <a:rPr sz="1100" dirty="0">
                <a:latin typeface="Century Gothic"/>
                <a:cs typeface="Century Gothic"/>
              </a:rPr>
              <a:t/>
            </a:r>
          </a:p>
        </p:txBody>
      </p:sp>
      <p:sp>
        <p:nvSpPr>
          <p:cNvPr id="30" name="object 14"/>
          <p:cNvSpPr txBox="1"/>
          <p:nvPr/>
        </p:nvSpPr>
        <p:spPr>
          <a:xfrm>
            <a:off x="7721600" y="1800225"/>
            <a:ext cx="2971800" cy="683713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12700" marR="5080" indent="513715" algn="l">
              <a:lnSpc>
                <a:spcPct val="112700"/>
              </a:lnSpc>
              <a:tabLst>
                <a:tab pos="2100580" algn="l"/>
                <a:tab pos="2240280" algn="l"/>
              </a:tabLst>
            </a:pPr>
            <a:r>
              <a:rPr lang="en-US" sz="3600" spc="-25" dirty="0" smtClean="0">
                <a:solidFill>
                  <a:srgbClr val="245BA9"/>
                </a:solidFill>
                <a:latin typeface="Century Gothic"/>
                <a:cs typeface="Century Gothic"/>
              </a:rPr>
              <a:t>5.06	</a:t>
            </a:r>
            <a:r>
              <a:rPr lang="en-US" sz="3600" spc="-25" dirty="0" smtClean="0">
                <a:solidFill>
                  <a:srgbClr val="245BA9"/>
                </a:solidFill>
                <a:latin typeface="Century Gothic"/>
                <a:cs typeface="Century Gothic"/>
              </a:rPr>
              <a:t/>
            </a:r>
            <a:r>
              <a:rPr lang="ru-RU" sz="3600" spc="-25" dirty="0" smtClean="0">
                <a:solidFill>
                  <a:srgbClr val="245BA9"/>
                </a:solidFill>
                <a:latin typeface="Century Gothic"/>
                <a:cs typeface="Century Gothic"/>
              </a:rPr>
              <a:t/>
            </a:r>
            <a:r>
              <a:rPr lang="en-US" sz="3600" spc="-25" dirty="0" smtClean="0">
                <a:solidFill>
                  <a:srgbClr val="245BA9"/>
                </a:solidFill>
                <a:latin typeface="Century Gothic"/>
                <a:cs typeface="Century Gothic"/>
              </a:rPr>
              <a:t/>
            </a:r>
            <a:r>
              <a:rPr sz="1100" dirty="0">
                <a:latin typeface="Century Gothic"/>
                <a:cs typeface="Century Gothic"/>
              </a:rPr>
              <a:t/>
            </a:r>
          </a:p>
        </p:txBody>
      </p:sp>
      <p:sp>
        <p:nvSpPr>
          <p:cNvPr id="31" name="Прямоугольник 30"/>
          <p:cNvSpPr/>
          <p:nvPr/>
        </p:nvSpPr>
        <p:spPr>
          <a:xfrm>
            <a:off x="6032500" y="2638425"/>
            <a:ext cx="200215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200" dirty="0" smtClean="0">
                <a:latin typeface="Century Gothic"/>
                <a:cs typeface="Century Gothic"/>
              </a:rPr>
              <a:t>Средний</a:t>
            </a:r>
            <a:r>
              <a:rPr lang="ru-RU" sz="1200" spc="50" dirty="0" smtClean="0">
                <a:latin typeface="Century Gothic"/>
                <a:cs typeface="Century Gothic"/>
              </a:rPr>
              <a:t> </a:t>
            </a:r>
            <a:r>
              <a:rPr lang="ru-RU" sz="1200" dirty="0" smtClean="0">
                <a:latin typeface="Century Gothic"/>
                <a:cs typeface="Century Gothic"/>
              </a:rPr>
              <a:t>чек</a:t>
            </a:r>
            <a:r>
              <a:rPr lang="ru-RU" sz="1200" spc="50" dirty="0" smtClean="0">
                <a:latin typeface="Century Gothic"/>
                <a:cs typeface="Century Gothic"/>
              </a:rPr>
              <a:t> </a:t>
            </a:r>
            <a:r>
              <a:rPr lang="ru-RU" sz="1200" spc="-10" dirty="0" smtClean="0">
                <a:latin typeface="Century Gothic"/>
                <a:cs typeface="Century Gothic"/>
              </a:rPr>
              <a:t>контракта</a:t>
            </a:r>
            <a:endParaRPr lang="ru-RU" sz="1200" dirty="0"/>
          </a:p>
        </p:txBody>
      </p:sp>
      <p:sp>
        <p:nvSpPr>
          <p:cNvPr id="33" name="object 14"/>
          <p:cNvSpPr txBox="1"/>
          <p:nvPr/>
        </p:nvSpPr>
        <p:spPr>
          <a:xfrm>
            <a:off x="3213100" y="3781425"/>
            <a:ext cx="1981200" cy="475066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12700" marR="5080" indent="513715" algn="l">
              <a:lnSpc>
                <a:spcPct val="112700"/>
              </a:lnSpc>
              <a:tabLst>
                <a:tab pos="2100580" algn="l"/>
                <a:tab pos="2240280" algn="l"/>
              </a:tabLst>
            </a:pPr>
            <a:r>
              <a:rPr lang="en-US" sz="2400" spc="-25" dirty="0" smtClean="0">
                <a:solidFill>
                  <a:srgbClr val="245BA9"/>
                </a:solidFill>
                <a:latin typeface="Century Gothic"/>
                <a:cs typeface="Century Gothic"/>
              </a:rPr>
              <a:t>34.45	</a:t>
            </a:r>
            <a:r>
              <a:rPr lang="en-US" sz="2400" spc="-25" dirty="0" smtClean="0">
                <a:solidFill>
                  <a:srgbClr val="245BA9"/>
                </a:solidFill>
                <a:latin typeface="Century Gothic"/>
                <a:cs typeface="Century Gothic"/>
              </a:rPr>
              <a:t/>
            </a:r>
            <a:r>
              <a:rPr lang="ru-RU" sz="2400" spc="-25" dirty="0" smtClean="0">
                <a:solidFill>
                  <a:srgbClr val="245BA9"/>
                </a:solidFill>
                <a:latin typeface="Century Gothic"/>
                <a:cs typeface="Century Gothic"/>
              </a:rPr>
              <a:t/>
            </a:r>
            <a:r>
              <a:rPr lang="en-US" sz="2400" spc="-25" dirty="0" smtClean="0">
                <a:solidFill>
                  <a:srgbClr val="245BA9"/>
                </a:solidFill>
                <a:latin typeface="Century Gothic"/>
                <a:cs typeface="Century Gothic"/>
              </a:rPr>
              <a:t/>
            </a:r>
            <a:r>
              <a:rPr sz="1400" dirty="0">
                <a:latin typeface="Century Gothic"/>
                <a:cs typeface="Century Gothic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40994" y="1168070"/>
            <a:ext cx="2499360" cy="864235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919"/>
              </a:spcBef>
            </a:pP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Переговоры</a:t>
            </a:r>
            <a:endParaRPr sz="11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730"/>
              </a:spcBef>
            </a:pPr>
            <a:endParaRPr sz="1100">
              <a:latin typeface="Century Gothic"/>
              <a:cs typeface="Century Gothic"/>
            </a:endParaRPr>
          </a:p>
          <a:p>
            <a:pPr marL="503555">
              <a:lnSpc>
                <a:spcPct val="100000"/>
              </a:lnSpc>
            </a:pP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Статистика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32293" y="2316213"/>
            <a:ext cx="167068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245BA9"/>
                </a:solidFill>
                <a:latin typeface="Century Gothic"/>
                <a:cs typeface="Century Gothic"/>
              </a:rPr>
              <a:t>Как</a:t>
            </a:r>
            <a:r>
              <a:rPr sz="1100" spc="70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245BA9"/>
                </a:solidFill>
                <a:latin typeface="Century Gothic"/>
                <a:cs typeface="Century Gothic"/>
              </a:rPr>
              <a:t>заключить</a:t>
            </a:r>
            <a:r>
              <a:rPr sz="1100" spc="70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245BA9"/>
                </a:solidFill>
                <a:latin typeface="Century Gothic"/>
                <a:cs typeface="Century Gothic"/>
              </a:rPr>
              <a:t>контракт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40994" y="2824073"/>
            <a:ext cx="2499360" cy="1296035"/>
          </a:xfrm>
          <a:prstGeom prst="rect">
            <a:avLst/>
          </a:prstGeom>
        </p:spPr>
        <p:txBody>
          <a:bodyPr vert="horz" wrap="square" lIns="0" tIns="116840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920"/>
              </a:spcBef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О </a:t>
            </a:r>
            <a:r>
              <a:rPr sz="1100" spc="-25" dirty="0">
                <a:solidFill>
                  <a:srgbClr val="FFFFFF"/>
                </a:solidFill>
                <a:latin typeface="Century Gothic"/>
                <a:cs typeface="Century Gothic"/>
              </a:rPr>
              <a:t>нас</a:t>
            </a:r>
            <a:endParaRPr sz="1100">
              <a:latin typeface="Century Gothic"/>
              <a:cs typeface="Century Gothic"/>
            </a:endParaRPr>
          </a:p>
          <a:p>
            <a:pPr marL="503555" marR="635635">
              <a:lnSpc>
                <a:spcPct val="257700"/>
              </a:lnSpc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Фотоотчет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и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отзывы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Контакты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и</a:t>
            </a:r>
            <a:r>
              <a:rPr sz="1100" spc="-3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тарифы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44905" y="6761683"/>
            <a:ext cx="241300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5" dirty="0" smtClean="0">
                <a:solidFill>
                  <a:srgbClr val="FFFFFF"/>
                </a:solidFill>
                <a:latin typeface="Century Gothic"/>
                <a:cs typeface="Century Gothic"/>
              </a:rPr>
              <a:t>4</a:t>
            </a:r>
            <a:r>
              <a:rPr sz="1100" spc="-25" dirty="0" smtClean="0">
                <a:solidFill>
                  <a:srgbClr val="9CC9ED"/>
                </a:solidFill>
                <a:latin typeface="Century Gothic"/>
                <a:cs typeface="Century Gothic"/>
              </a:rPr>
              <a:t>/</a:t>
            </a:r>
            <a:r>
              <a:rPr lang="en-US" sz="1100" spc="-25" dirty="0" smtClean="0">
                <a:solidFill>
                  <a:srgbClr val="9CC9ED"/>
                </a:solidFill>
                <a:latin typeface="Century Gothic"/>
                <a:cs typeface="Century Gothic"/>
              </a:rPr>
              <a:t>8</a:t>
            </a:r>
            <a:endParaRPr sz="1100" dirty="0">
              <a:latin typeface="Century Gothic"/>
              <a:cs typeface="Century Gothic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64756" y="6688785"/>
            <a:ext cx="802005" cy="350520"/>
          </a:xfrm>
          <a:custGeom>
            <a:avLst/>
            <a:gdLst/>
            <a:ahLst/>
            <a:cxnLst/>
            <a:rect l="l" t="t" r="r" b="b"/>
            <a:pathLst>
              <a:path w="802005" h="350520">
                <a:moveTo>
                  <a:pt x="750214" y="51320"/>
                </a:moveTo>
                <a:lnTo>
                  <a:pt x="708907" y="20691"/>
                </a:lnTo>
                <a:lnTo>
                  <a:pt x="660493" y="3376"/>
                </a:lnTo>
                <a:lnTo>
                  <a:pt x="626313" y="0"/>
                </a:lnTo>
                <a:lnTo>
                  <a:pt x="175221" y="0"/>
                </a:lnTo>
                <a:lnTo>
                  <a:pt x="124360" y="7549"/>
                </a:lnTo>
                <a:lnTo>
                  <a:pt x="77881" y="29537"/>
                </a:lnTo>
                <a:lnTo>
                  <a:pt x="64065" y="39777"/>
                </a:lnTo>
                <a:lnTo>
                  <a:pt x="51320" y="51320"/>
                </a:lnTo>
              </a:path>
              <a:path w="802005" h="350520">
                <a:moveTo>
                  <a:pt x="51320" y="299161"/>
                </a:moveTo>
                <a:lnTo>
                  <a:pt x="92627" y="329779"/>
                </a:lnTo>
                <a:lnTo>
                  <a:pt x="141041" y="347092"/>
                </a:lnTo>
                <a:lnTo>
                  <a:pt x="175221" y="350469"/>
                </a:lnTo>
                <a:lnTo>
                  <a:pt x="621550" y="350469"/>
                </a:lnTo>
                <a:lnTo>
                  <a:pt x="659898" y="347092"/>
                </a:lnTo>
                <a:lnTo>
                  <a:pt x="708907" y="329779"/>
                </a:lnTo>
                <a:lnTo>
                  <a:pt x="737469" y="310702"/>
                </a:lnTo>
                <a:lnTo>
                  <a:pt x="750214" y="299161"/>
                </a:lnTo>
              </a:path>
              <a:path w="802005" h="350520">
                <a:moveTo>
                  <a:pt x="51320" y="51320"/>
                </a:moveTo>
                <a:lnTo>
                  <a:pt x="20702" y="92627"/>
                </a:lnTo>
                <a:lnTo>
                  <a:pt x="3382" y="141041"/>
                </a:lnTo>
                <a:lnTo>
                  <a:pt x="0" y="175221"/>
                </a:lnTo>
                <a:lnTo>
                  <a:pt x="0" y="170497"/>
                </a:lnTo>
                <a:lnTo>
                  <a:pt x="3382" y="208843"/>
                </a:lnTo>
                <a:lnTo>
                  <a:pt x="20702" y="257847"/>
                </a:lnTo>
                <a:lnTo>
                  <a:pt x="39779" y="286410"/>
                </a:lnTo>
                <a:lnTo>
                  <a:pt x="51320" y="299161"/>
                </a:lnTo>
              </a:path>
              <a:path w="802005" h="350520">
                <a:moveTo>
                  <a:pt x="750214" y="299161"/>
                </a:moveTo>
                <a:lnTo>
                  <a:pt x="780832" y="257847"/>
                </a:lnTo>
                <a:lnTo>
                  <a:pt x="798156" y="209438"/>
                </a:lnTo>
                <a:lnTo>
                  <a:pt x="801535" y="175260"/>
                </a:lnTo>
                <a:lnTo>
                  <a:pt x="801535" y="179984"/>
                </a:lnTo>
                <a:lnTo>
                  <a:pt x="798156" y="141636"/>
                </a:lnTo>
                <a:lnTo>
                  <a:pt x="780832" y="92627"/>
                </a:lnTo>
                <a:lnTo>
                  <a:pt x="761755" y="64065"/>
                </a:lnTo>
                <a:lnTo>
                  <a:pt x="750214" y="51320"/>
                </a:lnTo>
              </a:path>
            </a:pathLst>
          </a:custGeom>
          <a:ln w="9525">
            <a:solidFill>
              <a:srgbClr val="9CC9E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/>
              <a:t>Всего</a:t>
            </a:r>
            <a:r>
              <a:rPr sz="3000" spc="-20" dirty="0"/>
              <a:t> </a:t>
            </a:r>
            <a:r>
              <a:rPr sz="3000" spc="120" dirty="0"/>
              <a:t>два</a:t>
            </a:r>
            <a:r>
              <a:rPr sz="3000" spc="-20" dirty="0"/>
              <a:t> </a:t>
            </a:r>
            <a:r>
              <a:rPr sz="3000" spc="114" dirty="0"/>
              <a:t>дня</a:t>
            </a:r>
            <a:r>
              <a:rPr sz="3000" spc="-15" dirty="0"/>
              <a:t> </a:t>
            </a:r>
            <a:r>
              <a:rPr sz="3000" dirty="0"/>
              <a:t>и</a:t>
            </a:r>
            <a:r>
              <a:rPr sz="3000" spc="-20" dirty="0"/>
              <a:t> </a:t>
            </a:r>
            <a:r>
              <a:rPr sz="3000" spc="100" dirty="0"/>
              <a:t>вы</a:t>
            </a:r>
            <a:r>
              <a:rPr sz="3000" spc="-15" dirty="0"/>
              <a:t> </a:t>
            </a:r>
            <a:r>
              <a:rPr sz="3000" spc="195" dirty="0"/>
              <a:t>в</a:t>
            </a:r>
            <a:r>
              <a:rPr sz="3000" spc="-20" dirty="0"/>
              <a:t> </a:t>
            </a:r>
            <a:r>
              <a:rPr sz="3000" spc="-10" dirty="0"/>
              <a:t>сети!</a:t>
            </a:r>
            <a:endParaRPr sz="3000"/>
          </a:p>
        </p:txBody>
      </p:sp>
      <p:sp>
        <p:nvSpPr>
          <p:cNvPr id="8" name="object 8"/>
          <p:cNvSpPr txBox="1"/>
          <p:nvPr/>
        </p:nvSpPr>
        <p:spPr>
          <a:xfrm>
            <a:off x="3975493" y="1053312"/>
            <a:ext cx="3632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245BA9"/>
                </a:solidFill>
                <a:latin typeface="Century Gothic"/>
                <a:cs typeface="Century Gothic"/>
              </a:rPr>
              <a:t>01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508296" y="1150061"/>
            <a:ext cx="223329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Century Gothic"/>
                <a:cs typeface="Century Gothic"/>
              </a:rPr>
              <a:t>Получите</a:t>
            </a:r>
            <a:r>
              <a:rPr sz="1000" spc="2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доступ</a:t>
            </a:r>
            <a:r>
              <a:rPr sz="1000" spc="30" dirty="0">
                <a:latin typeface="Century Gothic"/>
                <a:cs typeface="Century Gothic"/>
              </a:rPr>
              <a:t> </a:t>
            </a:r>
            <a:r>
              <a:rPr sz="1000" spc="65" dirty="0">
                <a:latin typeface="Century Gothic"/>
                <a:cs typeface="Century Gothic"/>
              </a:rPr>
              <a:t>в</a:t>
            </a:r>
            <a:r>
              <a:rPr sz="1000" spc="3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личный</a:t>
            </a:r>
            <a:r>
              <a:rPr sz="1000" spc="30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кабинет</a:t>
            </a:r>
            <a:endParaRPr sz="1000">
              <a:latin typeface="Century Gothic"/>
              <a:cs typeface="Century Gothic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170527" y="1469949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4">
                <a:moveTo>
                  <a:pt x="0" y="0"/>
                </a:moveTo>
                <a:lnTo>
                  <a:pt x="0" y="252006"/>
                </a:lnTo>
              </a:path>
            </a:pathLst>
          </a:custGeom>
          <a:ln w="19050">
            <a:solidFill>
              <a:srgbClr val="37AA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975493" y="1728534"/>
            <a:ext cx="3632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245BA9"/>
                </a:solidFill>
                <a:latin typeface="Century Gothic"/>
                <a:cs typeface="Century Gothic"/>
              </a:rPr>
              <a:t>02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508296" y="1693329"/>
            <a:ext cx="1914525" cy="378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700"/>
              </a:lnSpc>
              <a:spcBef>
                <a:spcPts val="100"/>
              </a:spcBef>
            </a:pPr>
            <a:r>
              <a:rPr sz="1000" dirty="0">
                <a:latin typeface="Century Gothic"/>
                <a:cs typeface="Century Gothic"/>
              </a:rPr>
              <a:t>Выберите</a:t>
            </a:r>
            <a:r>
              <a:rPr sz="1000" spc="-40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оптимальный</a:t>
            </a:r>
            <a:r>
              <a:rPr sz="1000" spc="-35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пакет участия</a:t>
            </a:r>
            <a:endParaRPr sz="1000">
              <a:latin typeface="Century Gothic"/>
              <a:cs typeface="Century Gothic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170527" y="2145170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4">
                <a:moveTo>
                  <a:pt x="0" y="0"/>
                </a:moveTo>
                <a:lnTo>
                  <a:pt x="0" y="251993"/>
                </a:lnTo>
              </a:path>
            </a:pathLst>
          </a:custGeom>
          <a:ln w="19050">
            <a:solidFill>
              <a:srgbClr val="37AA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975493" y="2403754"/>
            <a:ext cx="3632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245BA9"/>
                </a:solidFill>
                <a:latin typeface="Century Gothic"/>
                <a:cs typeface="Century Gothic"/>
              </a:rPr>
              <a:t>03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508296" y="2476563"/>
            <a:ext cx="2108835" cy="378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700"/>
              </a:lnSpc>
              <a:spcBef>
                <a:spcPts val="100"/>
              </a:spcBef>
            </a:pPr>
            <a:r>
              <a:rPr sz="1000" dirty="0">
                <a:latin typeface="Century Gothic"/>
                <a:cs typeface="Century Gothic"/>
              </a:rPr>
              <a:t>Выберите</a:t>
            </a:r>
            <a:r>
              <a:rPr sz="1000" spc="1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сети</a:t>
            </a:r>
            <a:r>
              <a:rPr sz="1000" spc="2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для</a:t>
            </a:r>
            <a:r>
              <a:rPr sz="1000" spc="20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переговоров </a:t>
            </a:r>
            <a:r>
              <a:rPr sz="1000" dirty="0">
                <a:latin typeface="Century Gothic"/>
                <a:cs typeface="Century Gothic"/>
              </a:rPr>
              <a:t>под</a:t>
            </a:r>
            <a:r>
              <a:rPr sz="1000" spc="15" dirty="0">
                <a:latin typeface="Century Gothic"/>
                <a:cs typeface="Century Gothic"/>
              </a:rPr>
              <a:t> </a:t>
            </a:r>
            <a:r>
              <a:rPr sz="1000" spc="-20" dirty="0">
                <a:latin typeface="Century Gothic"/>
                <a:cs typeface="Century Gothic"/>
              </a:rPr>
              <a:t>вашу</a:t>
            </a:r>
            <a:r>
              <a:rPr sz="1000" spc="15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категорию</a:t>
            </a:r>
            <a:endParaRPr sz="1000">
              <a:latin typeface="Century Gothic"/>
              <a:cs typeface="Century Gothic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170527" y="2857855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4">
                <a:moveTo>
                  <a:pt x="0" y="0"/>
                </a:moveTo>
                <a:lnTo>
                  <a:pt x="0" y="252006"/>
                </a:lnTo>
              </a:path>
            </a:pathLst>
          </a:custGeom>
          <a:ln w="19050">
            <a:solidFill>
              <a:srgbClr val="37AA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3975493" y="3116440"/>
            <a:ext cx="3632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245BA9"/>
                </a:solidFill>
                <a:latin typeface="Century Gothic"/>
                <a:cs typeface="Century Gothic"/>
              </a:rPr>
              <a:t>04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508296" y="3081235"/>
            <a:ext cx="2040255" cy="554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700"/>
              </a:lnSpc>
              <a:spcBef>
                <a:spcPts val="100"/>
              </a:spcBef>
            </a:pPr>
            <a:r>
              <a:rPr sz="1000" spc="-10" dirty="0">
                <a:latin typeface="Century Gothic"/>
                <a:cs typeface="Century Gothic"/>
              </a:rPr>
              <a:t>Сгенерируйте</a:t>
            </a:r>
            <a:r>
              <a:rPr sz="1000" spc="45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автоматическую </a:t>
            </a:r>
            <a:r>
              <a:rPr sz="1000" dirty="0">
                <a:latin typeface="Century Gothic"/>
                <a:cs typeface="Century Gothic"/>
              </a:rPr>
              <a:t>презентацию </a:t>
            </a:r>
            <a:r>
              <a:rPr sz="1000" spc="-10" dirty="0">
                <a:latin typeface="Century Gothic"/>
                <a:cs typeface="Century Gothic"/>
              </a:rPr>
              <a:t>вашего </a:t>
            </a:r>
            <a:r>
              <a:rPr sz="1000" spc="-20" dirty="0">
                <a:latin typeface="Century Gothic"/>
                <a:cs typeface="Century Gothic"/>
              </a:rPr>
              <a:t>коммерческого</a:t>
            </a:r>
            <a:r>
              <a:rPr sz="1000" spc="15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предложения</a:t>
            </a:r>
            <a:endParaRPr sz="1000">
              <a:latin typeface="Century Gothic"/>
              <a:cs typeface="Century Gothic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170527" y="3638880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5">
                <a:moveTo>
                  <a:pt x="0" y="0"/>
                </a:moveTo>
                <a:lnTo>
                  <a:pt x="0" y="252006"/>
                </a:lnTo>
              </a:path>
            </a:pathLst>
          </a:custGeom>
          <a:ln w="19050">
            <a:solidFill>
              <a:srgbClr val="37AA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3975493" y="3897465"/>
            <a:ext cx="3632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245BA9"/>
                </a:solidFill>
                <a:latin typeface="Century Gothic"/>
                <a:cs typeface="Century Gothic"/>
              </a:rPr>
              <a:t>05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508296" y="3862273"/>
            <a:ext cx="2100580" cy="378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700"/>
              </a:lnSpc>
              <a:spcBef>
                <a:spcPts val="100"/>
              </a:spcBef>
            </a:pPr>
            <a:r>
              <a:rPr sz="1000" spc="-20" dirty="0">
                <a:latin typeface="Century Gothic"/>
                <a:cs typeface="Century Gothic"/>
              </a:rPr>
              <a:t>Посмотрите </a:t>
            </a:r>
            <a:r>
              <a:rPr sz="1000" dirty="0">
                <a:latin typeface="Century Gothic"/>
                <a:cs typeface="Century Gothic"/>
              </a:rPr>
              <a:t>короткие</a:t>
            </a:r>
            <a:r>
              <a:rPr sz="1000" spc="-15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вебинары </a:t>
            </a:r>
            <a:r>
              <a:rPr sz="1000" dirty="0">
                <a:latin typeface="Century Gothic"/>
                <a:cs typeface="Century Gothic"/>
              </a:rPr>
              <a:t>по</a:t>
            </a:r>
            <a:r>
              <a:rPr sz="1000" spc="3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подготовке</a:t>
            </a:r>
            <a:r>
              <a:rPr sz="1000" spc="3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к</a:t>
            </a:r>
            <a:r>
              <a:rPr sz="1000" spc="35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переговорам</a:t>
            </a:r>
            <a:endParaRPr sz="1000">
              <a:latin typeface="Century Gothic"/>
              <a:cs typeface="Century Gothic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170527" y="4314101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5">
                <a:moveTo>
                  <a:pt x="0" y="0"/>
                </a:moveTo>
                <a:lnTo>
                  <a:pt x="0" y="251993"/>
                </a:lnTo>
              </a:path>
            </a:pathLst>
          </a:custGeom>
          <a:ln w="19050">
            <a:solidFill>
              <a:srgbClr val="37AA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3975493" y="4572673"/>
            <a:ext cx="3632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245BA9"/>
                </a:solidFill>
                <a:latin typeface="Century Gothic"/>
                <a:cs typeface="Century Gothic"/>
              </a:rPr>
              <a:t>06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508296" y="4537494"/>
            <a:ext cx="2009775" cy="378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700"/>
              </a:lnSpc>
              <a:spcBef>
                <a:spcPts val="100"/>
              </a:spcBef>
            </a:pPr>
            <a:r>
              <a:rPr sz="1000" dirty="0">
                <a:latin typeface="Century Gothic"/>
                <a:cs typeface="Century Gothic"/>
              </a:rPr>
              <a:t>Получите</a:t>
            </a:r>
            <a:r>
              <a:rPr sz="1000" spc="5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подробный</a:t>
            </a:r>
            <a:r>
              <a:rPr sz="1000" spc="50" dirty="0">
                <a:latin typeface="Century Gothic"/>
                <a:cs typeface="Century Gothic"/>
              </a:rPr>
              <a:t> </a:t>
            </a:r>
            <a:r>
              <a:rPr sz="1000" spc="-30" dirty="0">
                <a:latin typeface="Century Gothic"/>
                <a:cs typeface="Century Gothic"/>
              </a:rPr>
              <a:t>алгоритм </a:t>
            </a:r>
            <a:r>
              <a:rPr sz="1000" dirty="0">
                <a:latin typeface="Century Gothic"/>
                <a:cs typeface="Century Gothic"/>
              </a:rPr>
              <a:t>проведения</a:t>
            </a:r>
            <a:r>
              <a:rPr sz="1000" spc="175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переговоров</a:t>
            </a:r>
            <a:endParaRPr sz="1000">
              <a:latin typeface="Century Gothic"/>
              <a:cs typeface="Century Gothic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4170527" y="4989309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5">
                <a:moveTo>
                  <a:pt x="0" y="0"/>
                </a:moveTo>
                <a:lnTo>
                  <a:pt x="0" y="252006"/>
                </a:lnTo>
              </a:path>
            </a:pathLst>
          </a:custGeom>
          <a:ln w="19050">
            <a:solidFill>
              <a:srgbClr val="37AA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3975493" y="5247894"/>
            <a:ext cx="3632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245BA9"/>
                </a:solidFill>
                <a:latin typeface="Century Gothic"/>
                <a:cs typeface="Century Gothic"/>
              </a:rPr>
              <a:t>07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508296" y="5212689"/>
            <a:ext cx="1700530" cy="378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700"/>
              </a:lnSpc>
              <a:spcBef>
                <a:spcPts val="100"/>
              </a:spcBef>
            </a:pPr>
            <a:r>
              <a:rPr sz="1000" spc="-25" dirty="0">
                <a:latin typeface="Century Gothic"/>
                <a:cs typeface="Century Gothic"/>
              </a:rPr>
              <a:t>Примите</a:t>
            </a:r>
            <a:r>
              <a:rPr sz="1000" spc="1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участие</a:t>
            </a:r>
            <a:r>
              <a:rPr sz="1000" spc="15" dirty="0">
                <a:latin typeface="Century Gothic"/>
                <a:cs typeface="Century Gothic"/>
              </a:rPr>
              <a:t> </a:t>
            </a:r>
            <a:r>
              <a:rPr sz="1000" spc="65" dirty="0">
                <a:latin typeface="Century Gothic"/>
                <a:cs typeface="Century Gothic"/>
              </a:rPr>
              <a:t>в</a:t>
            </a:r>
            <a:r>
              <a:rPr sz="1000" spc="10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личных переговорах</a:t>
            </a:r>
            <a:endParaRPr sz="1000" dirty="0">
              <a:latin typeface="Century Gothic"/>
              <a:cs typeface="Century Gothic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4170527" y="5664530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5">
                <a:moveTo>
                  <a:pt x="0" y="0"/>
                </a:moveTo>
                <a:lnTo>
                  <a:pt x="0" y="251993"/>
                </a:lnTo>
              </a:path>
            </a:pathLst>
          </a:custGeom>
          <a:ln w="19050">
            <a:solidFill>
              <a:srgbClr val="37AA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3850551" y="6078982"/>
            <a:ext cx="5321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25" dirty="0">
                <a:solidFill>
                  <a:srgbClr val="245BA9"/>
                </a:solidFill>
                <a:latin typeface="Century Gothic"/>
                <a:cs typeface="Century Gothic"/>
              </a:rPr>
              <a:t>08</a:t>
            </a:r>
            <a:endParaRPr sz="3600">
              <a:latin typeface="Century Gothic"/>
              <a:cs typeface="Century Gothic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491354" y="6124245"/>
            <a:ext cx="1657985" cy="8362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800"/>
              </a:lnSpc>
              <a:spcBef>
                <a:spcPts val="100"/>
              </a:spcBef>
            </a:pPr>
            <a:r>
              <a:rPr sz="1200" spc="-10" dirty="0">
                <a:latin typeface="Century Gothic"/>
                <a:cs typeface="Century Gothic"/>
              </a:rPr>
              <a:t>Заключите предварительные </a:t>
            </a:r>
            <a:r>
              <a:rPr sz="1200" dirty="0">
                <a:latin typeface="Century Gothic"/>
                <a:cs typeface="Century Gothic"/>
              </a:rPr>
              <a:t>контракты</a:t>
            </a:r>
            <a:r>
              <a:rPr sz="1200" spc="-35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с</a:t>
            </a:r>
            <a:r>
              <a:rPr sz="1200" spc="-30" dirty="0">
                <a:latin typeface="Century Gothic"/>
                <a:cs typeface="Century Gothic"/>
              </a:rPr>
              <a:t> </a:t>
            </a:r>
            <a:r>
              <a:rPr sz="1200" spc="-40" dirty="0">
                <a:latin typeface="Century Gothic"/>
                <a:cs typeface="Century Gothic"/>
              </a:rPr>
              <a:t>нужными </a:t>
            </a:r>
            <a:r>
              <a:rPr sz="1200" spc="-10" dirty="0">
                <a:latin typeface="Century Gothic"/>
                <a:cs typeface="Century Gothic"/>
              </a:rPr>
              <a:t>сетями</a:t>
            </a:r>
            <a:endParaRPr sz="1200">
              <a:latin typeface="Century Gothic"/>
              <a:cs typeface="Century Gothic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3692994" y="4646740"/>
            <a:ext cx="6207125" cy="2479040"/>
            <a:chOff x="3692994" y="4646740"/>
            <a:chExt cx="6207125" cy="2479040"/>
          </a:xfrm>
        </p:grpSpPr>
        <p:sp>
          <p:nvSpPr>
            <p:cNvPr id="32" name="object 32"/>
            <p:cNvSpPr/>
            <p:nvPr/>
          </p:nvSpPr>
          <p:spPr>
            <a:xfrm>
              <a:off x="3702519" y="5998058"/>
              <a:ext cx="3128010" cy="1118235"/>
            </a:xfrm>
            <a:custGeom>
              <a:avLst/>
              <a:gdLst/>
              <a:ahLst/>
              <a:cxnLst/>
              <a:rect l="l" t="t" r="r" b="b"/>
              <a:pathLst>
                <a:path w="3128009" h="1118234">
                  <a:moveTo>
                    <a:pt x="3088563" y="39382"/>
                  </a:moveTo>
                  <a:lnTo>
                    <a:pt x="3056868" y="15879"/>
                  </a:lnTo>
                  <a:lnTo>
                    <a:pt x="3019713" y="2589"/>
                  </a:lnTo>
                  <a:lnTo>
                    <a:pt x="2993478" y="0"/>
                  </a:lnTo>
                  <a:lnTo>
                    <a:pt x="134480" y="0"/>
                  </a:lnTo>
                  <a:lnTo>
                    <a:pt x="95443" y="5791"/>
                  </a:lnTo>
                  <a:lnTo>
                    <a:pt x="59774" y="22666"/>
                  </a:lnTo>
                  <a:lnTo>
                    <a:pt x="49174" y="30524"/>
                  </a:lnTo>
                  <a:lnTo>
                    <a:pt x="39395" y="39382"/>
                  </a:lnTo>
                </a:path>
                <a:path w="3128009" h="1118234">
                  <a:moveTo>
                    <a:pt x="39395" y="1078420"/>
                  </a:moveTo>
                  <a:lnTo>
                    <a:pt x="71090" y="1101930"/>
                  </a:lnTo>
                  <a:lnTo>
                    <a:pt x="108245" y="1115221"/>
                  </a:lnTo>
                  <a:lnTo>
                    <a:pt x="134480" y="1117815"/>
                  </a:lnTo>
                  <a:lnTo>
                    <a:pt x="2983953" y="1117815"/>
                  </a:lnTo>
                  <a:lnTo>
                    <a:pt x="3032367" y="1112018"/>
                  </a:lnTo>
                  <a:lnTo>
                    <a:pt x="3068185" y="1095143"/>
                  </a:lnTo>
                  <a:lnTo>
                    <a:pt x="3078784" y="1087284"/>
                  </a:lnTo>
                  <a:lnTo>
                    <a:pt x="3088563" y="1078420"/>
                  </a:lnTo>
                </a:path>
                <a:path w="3128009" h="1118234">
                  <a:moveTo>
                    <a:pt x="39395" y="39382"/>
                  </a:moveTo>
                  <a:lnTo>
                    <a:pt x="15887" y="71083"/>
                  </a:lnTo>
                  <a:lnTo>
                    <a:pt x="2593" y="108237"/>
                  </a:lnTo>
                  <a:lnTo>
                    <a:pt x="0" y="134467"/>
                  </a:lnTo>
                  <a:lnTo>
                    <a:pt x="0" y="973810"/>
                  </a:lnTo>
                  <a:lnTo>
                    <a:pt x="5797" y="1022223"/>
                  </a:lnTo>
                  <a:lnTo>
                    <a:pt x="22677" y="1058041"/>
                  </a:lnTo>
                  <a:lnTo>
                    <a:pt x="30536" y="1068641"/>
                  </a:lnTo>
                  <a:lnTo>
                    <a:pt x="39395" y="1078420"/>
                  </a:lnTo>
                </a:path>
                <a:path w="3128009" h="1118234">
                  <a:moveTo>
                    <a:pt x="3088563" y="1078420"/>
                  </a:moveTo>
                  <a:lnTo>
                    <a:pt x="3112072" y="1046725"/>
                  </a:lnTo>
                  <a:lnTo>
                    <a:pt x="3125365" y="1009570"/>
                  </a:lnTo>
                  <a:lnTo>
                    <a:pt x="3127959" y="983335"/>
                  </a:lnTo>
                  <a:lnTo>
                    <a:pt x="3127959" y="143992"/>
                  </a:lnTo>
                  <a:lnTo>
                    <a:pt x="3122162" y="95584"/>
                  </a:lnTo>
                  <a:lnTo>
                    <a:pt x="3105281" y="59766"/>
                  </a:lnTo>
                  <a:lnTo>
                    <a:pt x="3097422" y="49163"/>
                  </a:lnTo>
                  <a:lnTo>
                    <a:pt x="3088563" y="39382"/>
                  </a:lnTo>
                </a:path>
              </a:pathLst>
            </a:custGeom>
            <a:ln w="19050">
              <a:solidFill>
                <a:srgbClr val="245BA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99996" y="4646740"/>
              <a:ext cx="1799996" cy="179999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9994" y="0"/>
            <a:ext cx="10332085" cy="7560309"/>
            <a:chOff x="359994" y="0"/>
            <a:chExt cx="10332085" cy="7560309"/>
          </a:xfrm>
        </p:grpSpPr>
        <p:sp>
          <p:nvSpPr>
            <p:cNvPr id="3" name="object 3"/>
            <p:cNvSpPr/>
            <p:nvPr/>
          </p:nvSpPr>
          <p:spPr>
            <a:xfrm>
              <a:off x="3239998" y="0"/>
              <a:ext cx="7452359" cy="7560309"/>
            </a:xfrm>
            <a:custGeom>
              <a:avLst/>
              <a:gdLst/>
              <a:ahLst/>
              <a:cxnLst/>
              <a:rect l="l" t="t" r="r" b="b"/>
              <a:pathLst>
                <a:path w="7452359" h="7560309">
                  <a:moveTo>
                    <a:pt x="7452004" y="0"/>
                  </a:moveTo>
                  <a:lnTo>
                    <a:pt x="252006" y="0"/>
                  </a:lnTo>
                  <a:lnTo>
                    <a:pt x="227303" y="1221"/>
                  </a:lnTo>
                  <a:lnTo>
                    <a:pt x="178850" y="10854"/>
                  </a:lnTo>
                  <a:lnTo>
                    <a:pt x="133214" y="29758"/>
                  </a:lnTo>
                  <a:lnTo>
                    <a:pt x="92138" y="57208"/>
                  </a:lnTo>
                  <a:lnTo>
                    <a:pt x="57210" y="92136"/>
                  </a:lnTo>
                  <a:lnTo>
                    <a:pt x="29769" y="133209"/>
                  </a:lnTo>
                  <a:lnTo>
                    <a:pt x="10865" y="178850"/>
                  </a:lnTo>
                  <a:lnTo>
                    <a:pt x="1223" y="227303"/>
                  </a:lnTo>
                  <a:lnTo>
                    <a:pt x="0" y="252006"/>
                  </a:lnTo>
                  <a:lnTo>
                    <a:pt x="0" y="7308049"/>
                  </a:lnTo>
                  <a:lnTo>
                    <a:pt x="4860" y="7357214"/>
                  </a:lnTo>
                  <a:lnTo>
                    <a:pt x="19189" y="7404493"/>
                  </a:lnTo>
                  <a:lnTo>
                    <a:pt x="42486" y="7448054"/>
                  </a:lnTo>
                  <a:lnTo>
                    <a:pt x="73812" y="7486243"/>
                  </a:lnTo>
                  <a:lnTo>
                    <a:pt x="112006" y="7517576"/>
                  </a:lnTo>
                  <a:lnTo>
                    <a:pt x="155562" y="7540879"/>
                  </a:lnTo>
                  <a:lnTo>
                    <a:pt x="202841" y="7555201"/>
                  </a:lnTo>
                  <a:lnTo>
                    <a:pt x="252006" y="7560056"/>
                  </a:lnTo>
                  <a:lnTo>
                    <a:pt x="7452004" y="7560056"/>
                  </a:lnTo>
                  <a:lnTo>
                    <a:pt x="74520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00005" y="5874969"/>
              <a:ext cx="6839991" cy="129600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9288005" y="6018974"/>
              <a:ext cx="1008380" cy="1008380"/>
            </a:xfrm>
            <a:custGeom>
              <a:avLst/>
              <a:gdLst/>
              <a:ahLst/>
              <a:cxnLst/>
              <a:rect l="l" t="t" r="r" b="b"/>
              <a:pathLst>
                <a:path w="1008379" h="1008379">
                  <a:moveTo>
                    <a:pt x="1007999" y="0"/>
                  </a:moveTo>
                  <a:lnTo>
                    <a:pt x="0" y="0"/>
                  </a:lnTo>
                  <a:lnTo>
                    <a:pt x="0" y="1007999"/>
                  </a:lnTo>
                  <a:lnTo>
                    <a:pt x="1007999" y="1007999"/>
                  </a:lnTo>
                  <a:lnTo>
                    <a:pt x="100799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0994" y="1168070"/>
              <a:ext cx="2499004" cy="129600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0994" y="2644076"/>
              <a:ext cx="2499004" cy="43199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40994" y="3256077"/>
              <a:ext cx="2499004" cy="863993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59994" y="359994"/>
              <a:ext cx="2519997" cy="692124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740994" y="1168070"/>
            <a:ext cx="2499360" cy="1296035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919"/>
              </a:spcBef>
            </a:pP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Переговоры</a:t>
            </a:r>
            <a:endParaRPr sz="11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730"/>
              </a:spcBef>
            </a:pPr>
            <a:endParaRPr sz="1100">
              <a:latin typeface="Century Gothic"/>
              <a:cs typeface="Century Gothic"/>
            </a:endParaRPr>
          </a:p>
          <a:p>
            <a:pPr marL="503555">
              <a:lnSpc>
                <a:spcPct val="100000"/>
              </a:lnSpc>
            </a:pP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Статистика</a:t>
            </a:r>
            <a:endParaRPr sz="11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735"/>
              </a:spcBef>
            </a:pPr>
            <a:endParaRPr sz="1100">
              <a:latin typeface="Century Gothic"/>
              <a:cs typeface="Century Gothic"/>
            </a:endParaRPr>
          </a:p>
          <a:p>
            <a:pPr marL="503555">
              <a:lnSpc>
                <a:spcPct val="100000"/>
              </a:lnSpc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Как</a:t>
            </a:r>
            <a:r>
              <a:rPr sz="1100" spc="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заключить</a:t>
            </a:r>
            <a:r>
              <a:rPr sz="1100" spc="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контракт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32293" y="2748204"/>
            <a:ext cx="45593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245BA9"/>
                </a:solidFill>
                <a:latin typeface="Century Gothic"/>
                <a:cs typeface="Century Gothic"/>
              </a:rPr>
              <a:t>О </a:t>
            </a:r>
            <a:r>
              <a:rPr sz="1100" spc="-25" dirty="0">
                <a:solidFill>
                  <a:srgbClr val="245BA9"/>
                </a:solidFill>
                <a:latin typeface="Century Gothic"/>
                <a:cs typeface="Century Gothic"/>
              </a:rPr>
              <a:t>нас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40994" y="3256077"/>
            <a:ext cx="2499360" cy="864235"/>
          </a:xfrm>
          <a:prstGeom prst="rect">
            <a:avLst/>
          </a:prstGeom>
        </p:spPr>
        <p:txBody>
          <a:bodyPr vert="horz" wrap="square" lIns="0" tIns="116840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920"/>
              </a:spcBef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Фотоотчет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и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отзывы</a:t>
            </a:r>
            <a:endParaRPr sz="11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730"/>
              </a:spcBef>
            </a:pPr>
            <a:endParaRPr sz="1100">
              <a:latin typeface="Century Gothic"/>
              <a:cs typeface="Century Gothic"/>
            </a:endParaRPr>
          </a:p>
          <a:p>
            <a:pPr marL="503555">
              <a:lnSpc>
                <a:spcPct val="100000"/>
              </a:lnSpc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Контакты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и</a:t>
            </a:r>
            <a:r>
              <a:rPr sz="1100" spc="-3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тарифы</a:t>
            </a:r>
            <a:endParaRPr sz="1100">
              <a:latin typeface="Century Gothic"/>
              <a:cs typeface="Century Gothic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59994" y="6054966"/>
            <a:ext cx="9900285" cy="989330"/>
            <a:chOff x="359994" y="6054966"/>
            <a:chExt cx="9900285" cy="989330"/>
          </a:xfrm>
        </p:grpSpPr>
        <p:sp>
          <p:nvSpPr>
            <p:cNvPr id="14" name="object 14"/>
            <p:cNvSpPr/>
            <p:nvPr/>
          </p:nvSpPr>
          <p:spPr>
            <a:xfrm>
              <a:off x="364756" y="6688785"/>
              <a:ext cx="802005" cy="350520"/>
            </a:xfrm>
            <a:custGeom>
              <a:avLst/>
              <a:gdLst/>
              <a:ahLst/>
              <a:cxnLst/>
              <a:rect l="l" t="t" r="r" b="b"/>
              <a:pathLst>
                <a:path w="802005" h="350520">
                  <a:moveTo>
                    <a:pt x="750214" y="51320"/>
                  </a:moveTo>
                  <a:lnTo>
                    <a:pt x="708907" y="20691"/>
                  </a:lnTo>
                  <a:lnTo>
                    <a:pt x="660493" y="3376"/>
                  </a:lnTo>
                  <a:lnTo>
                    <a:pt x="626313" y="0"/>
                  </a:lnTo>
                  <a:lnTo>
                    <a:pt x="175221" y="0"/>
                  </a:lnTo>
                  <a:lnTo>
                    <a:pt x="124360" y="7549"/>
                  </a:lnTo>
                  <a:lnTo>
                    <a:pt x="77881" y="29537"/>
                  </a:lnTo>
                  <a:lnTo>
                    <a:pt x="64065" y="39777"/>
                  </a:lnTo>
                  <a:lnTo>
                    <a:pt x="51320" y="51320"/>
                  </a:lnTo>
                </a:path>
                <a:path w="802005" h="350520">
                  <a:moveTo>
                    <a:pt x="51320" y="299161"/>
                  </a:moveTo>
                  <a:lnTo>
                    <a:pt x="92627" y="329779"/>
                  </a:lnTo>
                  <a:lnTo>
                    <a:pt x="141041" y="347092"/>
                  </a:lnTo>
                  <a:lnTo>
                    <a:pt x="175221" y="350469"/>
                  </a:lnTo>
                  <a:lnTo>
                    <a:pt x="621550" y="350469"/>
                  </a:lnTo>
                  <a:lnTo>
                    <a:pt x="659898" y="347092"/>
                  </a:lnTo>
                  <a:lnTo>
                    <a:pt x="708907" y="329779"/>
                  </a:lnTo>
                  <a:lnTo>
                    <a:pt x="737469" y="310702"/>
                  </a:lnTo>
                  <a:lnTo>
                    <a:pt x="750214" y="299161"/>
                  </a:lnTo>
                </a:path>
                <a:path w="802005" h="350520">
                  <a:moveTo>
                    <a:pt x="51320" y="51320"/>
                  </a:moveTo>
                  <a:lnTo>
                    <a:pt x="20702" y="92627"/>
                  </a:lnTo>
                  <a:lnTo>
                    <a:pt x="3382" y="141041"/>
                  </a:lnTo>
                  <a:lnTo>
                    <a:pt x="0" y="175221"/>
                  </a:lnTo>
                  <a:lnTo>
                    <a:pt x="0" y="170497"/>
                  </a:lnTo>
                  <a:lnTo>
                    <a:pt x="3382" y="208843"/>
                  </a:lnTo>
                  <a:lnTo>
                    <a:pt x="20702" y="257847"/>
                  </a:lnTo>
                  <a:lnTo>
                    <a:pt x="39779" y="286410"/>
                  </a:lnTo>
                  <a:lnTo>
                    <a:pt x="51320" y="299161"/>
                  </a:lnTo>
                </a:path>
                <a:path w="802005" h="350520">
                  <a:moveTo>
                    <a:pt x="750214" y="299161"/>
                  </a:moveTo>
                  <a:lnTo>
                    <a:pt x="780832" y="257847"/>
                  </a:lnTo>
                  <a:lnTo>
                    <a:pt x="798156" y="209438"/>
                  </a:lnTo>
                  <a:lnTo>
                    <a:pt x="801535" y="175260"/>
                  </a:lnTo>
                  <a:lnTo>
                    <a:pt x="801535" y="179984"/>
                  </a:lnTo>
                  <a:lnTo>
                    <a:pt x="798156" y="141636"/>
                  </a:lnTo>
                  <a:lnTo>
                    <a:pt x="780832" y="92627"/>
                  </a:lnTo>
                  <a:lnTo>
                    <a:pt x="761755" y="64065"/>
                  </a:lnTo>
                  <a:lnTo>
                    <a:pt x="750214" y="51320"/>
                  </a:lnTo>
                </a:path>
              </a:pathLst>
            </a:custGeom>
            <a:ln w="9525">
              <a:solidFill>
                <a:srgbClr val="9CC9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323997" y="6054966"/>
              <a:ext cx="936002" cy="936002"/>
            </a:xfrm>
            <a:prstGeom prst="rect">
              <a:avLst/>
            </a:prstGeom>
          </p:spPr>
        </p:pic>
      </p:grp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3587305" y="361112"/>
            <a:ext cx="458279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Мы</a:t>
            </a:r>
            <a:r>
              <a:rPr spc="-50" dirty="0"/>
              <a:t> </a:t>
            </a:r>
            <a:r>
              <a:rPr spc="-45" dirty="0"/>
              <a:t>работаем </a:t>
            </a:r>
            <a:r>
              <a:rPr spc="135" dirty="0"/>
              <a:t>для</a:t>
            </a:r>
            <a:r>
              <a:rPr spc="-50" dirty="0"/>
              <a:t> </a:t>
            </a:r>
            <a:r>
              <a:rPr spc="-25" dirty="0"/>
              <a:t>Вас</a:t>
            </a:r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xfrm>
            <a:off x="600163" y="6789623"/>
            <a:ext cx="305434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00"/>
              </a:lnSpc>
            </a:pPr>
            <a:fld id="{81D60167-4931-47E6-BA6A-407CBD079E47}" type="slidenum">
              <a:rPr dirty="0">
                <a:solidFill>
                  <a:srgbClr val="FFFFFF"/>
                </a:solidFill>
              </a:rPr>
              <a:pPr marL="38100">
                <a:lnSpc>
                  <a:spcPts val="1200"/>
                </a:lnSpc>
              </a:pPr>
              <a:t>5</a:t>
            </a:fld>
            <a:r>
              <a:rPr dirty="0"/>
              <a:t>/</a:t>
            </a:r>
            <a:r>
              <a:rPr spc="-5" dirty="0"/>
              <a:t> </a:t>
            </a:r>
            <a:r>
              <a:rPr lang="en-US" spc="-5" dirty="0" smtClean="0"/>
              <a:t>8</a:t>
            </a:r>
            <a:endParaRPr spc="-50" dirty="0"/>
          </a:p>
        </p:txBody>
      </p:sp>
      <p:sp>
        <p:nvSpPr>
          <p:cNvPr id="17" name="object 17"/>
          <p:cNvSpPr txBox="1"/>
          <p:nvPr/>
        </p:nvSpPr>
        <p:spPr>
          <a:xfrm>
            <a:off x="3587305" y="813282"/>
            <a:ext cx="1169035" cy="1146175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4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4000" dirty="0">
                <a:solidFill>
                  <a:srgbClr val="245BA9"/>
                </a:solidFill>
                <a:latin typeface="Century Gothic"/>
                <a:cs typeface="Century Gothic"/>
              </a:rPr>
              <a:t>35</a:t>
            </a:r>
            <a:r>
              <a:rPr sz="4000" spc="-335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400" spc="-20" dirty="0">
                <a:solidFill>
                  <a:srgbClr val="245BA9"/>
                </a:solidFill>
                <a:latin typeface="Century Gothic"/>
                <a:cs typeface="Century Gothic"/>
              </a:rPr>
              <a:t>года</a:t>
            </a:r>
            <a:endParaRPr sz="14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sz="1000" dirty="0">
                <a:latin typeface="Century Gothic"/>
                <a:cs typeface="Century Gothic"/>
              </a:rPr>
              <a:t>работы</a:t>
            </a:r>
            <a:r>
              <a:rPr sz="1000" spc="-40" dirty="0">
                <a:latin typeface="Century Gothic"/>
                <a:cs typeface="Century Gothic"/>
              </a:rPr>
              <a:t> </a:t>
            </a:r>
            <a:r>
              <a:rPr sz="1000" spc="-20" dirty="0">
                <a:latin typeface="Century Gothic"/>
                <a:cs typeface="Century Gothic"/>
              </a:rPr>
              <a:t>компании</a:t>
            </a:r>
            <a:endParaRPr sz="1000">
              <a:latin typeface="Century Gothic"/>
              <a:cs typeface="Century Gothic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587305" y="1874989"/>
            <a:ext cx="1442720" cy="1146175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4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4000" dirty="0">
                <a:solidFill>
                  <a:srgbClr val="245BA9"/>
                </a:solidFill>
                <a:latin typeface="Century Gothic"/>
                <a:cs typeface="Century Gothic"/>
              </a:rPr>
              <a:t>26</a:t>
            </a:r>
            <a:r>
              <a:rPr sz="4000" spc="-335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400" spc="-25" dirty="0">
                <a:solidFill>
                  <a:srgbClr val="245BA9"/>
                </a:solidFill>
                <a:latin typeface="Century Gothic"/>
                <a:cs typeface="Century Gothic"/>
              </a:rPr>
              <a:t>лет</a:t>
            </a:r>
            <a:endParaRPr sz="14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sz="1000" dirty="0">
                <a:latin typeface="Century Gothic"/>
                <a:cs typeface="Century Gothic"/>
              </a:rPr>
              <a:t>деловых</a:t>
            </a:r>
            <a:r>
              <a:rPr sz="1000" spc="160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переговоров</a:t>
            </a:r>
            <a:endParaRPr sz="1000">
              <a:latin typeface="Century Gothic"/>
              <a:cs typeface="Century Gothic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187298" y="813282"/>
            <a:ext cx="3341002" cy="1552348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45"/>
              </a:spcBef>
            </a:pPr>
            <a:endParaRPr sz="1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lang="en-US" sz="4000" dirty="0" smtClean="0">
                <a:solidFill>
                  <a:srgbClr val="245BA9"/>
                </a:solidFill>
                <a:latin typeface="Century Gothic"/>
                <a:cs typeface="Century Gothic"/>
              </a:rPr>
              <a:t>566.61 контрактовзаключено в категории«Полезные снеки»</a:t>
            </a:r>
            <a:r>
              <a:rPr sz="4000" spc="-335" dirty="0" smtClean="0">
                <a:solidFill>
                  <a:srgbClr val="245BA9"/>
                </a:solidFill>
                <a:latin typeface="Century Gothic"/>
                <a:cs typeface="Century Gothic"/>
              </a:rPr>
              <a:t/>
            </a:r>
            <a:r>
              <a:rPr sz="1400" spc="-10" dirty="0" err="1" smtClean="0">
                <a:solidFill>
                  <a:srgbClr val="245BA9"/>
                </a:solidFill>
                <a:latin typeface="Century Gothic"/>
                <a:cs typeface="Century Gothic"/>
              </a:rPr>
              <a:t/>
            </a:r>
            <a:endParaRPr sz="1400" dirty="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sz="1000" dirty="0">
                <a:latin typeface="Century Gothic"/>
                <a:cs typeface="Century Gothic"/>
              </a:rPr>
              <a:t/>
            </a:r>
            <a:r>
              <a:rPr sz="1000" spc="55" dirty="0">
                <a:latin typeface="Century Gothic"/>
                <a:cs typeface="Century Gothic"/>
              </a:rPr>
              <a:t/>
            </a:r>
            <a:r>
              <a:rPr sz="1000" spc="65" dirty="0">
                <a:latin typeface="Century Gothic"/>
                <a:cs typeface="Century Gothic"/>
              </a:rPr>
              <a:t/>
            </a:r>
            <a:r>
              <a:rPr sz="1000" spc="55" dirty="0">
                <a:latin typeface="Century Gothic"/>
                <a:cs typeface="Century Gothic"/>
              </a:rPr>
              <a:t/>
            </a:r>
            <a:r>
              <a:rPr sz="1000" spc="-10" dirty="0">
                <a:latin typeface="Century Gothic"/>
                <a:cs typeface="Century Gothic"/>
              </a:rPr>
              <a:t/>
            </a:r>
            <a:endParaRPr sz="1000" dirty="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lang="en-US" sz="1000" spc="-20" dirty="0" smtClean="0">
                <a:latin typeface="Century Gothic"/>
                <a:cs typeface="Century Gothic"/>
              </a:rPr>
              <a:t/>
            </a:r>
            <a:r>
              <a:rPr lang="en-US" sz="1000" spc="-20" dirty="0" smtClean="0">
                <a:latin typeface="Century Gothic"/>
                <a:cs typeface="Century Gothic"/>
              </a:rPr>
              <a:t/>
            </a:r>
            <a:r>
              <a:rPr lang="ru-RU" sz="1000" spc="-20" dirty="0" smtClean="0">
                <a:latin typeface="Century Gothic"/>
                <a:cs typeface="Century Gothic"/>
              </a:rPr>
              <a:t/>
            </a:r>
            <a:r>
              <a:rPr lang="en-US" sz="1000" spc="-20" dirty="0" smtClean="0">
                <a:latin typeface="Century Gothic"/>
                <a:cs typeface="Century Gothic"/>
              </a:rPr>
              <a:t/>
            </a:r>
            <a:endParaRPr sz="1000" dirty="0">
              <a:latin typeface="Century Gothic"/>
              <a:cs typeface="Century Gothic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251700" y="2028825"/>
            <a:ext cx="3251200" cy="1146175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45"/>
              </a:spcBef>
            </a:pPr>
            <a:endParaRPr sz="1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4000" dirty="0">
                <a:solidFill>
                  <a:srgbClr val="245BA9"/>
                </a:solidFill>
                <a:latin typeface="Century Gothic"/>
                <a:cs typeface="Century Gothic"/>
              </a:rPr>
              <a:t>340</a:t>
            </a:r>
            <a:r>
              <a:rPr sz="4000" spc="-325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400" dirty="0">
                <a:solidFill>
                  <a:srgbClr val="245BA9"/>
                </a:solidFill>
                <a:latin typeface="Century Gothic"/>
                <a:cs typeface="Century Gothic"/>
              </a:rPr>
              <a:t>Центров</a:t>
            </a:r>
            <a:r>
              <a:rPr sz="1400" spc="10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400" spc="-20" dirty="0">
                <a:solidFill>
                  <a:srgbClr val="245BA9"/>
                </a:solidFill>
                <a:latin typeface="Century Gothic"/>
                <a:cs typeface="Century Gothic"/>
              </a:rPr>
              <a:t>Закупок</a:t>
            </a:r>
            <a:r>
              <a:rPr sz="1400" spc="5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400" spc="-10" dirty="0">
                <a:solidFill>
                  <a:srgbClr val="245BA9"/>
                </a:solidFill>
                <a:latin typeface="Century Gothic"/>
                <a:cs typeface="Century Gothic"/>
              </a:rPr>
              <a:t>Сетей™</a:t>
            </a:r>
            <a:endParaRPr sz="1400" dirty="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sz="1000" dirty="0">
                <a:latin typeface="Century Gothic"/>
                <a:cs typeface="Century Gothic"/>
              </a:rPr>
              <a:t>проведено</a:t>
            </a:r>
            <a:r>
              <a:rPr sz="1000" spc="110" dirty="0">
                <a:latin typeface="Century Gothic"/>
                <a:cs typeface="Century Gothic"/>
              </a:rPr>
              <a:t> </a:t>
            </a:r>
            <a:r>
              <a:rPr sz="1000" spc="-20" dirty="0">
                <a:latin typeface="Century Gothic"/>
                <a:cs typeface="Century Gothic"/>
              </a:rPr>
              <a:t>нами</a:t>
            </a:r>
            <a:endParaRPr sz="1000" dirty="0">
              <a:latin typeface="Century Gothic"/>
              <a:cs typeface="Century Gothic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587305" y="3455175"/>
            <a:ext cx="2116455" cy="2225675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 marR="521970">
              <a:lnSpc>
                <a:spcPts val="1800"/>
              </a:lnSpc>
              <a:spcBef>
                <a:spcPts val="459"/>
              </a:spcBef>
            </a:pPr>
            <a:r>
              <a:rPr sz="1800" spc="-10" dirty="0">
                <a:solidFill>
                  <a:srgbClr val="245BA9"/>
                </a:solidFill>
                <a:latin typeface="Century Gothic"/>
                <a:cs typeface="Century Gothic"/>
              </a:rPr>
              <a:t>Новые предложения рынка</a:t>
            </a:r>
            <a:endParaRPr sz="1800" dirty="0">
              <a:latin typeface="Century Gothic"/>
              <a:cs typeface="Century Gothic"/>
            </a:endParaRPr>
          </a:p>
          <a:p>
            <a:pPr marL="12700" marR="5080">
              <a:lnSpc>
                <a:spcPct val="115700"/>
              </a:lnSpc>
              <a:spcBef>
                <a:spcPts val="869"/>
              </a:spcBef>
            </a:pPr>
            <a:r>
              <a:rPr sz="1100" spc="-10" dirty="0">
                <a:latin typeface="Century Gothic"/>
                <a:cs typeface="Century Gothic"/>
              </a:rPr>
              <a:t>Категорийные</a:t>
            </a:r>
            <a:r>
              <a:rPr sz="1100" spc="40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менеджеры </a:t>
            </a:r>
            <a:r>
              <a:rPr sz="1100" dirty="0">
                <a:latin typeface="Century Gothic"/>
                <a:cs typeface="Century Gothic"/>
              </a:rPr>
              <a:t>сетей</a:t>
            </a:r>
            <a:r>
              <a:rPr sz="1100" spc="-25" dirty="0">
                <a:latin typeface="Century Gothic"/>
                <a:cs typeface="Century Gothic"/>
              </a:rPr>
              <a:t> </a:t>
            </a:r>
            <a:r>
              <a:rPr sz="1100" spc="-50" dirty="0">
                <a:latin typeface="Century Gothic"/>
                <a:cs typeface="Century Gothic"/>
              </a:rPr>
              <a:t>ищут</a:t>
            </a:r>
            <a:r>
              <a:rPr sz="1100" spc="-20" dirty="0">
                <a:latin typeface="Century Gothic"/>
                <a:cs typeface="Century Gothic"/>
              </a:rPr>
              <a:t> </a:t>
            </a:r>
            <a:r>
              <a:rPr sz="1100" spc="70" dirty="0">
                <a:latin typeface="Century Gothic"/>
                <a:cs typeface="Century Gothic"/>
              </a:rPr>
              <a:t>в</a:t>
            </a:r>
            <a:r>
              <a:rPr sz="1100" spc="-25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ЦЗС</a:t>
            </a:r>
            <a:r>
              <a:rPr sz="1100" spc="-20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свежие </a:t>
            </a:r>
            <a:r>
              <a:rPr sz="1100" dirty="0">
                <a:latin typeface="Century Gothic"/>
                <a:cs typeface="Century Gothic"/>
              </a:rPr>
              <a:t>продукты</a:t>
            </a:r>
            <a:r>
              <a:rPr sz="1100" spc="30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и</a:t>
            </a:r>
            <a:r>
              <a:rPr sz="1100" spc="35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новые</a:t>
            </a:r>
            <a:r>
              <a:rPr sz="1100" spc="35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бренды. </a:t>
            </a:r>
            <a:r>
              <a:rPr sz="1100" spc="-50" dirty="0">
                <a:latin typeface="Century Gothic"/>
                <a:cs typeface="Century Gothic"/>
              </a:rPr>
              <a:t>Ваш</a:t>
            </a:r>
            <a:r>
              <a:rPr sz="1100" spc="-20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товар,</a:t>
            </a:r>
            <a:r>
              <a:rPr sz="1100" spc="-20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отсутствующий</a:t>
            </a:r>
            <a:r>
              <a:rPr sz="1100" spc="-20" dirty="0">
                <a:latin typeface="Century Gothic"/>
                <a:cs typeface="Century Gothic"/>
              </a:rPr>
              <a:t> </a:t>
            </a:r>
            <a:r>
              <a:rPr sz="1100" spc="-25" dirty="0">
                <a:latin typeface="Century Gothic"/>
                <a:cs typeface="Century Gothic"/>
              </a:rPr>
              <a:t>на </a:t>
            </a:r>
            <a:r>
              <a:rPr sz="1100" spc="-10" dirty="0">
                <a:latin typeface="Century Gothic"/>
                <a:cs typeface="Century Gothic"/>
              </a:rPr>
              <a:t>полках,</a:t>
            </a:r>
            <a:r>
              <a:rPr sz="1100" spc="-15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—</a:t>
            </a:r>
            <a:r>
              <a:rPr sz="1100" spc="-10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это</a:t>
            </a:r>
            <a:r>
              <a:rPr sz="1100" spc="-10" dirty="0">
                <a:latin typeface="Century Gothic"/>
                <a:cs typeface="Century Gothic"/>
              </a:rPr>
              <a:t> конкурентное </a:t>
            </a:r>
            <a:r>
              <a:rPr sz="1100" spc="-30" dirty="0">
                <a:latin typeface="Century Gothic"/>
                <a:cs typeface="Century Gothic"/>
              </a:rPr>
              <a:t>преимущество</a:t>
            </a:r>
            <a:r>
              <a:rPr sz="1100" spc="15" dirty="0">
                <a:latin typeface="Century Gothic"/>
                <a:cs typeface="Century Gothic"/>
              </a:rPr>
              <a:t> </a:t>
            </a:r>
            <a:r>
              <a:rPr sz="1100" spc="-25" dirty="0">
                <a:latin typeface="Century Gothic"/>
                <a:cs typeface="Century Gothic"/>
              </a:rPr>
              <a:t>для </a:t>
            </a:r>
            <a:r>
              <a:rPr sz="1100" spc="-10" dirty="0">
                <a:latin typeface="Century Gothic"/>
                <a:cs typeface="Century Gothic"/>
              </a:rPr>
              <a:t>переговоров.</a:t>
            </a:r>
            <a:endParaRPr sz="1100" dirty="0">
              <a:latin typeface="Century Gothic"/>
              <a:cs typeface="Century Gothic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783300" y="3455175"/>
            <a:ext cx="1917700" cy="203200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 marR="85090" algn="just">
              <a:lnSpc>
                <a:spcPts val="1800"/>
              </a:lnSpc>
              <a:spcBef>
                <a:spcPts val="459"/>
              </a:spcBef>
            </a:pPr>
            <a:r>
              <a:rPr sz="1800" dirty="0">
                <a:solidFill>
                  <a:srgbClr val="245BA9"/>
                </a:solidFill>
                <a:latin typeface="Century Gothic"/>
                <a:cs typeface="Century Gothic"/>
              </a:rPr>
              <a:t>Выверенный</a:t>
            </a:r>
            <a:r>
              <a:rPr sz="1800" spc="110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800" spc="-25" dirty="0">
                <a:solidFill>
                  <a:srgbClr val="245BA9"/>
                </a:solidFill>
                <a:latin typeface="Century Gothic"/>
                <a:cs typeface="Century Gothic"/>
              </a:rPr>
              <a:t>за </a:t>
            </a:r>
            <a:r>
              <a:rPr sz="1800" dirty="0">
                <a:solidFill>
                  <a:srgbClr val="245BA9"/>
                </a:solidFill>
                <a:latin typeface="Century Gothic"/>
                <a:cs typeface="Century Gothic"/>
              </a:rPr>
              <a:t>25</a:t>
            </a:r>
            <a:r>
              <a:rPr sz="1800" spc="-10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245BA9"/>
                </a:solidFill>
                <a:latin typeface="Century Gothic"/>
                <a:cs typeface="Century Gothic"/>
              </a:rPr>
              <a:t>лет</a:t>
            </a:r>
            <a:r>
              <a:rPr sz="1800" spc="-10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800" spc="-40" dirty="0">
                <a:solidFill>
                  <a:srgbClr val="245BA9"/>
                </a:solidFill>
                <a:latin typeface="Century Gothic"/>
                <a:cs typeface="Century Gothic"/>
              </a:rPr>
              <a:t>алгоритм </a:t>
            </a:r>
            <a:r>
              <a:rPr sz="1800" spc="-10" dirty="0">
                <a:solidFill>
                  <a:srgbClr val="245BA9"/>
                </a:solidFill>
                <a:latin typeface="Century Gothic"/>
                <a:cs typeface="Century Gothic"/>
              </a:rPr>
              <a:t>переговоров</a:t>
            </a:r>
            <a:endParaRPr sz="1800" dirty="0">
              <a:latin typeface="Century Gothic"/>
              <a:cs typeface="Century Gothic"/>
            </a:endParaRPr>
          </a:p>
          <a:p>
            <a:pPr marL="12700" marR="5080">
              <a:lnSpc>
                <a:spcPct val="115700"/>
              </a:lnSpc>
              <a:spcBef>
                <a:spcPts val="869"/>
              </a:spcBef>
            </a:pPr>
            <a:r>
              <a:rPr sz="1100" spc="-60" dirty="0">
                <a:latin typeface="Century Gothic"/>
                <a:cs typeface="Century Gothic"/>
              </a:rPr>
              <a:t>Наш</a:t>
            </a:r>
            <a:r>
              <a:rPr sz="1100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автоматизированный </a:t>
            </a:r>
            <a:r>
              <a:rPr sz="1100" spc="-95" dirty="0">
                <a:latin typeface="Century Gothic"/>
                <a:cs typeface="Century Gothic"/>
              </a:rPr>
              <a:t>формат</a:t>
            </a:r>
            <a:r>
              <a:rPr sz="1100" dirty="0">
                <a:latin typeface="Century Gothic"/>
                <a:cs typeface="Century Gothic"/>
              </a:rPr>
              <a:t> КП</a:t>
            </a:r>
            <a:r>
              <a:rPr sz="1100" spc="5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и</a:t>
            </a:r>
            <a:r>
              <a:rPr sz="1100" spc="5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договоров </a:t>
            </a:r>
            <a:r>
              <a:rPr sz="1100" dirty="0">
                <a:latin typeface="Century Gothic"/>
                <a:cs typeface="Century Gothic"/>
              </a:rPr>
              <a:t>признан</a:t>
            </a:r>
            <a:r>
              <a:rPr sz="1100" spc="15" dirty="0">
                <a:latin typeface="Century Gothic"/>
                <a:cs typeface="Century Gothic"/>
              </a:rPr>
              <a:t> </a:t>
            </a:r>
            <a:r>
              <a:rPr sz="1100" spc="-20" dirty="0">
                <a:latin typeface="Century Gothic"/>
                <a:cs typeface="Century Gothic"/>
              </a:rPr>
              <a:t>крупными</a:t>
            </a:r>
            <a:r>
              <a:rPr sz="1100" spc="20" dirty="0">
                <a:latin typeface="Century Gothic"/>
                <a:cs typeface="Century Gothic"/>
              </a:rPr>
              <a:t> </a:t>
            </a:r>
            <a:r>
              <a:rPr sz="1100" spc="-25" dirty="0">
                <a:latin typeface="Century Gothic"/>
                <a:cs typeface="Century Gothic"/>
              </a:rPr>
              <a:t>сетями. </a:t>
            </a:r>
            <a:r>
              <a:rPr sz="1100" dirty="0">
                <a:latin typeface="Century Gothic"/>
                <a:cs typeface="Century Gothic"/>
              </a:rPr>
              <a:t>Используйте</a:t>
            </a:r>
            <a:r>
              <a:rPr sz="1100" spc="65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готовое </a:t>
            </a:r>
            <a:r>
              <a:rPr sz="1100" spc="-20" dirty="0">
                <a:latin typeface="Century Gothic"/>
                <a:cs typeface="Century Gothic"/>
              </a:rPr>
              <a:t>решение</a:t>
            </a:r>
            <a:r>
              <a:rPr sz="1100" spc="60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для</a:t>
            </a:r>
            <a:r>
              <a:rPr sz="1100" spc="60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быстрого </a:t>
            </a:r>
            <a:r>
              <a:rPr sz="1100" dirty="0">
                <a:latin typeface="Century Gothic"/>
                <a:cs typeface="Century Gothic"/>
              </a:rPr>
              <a:t>заключения</a:t>
            </a:r>
            <a:r>
              <a:rPr sz="1100" spc="190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сделок</a:t>
            </a:r>
            <a:endParaRPr sz="1100" dirty="0">
              <a:latin typeface="Century Gothic"/>
              <a:cs typeface="Century Gothic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835303" y="3455175"/>
            <a:ext cx="2061845" cy="1837689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 marR="520700">
              <a:lnSpc>
                <a:spcPts val="1800"/>
              </a:lnSpc>
              <a:spcBef>
                <a:spcPts val="459"/>
              </a:spcBef>
            </a:pPr>
            <a:r>
              <a:rPr sz="1800" dirty="0">
                <a:solidFill>
                  <a:srgbClr val="245BA9"/>
                </a:solidFill>
                <a:latin typeface="Century Gothic"/>
                <a:cs typeface="Century Gothic"/>
              </a:rPr>
              <a:t>40</a:t>
            </a:r>
            <a:r>
              <a:rPr sz="1800" spc="25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245BA9"/>
                </a:solidFill>
                <a:latin typeface="Century Gothic"/>
                <a:cs typeface="Century Gothic"/>
              </a:rPr>
              <a:t>из</a:t>
            </a:r>
            <a:r>
              <a:rPr sz="1800" spc="30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800" spc="-25" dirty="0">
                <a:solidFill>
                  <a:srgbClr val="245BA9"/>
                </a:solidFill>
                <a:latin typeface="Century Gothic"/>
                <a:cs typeface="Century Gothic"/>
              </a:rPr>
              <a:t>50 </a:t>
            </a:r>
            <a:r>
              <a:rPr sz="1800" spc="-10" dirty="0">
                <a:solidFill>
                  <a:srgbClr val="245BA9"/>
                </a:solidFill>
                <a:latin typeface="Century Gothic"/>
                <a:cs typeface="Century Gothic"/>
              </a:rPr>
              <a:t>переговоров успешные</a:t>
            </a:r>
            <a:endParaRPr sz="1800" dirty="0">
              <a:latin typeface="Century Gothic"/>
              <a:cs typeface="Century Gothic"/>
            </a:endParaRPr>
          </a:p>
          <a:p>
            <a:pPr marL="12700" marR="5080">
              <a:lnSpc>
                <a:spcPct val="115700"/>
              </a:lnSpc>
              <a:spcBef>
                <a:spcPts val="869"/>
              </a:spcBef>
            </a:pPr>
            <a:r>
              <a:rPr sz="1100" spc="-30" dirty="0">
                <a:latin typeface="Century Gothic"/>
                <a:cs typeface="Century Gothic"/>
              </a:rPr>
              <a:t>Наша</a:t>
            </a:r>
            <a:r>
              <a:rPr sz="1100" spc="-40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методика</a:t>
            </a:r>
            <a:r>
              <a:rPr sz="1100" spc="-35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готовит </a:t>
            </a:r>
            <a:r>
              <a:rPr sz="1100" dirty="0">
                <a:latin typeface="Century Gothic"/>
                <a:cs typeface="Century Gothic"/>
              </a:rPr>
              <a:t>поставщиков</a:t>
            </a:r>
            <a:r>
              <a:rPr sz="1100" spc="-45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и</a:t>
            </a:r>
            <a:r>
              <a:rPr sz="1100" spc="-45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отбирает </a:t>
            </a:r>
            <a:r>
              <a:rPr sz="1100" dirty="0">
                <a:latin typeface="Century Gothic"/>
                <a:cs typeface="Century Gothic"/>
              </a:rPr>
              <a:t>товары</a:t>
            </a:r>
            <a:r>
              <a:rPr sz="1100" spc="45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под</a:t>
            </a:r>
            <a:r>
              <a:rPr sz="1100" spc="45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ожидания</a:t>
            </a:r>
            <a:r>
              <a:rPr sz="1100" spc="45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сетей, </a:t>
            </a:r>
            <a:r>
              <a:rPr sz="1100" dirty="0">
                <a:latin typeface="Century Gothic"/>
                <a:cs typeface="Century Gothic"/>
              </a:rPr>
              <a:t>что</a:t>
            </a:r>
            <a:r>
              <a:rPr sz="1100" spc="70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обеспечивает</a:t>
            </a:r>
            <a:r>
              <a:rPr sz="1100" spc="70" dirty="0">
                <a:latin typeface="Century Gothic"/>
                <a:cs typeface="Century Gothic"/>
              </a:rPr>
              <a:t> </a:t>
            </a:r>
            <a:r>
              <a:rPr sz="1100" spc="-25" dirty="0">
                <a:latin typeface="Century Gothic"/>
                <a:cs typeface="Century Gothic"/>
              </a:rPr>
              <a:t>80% </a:t>
            </a:r>
            <a:r>
              <a:rPr sz="1100" dirty="0">
                <a:latin typeface="Century Gothic"/>
                <a:cs typeface="Century Gothic"/>
              </a:rPr>
              <a:t>успеха </a:t>
            </a:r>
            <a:r>
              <a:rPr sz="1100" spc="-10" dirty="0">
                <a:latin typeface="Century Gothic"/>
                <a:cs typeface="Century Gothic"/>
              </a:rPr>
              <a:t>переговоров.</a:t>
            </a:r>
            <a:endParaRPr sz="1100" dirty="0">
              <a:latin typeface="Century Gothic"/>
              <a:cs typeface="Century Gothic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949801" y="5974461"/>
            <a:ext cx="4628515" cy="7308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41680" marR="5080" indent="-728980">
              <a:lnSpc>
                <a:spcPct val="115700"/>
              </a:lnSpc>
              <a:spcBef>
                <a:spcPts val="100"/>
              </a:spcBef>
            </a:pPr>
            <a:r>
              <a:rPr sz="2000" dirty="0">
                <a:solidFill>
                  <a:srgbClr val="FFFFFF"/>
                </a:solidFill>
                <a:latin typeface="Century Gothic"/>
                <a:cs typeface="Century Gothic"/>
              </a:rPr>
              <a:t>Получите</a:t>
            </a:r>
            <a:r>
              <a:rPr sz="2000" spc="-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000" dirty="0">
                <a:solidFill>
                  <a:srgbClr val="FFFFFF"/>
                </a:solidFill>
                <a:latin typeface="Century Gothic"/>
                <a:cs typeface="Century Gothic"/>
              </a:rPr>
              <a:t>доступ к</a:t>
            </a:r>
            <a:r>
              <a:rPr sz="2000" spc="-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000" spc="-75" dirty="0">
                <a:solidFill>
                  <a:srgbClr val="FFFFFF"/>
                </a:solidFill>
                <a:latin typeface="Century Gothic"/>
                <a:cs typeface="Century Gothic"/>
              </a:rPr>
              <a:t>этим</a:t>
            </a:r>
            <a:r>
              <a:rPr sz="200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000" spc="-30" dirty="0">
                <a:solidFill>
                  <a:srgbClr val="FFFFFF"/>
                </a:solidFill>
                <a:latin typeface="Century Gothic"/>
                <a:cs typeface="Century Gothic"/>
              </a:rPr>
              <a:t>ресурсам</a:t>
            </a:r>
            <a:r>
              <a:rPr sz="200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000" spc="80" dirty="0">
                <a:solidFill>
                  <a:srgbClr val="FFFFFF"/>
                </a:solidFill>
                <a:latin typeface="Century Gothic"/>
                <a:cs typeface="Century Gothic"/>
              </a:rPr>
              <a:t>в </a:t>
            </a:r>
            <a:r>
              <a:rPr sz="2000" spc="-80" dirty="0">
                <a:solidFill>
                  <a:srgbClr val="FFFFFF"/>
                </a:solidFill>
                <a:latin typeface="Century Gothic"/>
                <a:cs typeface="Century Gothic"/>
              </a:rPr>
              <a:t>вашем</a:t>
            </a:r>
            <a:r>
              <a:rPr sz="2000" spc="-6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entury Gothic"/>
                <a:cs typeface="Century Gothic"/>
              </a:rPr>
              <a:t>личном</a:t>
            </a:r>
            <a:r>
              <a:rPr sz="2000" spc="-8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entury Gothic"/>
                <a:cs typeface="Century Gothic"/>
              </a:rPr>
              <a:t>кабинете</a:t>
            </a:r>
            <a:endParaRPr sz="20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9994" y="0"/>
            <a:ext cx="10332363" cy="7560309"/>
            <a:chOff x="359994" y="0"/>
            <a:chExt cx="10332363" cy="7560309"/>
          </a:xfrm>
        </p:grpSpPr>
        <p:sp>
          <p:nvSpPr>
            <p:cNvPr id="3" name="object 3"/>
            <p:cNvSpPr/>
            <p:nvPr/>
          </p:nvSpPr>
          <p:spPr>
            <a:xfrm>
              <a:off x="3239998" y="0"/>
              <a:ext cx="7452359" cy="7560309"/>
            </a:xfrm>
            <a:custGeom>
              <a:avLst/>
              <a:gdLst/>
              <a:ahLst/>
              <a:cxnLst/>
              <a:rect l="l" t="t" r="r" b="b"/>
              <a:pathLst>
                <a:path w="7452359" h="7560309">
                  <a:moveTo>
                    <a:pt x="7452004" y="0"/>
                  </a:moveTo>
                  <a:lnTo>
                    <a:pt x="252006" y="0"/>
                  </a:lnTo>
                  <a:lnTo>
                    <a:pt x="227303" y="1221"/>
                  </a:lnTo>
                  <a:lnTo>
                    <a:pt x="178850" y="10854"/>
                  </a:lnTo>
                  <a:lnTo>
                    <a:pt x="133214" y="29758"/>
                  </a:lnTo>
                  <a:lnTo>
                    <a:pt x="92138" y="57208"/>
                  </a:lnTo>
                  <a:lnTo>
                    <a:pt x="57210" y="92136"/>
                  </a:lnTo>
                  <a:lnTo>
                    <a:pt x="29769" y="133209"/>
                  </a:lnTo>
                  <a:lnTo>
                    <a:pt x="10865" y="178850"/>
                  </a:lnTo>
                  <a:lnTo>
                    <a:pt x="1223" y="227303"/>
                  </a:lnTo>
                  <a:lnTo>
                    <a:pt x="0" y="252006"/>
                  </a:lnTo>
                  <a:lnTo>
                    <a:pt x="0" y="7308049"/>
                  </a:lnTo>
                  <a:lnTo>
                    <a:pt x="4860" y="7357214"/>
                  </a:lnTo>
                  <a:lnTo>
                    <a:pt x="19189" y="7404493"/>
                  </a:lnTo>
                  <a:lnTo>
                    <a:pt x="42486" y="7448054"/>
                  </a:lnTo>
                  <a:lnTo>
                    <a:pt x="73812" y="7486243"/>
                  </a:lnTo>
                  <a:lnTo>
                    <a:pt x="112006" y="7517576"/>
                  </a:lnTo>
                  <a:lnTo>
                    <a:pt x="155562" y="7540879"/>
                  </a:lnTo>
                  <a:lnTo>
                    <a:pt x="202841" y="7555201"/>
                  </a:lnTo>
                  <a:lnTo>
                    <a:pt x="252006" y="7560056"/>
                  </a:lnTo>
                  <a:lnTo>
                    <a:pt x="7452004" y="7560056"/>
                  </a:lnTo>
                  <a:lnTo>
                    <a:pt x="74520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867996" y="6112828"/>
              <a:ext cx="792480" cy="792480"/>
            </a:xfrm>
            <a:custGeom>
              <a:avLst/>
              <a:gdLst/>
              <a:ahLst/>
              <a:cxnLst/>
              <a:rect l="l" t="t" r="r" b="b"/>
              <a:pathLst>
                <a:path w="792479" h="792479">
                  <a:moveTo>
                    <a:pt x="720001" y="0"/>
                  </a:moveTo>
                  <a:lnTo>
                    <a:pt x="72008" y="0"/>
                  </a:lnTo>
                  <a:lnTo>
                    <a:pt x="64947" y="348"/>
                  </a:lnTo>
                  <a:lnTo>
                    <a:pt x="26326" y="16337"/>
                  </a:lnTo>
                  <a:lnTo>
                    <a:pt x="3107" y="51093"/>
                  </a:lnTo>
                  <a:lnTo>
                    <a:pt x="0" y="71996"/>
                  </a:lnTo>
                  <a:lnTo>
                    <a:pt x="0" y="720001"/>
                  </a:lnTo>
                  <a:lnTo>
                    <a:pt x="12142" y="759996"/>
                  </a:lnTo>
                  <a:lnTo>
                    <a:pt x="44450" y="786510"/>
                  </a:lnTo>
                  <a:lnTo>
                    <a:pt x="72008" y="791997"/>
                  </a:lnTo>
                  <a:lnTo>
                    <a:pt x="720001" y="791997"/>
                  </a:lnTo>
                  <a:lnTo>
                    <a:pt x="759999" y="779854"/>
                  </a:lnTo>
                  <a:lnTo>
                    <a:pt x="786523" y="747547"/>
                  </a:lnTo>
                  <a:lnTo>
                    <a:pt x="791997" y="720001"/>
                  </a:lnTo>
                  <a:lnTo>
                    <a:pt x="791997" y="71996"/>
                  </a:lnTo>
                  <a:lnTo>
                    <a:pt x="779867" y="31997"/>
                  </a:lnTo>
                  <a:lnTo>
                    <a:pt x="747560" y="5473"/>
                  </a:lnTo>
                  <a:lnTo>
                    <a:pt x="72000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0994" y="1168070"/>
              <a:ext cx="2499004" cy="17280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0994" y="3076067"/>
              <a:ext cx="2499004" cy="432003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0994" y="3688067"/>
              <a:ext cx="2499004" cy="43200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9994" y="359994"/>
              <a:ext cx="2519997" cy="692124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740994" y="1168070"/>
            <a:ext cx="2499360" cy="1728470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919"/>
              </a:spcBef>
            </a:pP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Переговоры</a:t>
            </a:r>
            <a:endParaRPr sz="11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730"/>
              </a:spcBef>
            </a:pPr>
            <a:endParaRPr sz="1100">
              <a:latin typeface="Century Gothic"/>
              <a:cs typeface="Century Gothic"/>
            </a:endParaRPr>
          </a:p>
          <a:p>
            <a:pPr marL="503555">
              <a:lnSpc>
                <a:spcPct val="100000"/>
              </a:lnSpc>
            </a:pP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Статистика</a:t>
            </a:r>
            <a:endParaRPr sz="1100">
              <a:latin typeface="Century Gothic"/>
              <a:cs typeface="Century Gothic"/>
            </a:endParaRPr>
          </a:p>
          <a:p>
            <a:pPr marL="503555" marR="342265">
              <a:lnSpc>
                <a:spcPct val="257700"/>
              </a:lnSpc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Как</a:t>
            </a:r>
            <a:r>
              <a:rPr sz="1100" spc="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заключить</a:t>
            </a:r>
            <a:r>
              <a:rPr sz="1100" spc="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контракт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О </a:t>
            </a:r>
            <a:r>
              <a:rPr sz="1100" spc="-25" dirty="0">
                <a:solidFill>
                  <a:srgbClr val="FFFFFF"/>
                </a:solidFill>
                <a:latin typeface="Century Gothic"/>
                <a:cs typeface="Century Gothic"/>
              </a:rPr>
              <a:t>нас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32293" y="3180207"/>
            <a:ext cx="137731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245BA9"/>
                </a:solidFill>
                <a:latin typeface="Century Gothic"/>
                <a:cs typeface="Century Gothic"/>
              </a:rPr>
              <a:t>Фотоотчет</a:t>
            </a:r>
            <a:r>
              <a:rPr sz="1100" spc="-35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245BA9"/>
                </a:solidFill>
                <a:latin typeface="Century Gothic"/>
                <a:cs typeface="Century Gothic"/>
              </a:rPr>
              <a:t>и</a:t>
            </a:r>
            <a:r>
              <a:rPr sz="1100" spc="-35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245BA9"/>
                </a:solidFill>
                <a:latin typeface="Century Gothic"/>
                <a:cs typeface="Century Gothic"/>
              </a:rPr>
              <a:t>отзывы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40994" y="3688067"/>
            <a:ext cx="2499360" cy="432434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919"/>
              </a:spcBef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Контакты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и</a:t>
            </a:r>
            <a:r>
              <a:rPr sz="1100" spc="-3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тарифы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17500" y="6734073"/>
            <a:ext cx="802005" cy="350520"/>
          </a:xfrm>
          <a:custGeom>
            <a:avLst/>
            <a:gdLst/>
            <a:ahLst/>
            <a:cxnLst/>
            <a:rect l="l" t="t" r="r" b="b"/>
            <a:pathLst>
              <a:path w="802005" h="350520">
                <a:moveTo>
                  <a:pt x="750214" y="51320"/>
                </a:moveTo>
                <a:lnTo>
                  <a:pt x="708907" y="20691"/>
                </a:lnTo>
                <a:lnTo>
                  <a:pt x="660493" y="3376"/>
                </a:lnTo>
                <a:lnTo>
                  <a:pt x="626313" y="0"/>
                </a:lnTo>
                <a:lnTo>
                  <a:pt x="175221" y="0"/>
                </a:lnTo>
                <a:lnTo>
                  <a:pt x="124360" y="7549"/>
                </a:lnTo>
                <a:lnTo>
                  <a:pt x="77881" y="29537"/>
                </a:lnTo>
                <a:lnTo>
                  <a:pt x="64065" y="39777"/>
                </a:lnTo>
                <a:lnTo>
                  <a:pt x="51320" y="51320"/>
                </a:lnTo>
              </a:path>
              <a:path w="802005" h="350520">
                <a:moveTo>
                  <a:pt x="51320" y="299161"/>
                </a:moveTo>
                <a:lnTo>
                  <a:pt x="92627" y="329779"/>
                </a:lnTo>
                <a:lnTo>
                  <a:pt x="141041" y="347092"/>
                </a:lnTo>
                <a:lnTo>
                  <a:pt x="175221" y="350469"/>
                </a:lnTo>
                <a:lnTo>
                  <a:pt x="621550" y="350469"/>
                </a:lnTo>
                <a:lnTo>
                  <a:pt x="659898" y="347092"/>
                </a:lnTo>
                <a:lnTo>
                  <a:pt x="708907" y="329779"/>
                </a:lnTo>
                <a:lnTo>
                  <a:pt x="737469" y="310702"/>
                </a:lnTo>
                <a:lnTo>
                  <a:pt x="750214" y="299161"/>
                </a:lnTo>
              </a:path>
              <a:path w="802005" h="350520">
                <a:moveTo>
                  <a:pt x="51320" y="51320"/>
                </a:moveTo>
                <a:lnTo>
                  <a:pt x="20702" y="92627"/>
                </a:lnTo>
                <a:lnTo>
                  <a:pt x="3382" y="141041"/>
                </a:lnTo>
                <a:lnTo>
                  <a:pt x="0" y="175221"/>
                </a:lnTo>
                <a:lnTo>
                  <a:pt x="0" y="170497"/>
                </a:lnTo>
                <a:lnTo>
                  <a:pt x="3382" y="208843"/>
                </a:lnTo>
                <a:lnTo>
                  <a:pt x="20702" y="257847"/>
                </a:lnTo>
                <a:lnTo>
                  <a:pt x="39779" y="286410"/>
                </a:lnTo>
                <a:lnTo>
                  <a:pt x="51320" y="299161"/>
                </a:lnTo>
              </a:path>
              <a:path w="802005" h="350520">
                <a:moveTo>
                  <a:pt x="750214" y="299161"/>
                </a:moveTo>
                <a:lnTo>
                  <a:pt x="780832" y="257847"/>
                </a:lnTo>
                <a:lnTo>
                  <a:pt x="798156" y="209438"/>
                </a:lnTo>
                <a:lnTo>
                  <a:pt x="801535" y="175260"/>
                </a:lnTo>
                <a:lnTo>
                  <a:pt x="801535" y="179984"/>
                </a:lnTo>
                <a:lnTo>
                  <a:pt x="798156" y="141636"/>
                </a:lnTo>
                <a:lnTo>
                  <a:pt x="780832" y="92627"/>
                </a:lnTo>
                <a:lnTo>
                  <a:pt x="761755" y="64065"/>
                </a:lnTo>
                <a:lnTo>
                  <a:pt x="750214" y="51320"/>
                </a:lnTo>
              </a:path>
            </a:pathLst>
          </a:custGeom>
          <a:ln w="9525">
            <a:solidFill>
              <a:srgbClr val="9CC9E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xfrm>
            <a:off x="3587305" y="360248"/>
            <a:ext cx="686479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pc="-10" dirty="0" smtClean="0"/>
              <a:t>Вот так проходят переговоры</a:t>
            </a:r>
            <a:r>
              <a:rPr lang="en-US" spc="-10" dirty="0" smtClean="0"/>
              <a:t> </a:t>
            </a:r>
            <a:r>
              <a:rPr spc="-125" dirty="0" smtClean="0"/>
              <a:t> </a:t>
            </a:r>
            <a:endParaRPr spc="55" dirty="0"/>
          </a:p>
        </p:txBody>
      </p:sp>
      <p:sp>
        <p:nvSpPr>
          <p:cNvPr id="23" name="object 23"/>
          <p:cNvSpPr txBox="1"/>
          <p:nvPr/>
        </p:nvSpPr>
        <p:spPr>
          <a:xfrm>
            <a:off x="3587305" y="1042860"/>
            <a:ext cx="6822440" cy="44450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 marR="5080">
              <a:lnSpc>
                <a:spcPts val="1500"/>
              </a:lnSpc>
              <a:spcBef>
                <a:spcPts val="400"/>
              </a:spcBef>
            </a:pPr>
            <a:r>
              <a:rPr sz="1500" dirty="0">
                <a:solidFill>
                  <a:srgbClr val="214E85"/>
                </a:solidFill>
                <a:latin typeface="Century Gothic"/>
                <a:cs typeface="Century Gothic"/>
              </a:rPr>
              <a:t>Каждый</a:t>
            </a:r>
            <a:r>
              <a:rPr sz="1500" spc="35" dirty="0">
                <a:solidFill>
                  <a:srgbClr val="214E85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214E85"/>
                </a:solidFill>
                <a:latin typeface="Century Gothic"/>
                <a:cs typeface="Century Gothic"/>
              </a:rPr>
              <a:t>участник</a:t>
            </a:r>
            <a:r>
              <a:rPr sz="1500" spc="40" dirty="0">
                <a:solidFill>
                  <a:srgbClr val="214E85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214E85"/>
                </a:solidFill>
                <a:latin typeface="Century Gothic"/>
                <a:cs typeface="Century Gothic"/>
              </a:rPr>
              <a:t>получает</a:t>
            </a:r>
            <a:r>
              <a:rPr sz="1500" spc="40" dirty="0">
                <a:solidFill>
                  <a:srgbClr val="214E85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214E85"/>
                </a:solidFill>
                <a:latin typeface="Century Gothic"/>
                <a:cs typeface="Century Gothic"/>
              </a:rPr>
              <a:t>возможность</a:t>
            </a:r>
            <a:r>
              <a:rPr sz="1500" spc="40" dirty="0">
                <a:solidFill>
                  <a:srgbClr val="214E85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214E85"/>
                </a:solidFill>
                <a:latin typeface="Century Gothic"/>
                <a:cs typeface="Century Gothic"/>
              </a:rPr>
              <a:t>представить</a:t>
            </a:r>
            <a:r>
              <a:rPr sz="1500" spc="35" dirty="0">
                <a:solidFill>
                  <a:srgbClr val="214E85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214E85"/>
                </a:solidFill>
                <a:latin typeface="Century Gothic"/>
                <a:cs typeface="Century Gothic"/>
              </a:rPr>
              <a:t>свои</a:t>
            </a:r>
            <a:r>
              <a:rPr sz="1500" spc="40" dirty="0">
                <a:solidFill>
                  <a:srgbClr val="214E85"/>
                </a:solidFill>
                <a:latin typeface="Century Gothic"/>
                <a:cs typeface="Century Gothic"/>
              </a:rPr>
              <a:t> </a:t>
            </a:r>
            <a:r>
              <a:rPr sz="1500" spc="-10" dirty="0">
                <a:solidFill>
                  <a:srgbClr val="214E85"/>
                </a:solidFill>
                <a:latin typeface="Century Gothic"/>
                <a:cs typeface="Century Gothic"/>
              </a:rPr>
              <a:t>продукты, </a:t>
            </a:r>
            <a:r>
              <a:rPr sz="1500" dirty="0">
                <a:solidFill>
                  <a:srgbClr val="214E85"/>
                </a:solidFill>
                <a:latin typeface="Century Gothic"/>
                <a:cs typeface="Century Gothic"/>
              </a:rPr>
              <a:t>обсудить</a:t>
            </a:r>
            <a:r>
              <a:rPr sz="1500" spc="100" dirty="0">
                <a:solidFill>
                  <a:srgbClr val="214E85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214E85"/>
                </a:solidFill>
                <a:latin typeface="Century Gothic"/>
                <a:cs typeface="Century Gothic"/>
              </a:rPr>
              <a:t>условия</a:t>
            </a:r>
            <a:r>
              <a:rPr sz="1500" spc="100" dirty="0">
                <a:solidFill>
                  <a:srgbClr val="214E85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214E85"/>
                </a:solidFill>
                <a:latin typeface="Century Gothic"/>
                <a:cs typeface="Century Gothic"/>
              </a:rPr>
              <a:t>сотрудничества</a:t>
            </a:r>
            <a:r>
              <a:rPr sz="1500" spc="105" dirty="0">
                <a:solidFill>
                  <a:srgbClr val="214E85"/>
                </a:solidFill>
                <a:latin typeface="Century Gothic"/>
                <a:cs typeface="Century Gothic"/>
              </a:rPr>
              <a:t> </a:t>
            </a:r>
            <a:r>
              <a:rPr sz="1500" spc="95" dirty="0">
                <a:solidFill>
                  <a:srgbClr val="214E85"/>
                </a:solidFill>
                <a:latin typeface="Century Gothic"/>
                <a:cs typeface="Century Gothic"/>
              </a:rPr>
              <a:t>в</a:t>
            </a:r>
            <a:r>
              <a:rPr sz="1500" spc="100" dirty="0">
                <a:solidFill>
                  <a:srgbClr val="214E85"/>
                </a:solidFill>
                <a:latin typeface="Century Gothic"/>
                <a:cs typeface="Century Gothic"/>
              </a:rPr>
              <a:t> </a:t>
            </a:r>
            <a:r>
              <a:rPr sz="1500" spc="-70" dirty="0">
                <a:solidFill>
                  <a:srgbClr val="214E85"/>
                </a:solidFill>
                <a:latin typeface="Century Gothic"/>
                <a:cs typeface="Century Gothic"/>
              </a:rPr>
              <a:t>комфортной</a:t>
            </a:r>
            <a:r>
              <a:rPr sz="1500" spc="100" dirty="0">
                <a:solidFill>
                  <a:srgbClr val="214E85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214E85"/>
                </a:solidFill>
                <a:latin typeface="Century Gothic"/>
                <a:cs typeface="Century Gothic"/>
              </a:rPr>
              <a:t>деловой</a:t>
            </a:r>
            <a:r>
              <a:rPr sz="1500" spc="105" dirty="0">
                <a:solidFill>
                  <a:srgbClr val="214E85"/>
                </a:solidFill>
                <a:latin typeface="Century Gothic"/>
                <a:cs typeface="Century Gothic"/>
              </a:rPr>
              <a:t> </a:t>
            </a:r>
            <a:r>
              <a:rPr sz="1500" spc="-10" dirty="0">
                <a:solidFill>
                  <a:srgbClr val="214E85"/>
                </a:solidFill>
                <a:latin typeface="Century Gothic"/>
                <a:cs typeface="Century Gothic"/>
              </a:rPr>
              <a:t>обстановке</a:t>
            </a:r>
            <a:endParaRPr sz="1500">
              <a:latin typeface="Century Gothic"/>
              <a:cs typeface="Century Gothic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xfrm>
            <a:off x="600163" y="6789623"/>
            <a:ext cx="305434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00"/>
              </a:lnSpc>
            </a:pPr>
            <a:fld id="{81D60167-4931-47E6-BA6A-407CBD079E47}" type="slidenum">
              <a:rPr dirty="0">
                <a:solidFill>
                  <a:srgbClr val="FFFFFF"/>
                </a:solidFill>
              </a:rPr>
              <a:pPr marL="38100">
                <a:lnSpc>
                  <a:spcPts val="1200"/>
                </a:lnSpc>
              </a:pPr>
              <a:t>6</a:t>
            </a:fld>
            <a:r>
              <a:rPr dirty="0"/>
              <a:t>/</a:t>
            </a:r>
            <a:r>
              <a:rPr spc="-5" dirty="0"/>
              <a:t> </a:t>
            </a:r>
            <a:r>
              <a:rPr lang="en-US" spc="-5" dirty="0" smtClean="0"/>
              <a:t>8</a:t>
            </a:r>
            <a:endParaRPr spc="-50" dirty="0"/>
          </a:p>
        </p:txBody>
      </p:sp>
      <p:sp>
        <p:nvSpPr>
          <p:cNvPr id="29" name="Google Shape;402;p7"/>
          <p:cNvSpPr/>
          <p:nvPr/>
        </p:nvSpPr>
        <p:spPr>
          <a:xfrm>
            <a:off x="8394700" y="3857625"/>
            <a:ext cx="1370057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Больше фотографий </a:t>
            </a:r>
            <a:br>
              <a:rPr lang="ru-RU" sz="14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14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по QR-коду</a:t>
            </a:r>
            <a:endParaRPr sz="1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" name="Прямоугольник 2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41700" y="1800225"/>
            <a:ext cx="4419600" cy="3224841"/>
          </a:xfrm>
          <a:prstGeom prst="rect">
            <a:avLst/>
          </a:prstGeom>
        </p:spPr>
      </p:pic>
      <p:pic>
        <p:nvPicPr>
          <p:cNvPr id="40" name="Прямоугольник 3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89900" y="1800225"/>
            <a:ext cx="2438400" cy="1524000"/>
          </a:xfrm>
          <a:prstGeom prst="rect">
            <a:avLst/>
          </a:prstGeom>
        </p:spPr>
      </p:pic>
      <p:pic>
        <p:nvPicPr>
          <p:cNvPr id="41" name="Скругленный прямоугольник 3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33074" y="5305425"/>
            <a:ext cx="2370826" cy="1677838"/>
          </a:xfrm>
          <a:prstGeom prst="rect">
            <a:avLst/>
          </a:prstGeom>
        </p:spPr>
      </p:pic>
      <p:pic>
        <p:nvPicPr>
          <p:cNvPr id="42" name="Скругленный прямоугольник 3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56300" y="5314950"/>
            <a:ext cx="2323381" cy="1683589"/>
          </a:xfrm>
          <a:prstGeom prst="rect">
            <a:avLst/>
          </a:prstGeom>
        </p:spPr>
      </p:pic>
      <p:pic>
        <p:nvPicPr>
          <p:cNvPr id="43" name="Скругленный прямоугольник 3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82000" y="5276850"/>
            <a:ext cx="2222500" cy="1689340"/>
          </a:xfrm>
          <a:prstGeom prst="rect">
            <a:avLst/>
          </a:prstGeom>
        </p:spPr>
      </p:pic>
      <p:sp>
        <p:nvSpPr>
          <p:cNvPr id="37" name="Скругленный прямоугольник 36"/>
          <p:cNvSpPr/>
          <p:nvPr/>
        </p:nvSpPr>
        <p:spPr>
          <a:xfrm>
            <a:off x="8089900" y="3476625"/>
            <a:ext cx="2438400" cy="1524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6" name="Google Shape;403;p7"/>
          <p:cNvPicPr preferRelativeResize="0"/>
          <p:nvPr/>
        </p:nvPicPr>
        <p:blipFill rotWithShape="1">
          <a:blip r:embed="rId6" cstate="print">
            <a:alphaModFix/>
          </a:blip>
          <a:srcRect/>
          <a:stretch/>
        </p:blipFill>
        <p:spPr>
          <a:xfrm>
            <a:off x="8686800" y="3524250"/>
            <a:ext cx="12192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Прямоугольник 37"/>
          <p:cNvSpPr/>
          <p:nvPr/>
        </p:nvSpPr>
        <p:spPr>
          <a:xfrm>
            <a:off x="6642100" y="4619625"/>
            <a:ext cx="53467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Больше фото по </a:t>
            </a:r>
            <a:r>
              <a:rPr lang="en-US" sz="1400" b="1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QR-</a:t>
            </a:r>
            <a:r>
              <a:rPr lang="ru-RU" sz="1400" b="1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коду</a:t>
            </a:r>
            <a:endParaRPr lang="ru-RU" sz="14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9994" y="0"/>
            <a:ext cx="10332363" cy="7560309"/>
            <a:chOff x="359994" y="0"/>
            <a:chExt cx="10332363" cy="7560309"/>
          </a:xfrm>
        </p:grpSpPr>
        <p:sp>
          <p:nvSpPr>
            <p:cNvPr id="3" name="object 3"/>
            <p:cNvSpPr/>
            <p:nvPr/>
          </p:nvSpPr>
          <p:spPr>
            <a:xfrm>
              <a:off x="3239998" y="0"/>
              <a:ext cx="7452359" cy="7560309"/>
            </a:xfrm>
            <a:custGeom>
              <a:avLst/>
              <a:gdLst/>
              <a:ahLst/>
              <a:cxnLst/>
              <a:rect l="l" t="t" r="r" b="b"/>
              <a:pathLst>
                <a:path w="7452359" h="7560309">
                  <a:moveTo>
                    <a:pt x="7452004" y="0"/>
                  </a:moveTo>
                  <a:lnTo>
                    <a:pt x="252006" y="0"/>
                  </a:lnTo>
                  <a:lnTo>
                    <a:pt x="227303" y="1221"/>
                  </a:lnTo>
                  <a:lnTo>
                    <a:pt x="178850" y="10854"/>
                  </a:lnTo>
                  <a:lnTo>
                    <a:pt x="133214" y="29758"/>
                  </a:lnTo>
                  <a:lnTo>
                    <a:pt x="92138" y="57208"/>
                  </a:lnTo>
                  <a:lnTo>
                    <a:pt x="57210" y="92136"/>
                  </a:lnTo>
                  <a:lnTo>
                    <a:pt x="29769" y="133209"/>
                  </a:lnTo>
                  <a:lnTo>
                    <a:pt x="10865" y="178850"/>
                  </a:lnTo>
                  <a:lnTo>
                    <a:pt x="1223" y="227303"/>
                  </a:lnTo>
                  <a:lnTo>
                    <a:pt x="0" y="252006"/>
                  </a:lnTo>
                  <a:lnTo>
                    <a:pt x="0" y="7308049"/>
                  </a:lnTo>
                  <a:lnTo>
                    <a:pt x="4860" y="7357214"/>
                  </a:lnTo>
                  <a:lnTo>
                    <a:pt x="19189" y="7404493"/>
                  </a:lnTo>
                  <a:lnTo>
                    <a:pt x="42486" y="7448054"/>
                  </a:lnTo>
                  <a:lnTo>
                    <a:pt x="73812" y="7486243"/>
                  </a:lnTo>
                  <a:lnTo>
                    <a:pt x="112006" y="7517576"/>
                  </a:lnTo>
                  <a:lnTo>
                    <a:pt x="155562" y="7540879"/>
                  </a:lnTo>
                  <a:lnTo>
                    <a:pt x="202841" y="7555201"/>
                  </a:lnTo>
                  <a:lnTo>
                    <a:pt x="252006" y="7560056"/>
                  </a:lnTo>
                  <a:lnTo>
                    <a:pt x="7452004" y="7560056"/>
                  </a:lnTo>
                  <a:lnTo>
                    <a:pt x="74520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867996" y="6112828"/>
              <a:ext cx="792480" cy="792480"/>
            </a:xfrm>
            <a:custGeom>
              <a:avLst/>
              <a:gdLst/>
              <a:ahLst/>
              <a:cxnLst/>
              <a:rect l="l" t="t" r="r" b="b"/>
              <a:pathLst>
                <a:path w="792479" h="792479">
                  <a:moveTo>
                    <a:pt x="720001" y="0"/>
                  </a:moveTo>
                  <a:lnTo>
                    <a:pt x="72008" y="0"/>
                  </a:lnTo>
                  <a:lnTo>
                    <a:pt x="64947" y="348"/>
                  </a:lnTo>
                  <a:lnTo>
                    <a:pt x="26326" y="16337"/>
                  </a:lnTo>
                  <a:lnTo>
                    <a:pt x="3107" y="51093"/>
                  </a:lnTo>
                  <a:lnTo>
                    <a:pt x="0" y="71996"/>
                  </a:lnTo>
                  <a:lnTo>
                    <a:pt x="0" y="720001"/>
                  </a:lnTo>
                  <a:lnTo>
                    <a:pt x="12142" y="759996"/>
                  </a:lnTo>
                  <a:lnTo>
                    <a:pt x="44450" y="786510"/>
                  </a:lnTo>
                  <a:lnTo>
                    <a:pt x="72008" y="791997"/>
                  </a:lnTo>
                  <a:lnTo>
                    <a:pt x="720001" y="791997"/>
                  </a:lnTo>
                  <a:lnTo>
                    <a:pt x="759999" y="779854"/>
                  </a:lnTo>
                  <a:lnTo>
                    <a:pt x="786523" y="747547"/>
                  </a:lnTo>
                  <a:lnTo>
                    <a:pt x="791997" y="720001"/>
                  </a:lnTo>
                  <a:lnTo>
                    <a:pt x="791997" y="71996"/>
                  </a:lnTo>
                  <a:lnTo>
                    <a:pt x="779867" y="31997"/>
                  </a:lnTo>
                  <a:lnTo>
                    <a:pt x="747560" y="5473"/>
                  </a:lnTo>
                  <a:lnTo>
                    <a:pt x="72000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0994" y="1168070"/>
              <a:ext cx="2499004" cy="17280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0994" y="3076067"/>
              <a:ext cx="2499004" cy="432003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0994" y="3688067"/>
              <a:ext cx="2499004" cy="43200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9994" y="359994"/>
              <a:ext cx="2519997" cy="692124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740994" y="1168070"/>
            <a:ext cx="2499360" cy="1728470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919"/>
              </a:spcBef>
            </a:pP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Переговоры</a:t>
            </a:r>
            <a:endParaRPr sz="11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730"/>
              </a:spcBef>
            </a:pPr>
            <a:endParaRPr sz="1100">
              <a:latin typeface="Century Gothic"/>
              <a:cs typeface="Century Gothic"/>
            </a:endParaRPr>
          </a:p>
          <a:p>
            <a:pPr marL="503555">
              <a:lnSpc>
                <a:spcPct val="100000"/>
              </a:lnSpc>
            </a:pP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Статистика</a:t>
            </a:r>
            <a:endParaRPr sz="1100">
              <a:latin typeface="Century Gothic"/>
              <a:cs typeface="Century Gothic"/>
            </a:endParaRPr>
          </a:p>
          <a:p>
            <a:pPr marL="503555" marR="342265">
              <a:lnSpc>
                <a:spcPct val="257700"/>
              </a:lnSpc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Как</a:t>
            </a:r>
            <a:r>
              <a:rPr sz="1100" spc="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заключить</a:t>
            </a:r>
            <a:r>
              <a:rPr sz="1100" spc="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контракт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О </a:t>
            </a:r>
            <a:r>
              <a:rPr sz="1100" spc="-25" dirty="0">
                <a:solidFill>
                  <a:srgbClr val="FFFFFF"/>
                </a:solidFill>
                <a:latin typeface="Century Gothic"/>
                <a:cs typeface="Century Gothic"/>
              </a:rPr>
              <a:t>нас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32293" y="3180207"/>
            <a:ext cx="137731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245BA9"/>
                </a:solidFill>
                <a:latin typeface="Century Gothic"/>
                <a:cs typeface="Century Gothic"/>
              </a:rPr>
              <a:t>Фотоотчет</a:t>
            </a:r>
            <a:r>
              <a:rPr sz="1100" spc="-35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245BA9"/>
                </a:solidFill>
                <a:latin typeface="Century Gothic"/>
                <a:cs typeface="Century Gothic"/>
              </a:rPr>
              <a:t>и</a:t>
            </a:r>
            <a:r>
              <a:rPr sz="1100" spc="-35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245BA9"/>
                </a:solidFill>
                <a:latin typeface="Century Gothic"/>
                <a:cs typeface="Century Gothic"/>
              </a:rPr>
              <a:t>отзывы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40994" y="3688067"/>
            <a:ext cx="2499360" cy="432434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919"/>
              </a:spcBef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Контакты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и</a:t>
            </a:r>
            <a:r>
              <a:rPr sz="1100" spc="-3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тарифы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17500" y="6734073"/>
            <a:ext cx="802005" cy="350520"/>
          </a:xfrm>
          <a:custGeom>
            <a:avLst/>
            <a:gdLst/>
            <a:ahLst/>
            <a:cxnLst/>
            <a:rect l="l" t="t" r="r" b="b"/>
            <a:pathLst>
              <a:path w="802005" h="350520">
                <a:moveTo>
                  <a:pt x="750214" y="51320"/>
                </a:moveTo>
                <a:lnTo>
                  <a:pt x="708907" y="20691"/>
                </a:lnTo>
                <a:lnTo>
                  <a:pt x="660493" y="3376"/>
                </a:lnTo>
                <a:lnTo>
                  <a:pt x="626313" y="0"/>
                </a:lnTo>
                <a:lnTo>
                  <a:pt x="175221" y="0"/>
                </a:lnTo>
                <a:lnTo>
                  <a:pt x="124360" y="7549"/>
                </a:lnTo>
                <a:lnTo>
                  <a:pt x="77881" y="29537"/>
                </a:lnTo>
                <a:lnTo>
                  <a:pt x="64065" y="39777"/>
                </a:lnTo>
                <a:lnTo>
                  <a:pt x="51320" y="51320"/>
                </a:lnTo>
              </a:path>
              <a:path w="802005" h="350520">
                <a:moveTo>
                  <a:pt x="51320" y="299161"/>
                </a:moveTo>
                <a:lnTo>
                  <a:pt x="92627" y="329779"/>
                </a:lnTo>
                <a:lnTo>
                  <a:pt x="141041" y="347092"/>
                </a:lnTo>
                <a:lnTo>
                  <a:pt x="175221" y="350469"/>
                </a:lnTo>
                <a:lnTo>
                  <a:pt x="621550" y="350469"/>
                </a:lnTo>
                <a:lnTo>
                  <a:pt x="659898" y="347092"/>
                </a:lnTo>
                <a:lnTo>
                  <a:pt x="708907" y="329779"/>
                </a:lnTo>
                <a:lnTo>
                  <a:pt x="737469" y="310702"/>
                </a:lnTo>
                <a:lnTo>
                  <a:pt x="750214" y="299161"/>
                </a:lnTo>
              </a:path>
              <a:path w="802005" h="350520">
                <a:moveTo>
                  <a:pt x="51320" y="51320"/>
                </a:moveTo>
                <a:lnTo>
                  <a:pt x="20702" y="92627"/>
                </a:lnTo>
                <a:lnTo>
                  <a:pt x="3382" y="141041"/>
                </a:lnTo>
                <a:lnTo>
                  <a:pt x="0" y="175221"/>
                </a:lnTo>
                <a:lnTo>
                  <a:pt x="0" y="170497"/>
                </a:lnTo>
                <a:lnTo>
                  <a:pt x="3382" y="208843"/>
                </a:lnTo>
                <a:lnTo>
                  <a:pt x="20702" y="257847"/>
                </a:lnTo>
                <a:lnTo>
                  <a:pt x="39779" y="286410"/>
                </a:lnTo>
                <a:lnTo>
                  <a:pt x="51320" y="299161"/>
                </a:lnTo>
              </a:path>
              <a:path w="802005" h="350520">
                <a:moveTo>
                  <a:pt x="750214" y="299161"/>
                </a:moveTo>
                <a:lnTo>
                  <a:pt x="780832" y="257847"/>
                </a:lnTo>
                <a:lnTo>
                  <a:pt x="798156" y="209438"/>
                </a:lnTo>
                <a:lnTo>
                  <a:pt x="801535" y="175260"/>
                </a:lnTo>
                <a:lnTo>
                  <a:pt x="801535" y="179984"/>
                </a:lnTo>
                <a:lnTo>
                  <a:pt x="798156" y="141636"/>
                </a:lnTo>
                <a:lnTo>
                  <a:pt x="780832" y="92627"/>
                </a:lnTo>
                <a:lnTo>
                  <a:pt x="761755" y="64065"/>
                </a:lnTo>
                <a:lnTo>
                  <a:pt x="750214" y="51320"/>
                </a:lnTo>
              </a:path>
            </a:pathLst>
          </a:custGeom>
          <a:ln w="9525">
            <a:solidFill>
              <a:srgbClr val="9CC9E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xfrm>
            <a:off x="3441700" y="276225"/>
            <a:ext cx="72517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dirty="0" smtClean="0">
                <a:solidFill>
                  <a:srgbClr val="1E53A4"/>
                </a:solidFill>
              </a:rPr>
              <a:t>Послушайте тех, кто был на ЦЗС™</a:t>
            </a:r>
            <a:endParaRPr spc="55" dirty="0"/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xfrm>
            <a:off x="600163" y="6789623"/>
            <a:ext cx="305434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00"/>
              </a:lnSpc>
            </a:pPr>
            <a:fld id="{81D60167-4931-47E6-BA6A-407CBD079E47}" type="slidenum">
              <a:rPr smtClean="0">
                <a:solidFill>
                  <a:srgbClr val="FFFFFF"/>
                </a:solidFill>
              </a:rPr>
              <a:pPr marL="38100">
                <a:lnSpc>
                  <a:spcPts val="1200"/>
                </a:lnSpc>
              </a:pPr>
              <a:t>7</a:t>
            </a:fld>
            <a:r>
              <a:rPr dirty="0" smtClean="0"/>
              <a:t>/</a:t>
            </a:r>
            <a:r>
              <a:rPr lang="en-US" dirty="0" smtClean="0"/>
              <a:t>8</a:t>
            </a:r>
            <a:endParaRPr spc="-50" dirty="0"/>
          </a:p>
        </p:txBody>
      </p:sp>
      <p:sp>
        <p:nvSpPr>
          <p:cNvPr id="38" name="Прямоугольник 37"/>
          <p:cNvSpPr/>
          <p:nvPr/>
        </p:nvSpPr>
        <p:spPr>
          <a:xfrm>
            <a:off x="6642100" y="4619625"/>
            <a:ext cx="53467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Больше фото по </a:t>
            </a:r>
            <a:r>
              <a:rPr lang="en-US" sz="1400" b="1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QR-</a:t>
            </a:r>
            <a:r>
              <a:rPr lang="ru-RU" sz="1400" b="1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коду</a:t>
            </a:r>
            <a:endParaRPr lang="ru-RU" sz="14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" name="Google Shape;433;p8"/>
          <p:cNvGrpSpPr/>
          <p:nvPr/>
        </p:nvGrpSpPr>
        <p:grpSpPr>
          <a:xfrm>
            <a:off x="3365500" y="1114425"/>
            <a:ext cx="3581400" cy="2556272"/>
            <a:chOff x="3594100" y="1253728"/>
            <a:chExt cx="3855170" cy="2556272"/>
          </a:xfrm>
        </p:grpSpPr>
        <p:sp>
          <p:nvSpPr>
            <p:cNvPr id="26" name="Google Shape;434;p8"/>
            <p:cNvSpPr/>
            <p:nvPr/>
          </p:nvSpPr>
          <p:spPr>
            <a:xfrm>
              <a:off x="3594100" y="1482328"/>
              <a:ext cx="3855170" cy="2327672"/>
            </a:xfrm>
            <a:prstGeom prst="roundRect">
              <a:avLst>
                <a:gd name="adj" fmla="val 5646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435;p8"/>
            <p:cNvSpPr/>
            <p:nvPr/>
          </p:nvSpPr>
          <p:spPr>
            <a:xfrm>
              <a:off x="3676125" y="1558528"/>
              <a:ext cx="2422095" cy="369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/>
                <a:t>«Наша миссия — дарить радость миллионам потребителей качественными сладостями. Центр Закупок Сетей™ стал для нас идеальной площадкой для презентации инновационных продуктов закупщикам ведущих розничных сетей. Всего за два дня мы проводим до 20 переговоров, что в обычной жизни заняло бы несколько месяцев. Результат — стабильный рост продаж и укрепление лидерства на рынке».</a:t>
              </a:r>
              <a:r>
                <a:rPr lang="en-US" dirty="0" smtClean="0"/>
                <a:t/>
              </a:r>
              <a:endParaRPr dirty="0"/>
            </a:p>
          </p:txBody>
        </p:sp>
        <p:sp>
          <p:nvSpPr>
            <p:cNvPr id="35" name="Google Shape;436;p8"/>
            <p:cNvSpPr/>
            <p:nvPr/>
          </p:nvSpPr>
          <p:spPr>
            <a:xfrm>
              <a:off x="3822700" y="1253728"/>
              <a:ext cx="360363" cy="8309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4800" dirty="0">
                  <a:solidFill>
                    <a:srgbClr val="255BA9"/>
                  </a:solidFill>
                  <a:latin typeface="Arial"/>
                  <a:ea typeface="Arial"/>
                  <a:cs typeface="Arial"/>
                  <a:sym typeface="Arial"/>
                </a:rPr>
                <a:t>“</a:t>
              </a:r>
              <a:endParaRPr sz="1200" dirty="0">
                <a:solidFill>
                  <a:srgbClr val="255BA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9" name="Google Shape;438;p8"/>
          <p:cNvGrpSpPr/>
          <p:nvPr/>
        </p:nvGrpSpPr>
        <p:grpSpPr>
          <a:xfrm>
            <a:off x="7023100" y="1114425"/>
            <a:ext cx="3505200" cy="2543508"/>
            <a:chOff x="3792539" y="1647492"/>
            <a:chExt cx="3855170" cy="2543508"/>
          </a:xfrm>
        </p:grpSpPr>
        <p:sp>
          <p:nvSpPr>
            <p:cNvPr id="40" name="Google Shape;439;p8"/>
            <p:cNvSpPr/>
            <p:nvPr/>
          </p:nvSpPr>
          <p:spPr>
            <a:xfrm>
              <a:off x="3792539" y="1876092"/>
              <a:ext cx="3855170" cy="2314908"/>
            </a:xfrm>
            <a:prstGeom prst="roundRect">
              <a:avLst>
                <a:gd name="adj" fmla="val 5646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" name="Google Shape;440;p8"/>
            <p:cNvSpPr/>
            <p:nvPr/>
          </p:nvSpPr>
          <p:spPr>
            <a:xfrm>
              <a:off x="3792539" y="1952292"/>
              <a:ext cx="2366504" cy="369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en-US" dirty="0"/>
                <a:t>«Мы стремимся, чтобы наши продукты были доступны каждому. Эффективность — ключевой принцип нашей работы. Центр Закупок Сетей™ позволяет нам в кратчайшие сроки решать вопросы по выводу новых продуктов на полку и корректировке стратегии с уже существующими партнерами. За год на площадке мы провели успешные переговоры с 15 ключевыми сетями, что напрямую повлияло на наши объемы продаж».</a:t>
              </a:r>
              <a:r>
                <a:rPr lang="en-US" dirty="0" smtClean="0"/>
                <a:t/>
              </a:r>
              <a:endParaRPr dirty="0"/>
            </a:p>
          </p:txBody>
        </p:sp>
        <p:sp>
          <p:nvSpPr>
            <p:cNvPr id="42" name="Google Shape;441;p8"/>
            <p:cNvSpPr/>
            <p:nvPr/>
          </p:nvSpPr>
          <p:spPr>
            <a:xfrm>
              <a:off x="3876347" y="1647492"/>
              <a:ext cx="360362" cy="8309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4800" dirty="0">
                  <a:solidFill>
                    <a:srgbClr val="255BA9"/>
                  </a:solidFill>
                  <a:latin typeface="Arial"/>
                  <a:ea typeface="Arial"/>
                  <a:cs typeface="Arial"/>
                  <a:sym typeface="Arial"/>
                </a:rPr>
                <a:t>“</a:t>
              </a:r>
              <a:endParaRPr sz="4800" dirty="0">
                <a:solidFill>
                  <a:srgbClr val="255BA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3" name="Google Shape;442;p8"/>
          <p:cNvGrpSpPr/>
          <p:nvPr/>
        </p:nvGrpSpPr>
        <p:grpSpPr>
          <a:xfrm>
            <a:off x="3365500" y="3933825"/>
            <a:ext cx="3581400" cy="2922868"/>
            <a:chOff x="3792539" y="1876092"/>
            <a:chExt cx="3855170" cy="2219872"/>
          </a:xfrm>
        </p:grpSpPr>
        <p:sp>
          <p:nvSpPr>
            <p:cNvPr id="44" name="Google Shape;443;p8"/>
            <p:cNvSpPr/>
            <p:nvPr/>
          </p:nvSpPr>
          <p:spPr>
            <a:xfrm>
              <a:off x="3792539" y="2049710"/>
              <a:ext cx="3855170" cy="2046254"/>
            </a:xfrm>
            <a:prstGeom prst="roundRect">
              <a:avLst>
                <a:gd name="adj" fmla="val 5646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" name="Google Shape;444;p8"/>
            <p:cNvSpPr/>
            <p:nvPr/>
          </p:nvSpPr>
          <p:spPr>
            <a:xfrm>
              <a:off x="3868739" y="2165455"/>
              <a:ext cx="2559536" cy="28047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en-US" dirty="0"/>
                <a:t>«Мы используем Центр Закупок Сетей™ как основную площадку для расширения сбыта. Участвуя всего дважды в год, нам удается оперативно презентовать наши инновационные линейки круп в варочных пакетиках. За последние два сезона провели более 30 переговоров с федеральными и региональными игроками, включая «Ленту», «Верный» и «Азбуку вкуса». Экономия времени и ресурсов колоссальная».</a:t>
              </a:r>
              <a:r>
                <a:rPr lang="en-US" dirty="0" smtClean="0">
                  <a:latin typeface="+mn-lt"/>
                </a:rPr>
                <a:t/>
              </a:r>
              <a:r>
                <a:rPr lang="en-US" dirty="0" smtClean="0"/>
                <a:t/>
              </a:r>
              <a:endParaRPr lang="en-US" sz="1100" dirty="0"/>
            </a:p>
          </p:txBody>
        </p:sp>
        <p:sp>
          <p:nvSpPr>
            <p:cNvPr id="46" name="Google Shape;445;p8"/>
            <p:cNvSpPr/>
            <p:nvPr/>
          </p:nvSpPr>
          <p:spPr>
            <a:xfrm>
              <a:off x="3900189" y="1876092"/>
              <a:ext cx="360363" cy="8309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4800" dirty="0">
                  <a:solidFill>
                    <a:srgbClr val="255BA9"/>
                  </a:solidFill>
                  <a:latin typeface="Arial"/>
                  <a:ea typeface="Arial"/>
                  <a:cs typeface="Arial"/>
                  <a:sym typeface="Arial"/>
                </a:rPr>
                <a:t>“</a:t>
              </a:r>
              <a:endParaRPr sz="4800" dirty="0">
                <a:solidFill>
                  <a:srgbClr val="255BA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7" name="Google Shape;448;p8"/>
          <p:cNvSpPr/>
          <p:nvPr/>
        </p:nvSpPr>
        <p:spPr>
          <a:xfrm>
            <a:off x="7099300" y="4162425"/>
            <a:ext cx="3429000" cy="2667000"/>
          </a:xfrm>
          <a:prstGeom prst="roundRect">
            <a:avLst>
              <a:gd name="adj" fmla="val 5646"/>
            </a:avLst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8" name="Google Shape;449;p8"/>
          <p:cNvPicPr preferRelativeResize="0"/>
          <p:nvPr/>
        </p:nvPicPr>
        <p:blipFill rotWithShape="1">
          <a:blip r:embed="rId6" cstate="print">
            <a:alphaModFix/>
          </a:blip>
          <a:srcRect/>
          <a:stretch/>
        </p:blipFill>
        <p:spPr>
          <a:xfrm>
            <a:off x="7937500" y="4314825"/>
            <a:ext cx="1718209" cy="167640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50;p8"/>
          <p:cNvSpPr/>
          <p:nvPr/>
        </p:nvSpPr>
        <p:spPr>
          <a:xfrm>
            <a:off x="7785100" y="6219825"/>
            <a:ext cx="2049600" cy="313500"/>
          </a:xfrm>
          <a:prstGeom prst="roundRect">
            <a:avLst>
              <a:gd name="adj" fmla="val 50000"/>
            </a:avLst>
          </a:prstGeom>
          <a:solidFill>
            <a:srgbClr val="255BA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Больше отзывов по QR-коду</a:t>
            </a:r>
            <a:endParaRPr dirty="0"/>
          </a:p>
        </p:txBody>
      </p:sp>
      <p:pic>
        <p:nvPicPr>
          <p:cNvPr id="59" name="Прямоугольник 4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56300" y="1419225"/>
            <a:ext cx="914400" cy="577969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3517900" y="1724025"/>
            <a:ext cx="24326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ООО «КДВ Групп»</a:t>
            </a:r>
            <a:r>
              <a:rPr lang="en-US" sz="1100" dirty="0" smtClean="0"/>
              <a:t/>
            </a:r>
            <a:endParaRPr lang="ru-RU" sz="1100" dirty="0"/>
          </a:p>
        </p:txBody>
      </p:sp>
      <p:sp>
        <p:nvSpPr>
          <p:cNvPr id="52" name="Прямоугольник 51"/>
          <p:cNvSpPr/>
          <p:nvPr/>
        </p:nvSpPr>
        <p:spPr>
          <a:xfrm>
            <a:off x="3517901" y="2181225"/>
            <a:ext cx="3276600" cy="1371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>
                <a:solidFill>
                  <a:schemeClr val="tx1"/>
                </a:solidFill>
              </a:rPr>
              <a:t>Денис Штенгелов</a:t>
            </a:r>
            <a:r>
              <a:rPr lang="en-US" sz="1000" dirty="0" smtClean="0">
                <a:solidFill>
                  <a:schemeClr val="tx1"/>
                </a:solidFill>
              </a:rPr>
              <a:t/>
            </a:r>
            <a:endParaRPr lang="ru-RU" sz="1000" dirty="0">
              <a:solidFill>
                <a:schemeClr val="tx1"/>
              </a:solidFill>
            </a:endParaRPr>
          </a:p>
          <a:p>
            <a:endParaRPr lang="ru-RU" dirty="0"/>
          </a:p>
        </p:txBody>
      </p:sp>
      <p:pic>
        <p:nvPicPr>
          <p:cNvPr id="60" name="Прямоугольник 5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37700" y="1419225"/>
            <a:ext cx="897147" cy="577969"/>
          </a:xfrm>
          <a:prstGeom prst="rect">
            <a:avLst/>
          </a:prstGeom>
        </p:spPr>
      </p:pic>
      <p:pic>
        <p:nvPicPr>
          <p:cNvPr id="61" name="Прямоугольник 5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80100" y="4238625"/>
            <a:ext cx="897147" cy="577969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7099300" y="1800225"/>
            <a:ext cx="24499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100" dirty="0"/>
              <a:t>Mars ООО (Россия)</a:t>
            </a:r>
            <a:r>
              <a:rPr lang="en-US" sz="1100" dirty="0" smtClean="0"/>
              <a:t/>
            </a:r>
            <a:endParaRPr lang="ru-RU" sz="1100" dirty="0"/>
          </a:p>
        </p:txBody>
      </p:sp>
      <p:sp>
        <p:nvSpPr>
          <p:cNvPr id="56" name="TextBox 55"/>
          <p:cNvSpPr txBox="1"/>
          <p:nvPr/>
        </p:nvSpPr>
        <p:spPr>
          <a:xfrm>
            <a:off x="7175500" y="2486025"/>
            <a:ext cx="320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Александр Петров</a:t>
            </a:r>
            <a:r>
              <a:rPr lang="en-US" sz="1000" dirty="0"/>
              <a:t/>
            </a:r>
            <a:r>
              <a:rPr lang="en-US" sz="1000" dirty="0" smtClean="0">
                <a:latin typeface="+mn-lt"/>
              </a:rPr>
              <a:t/>
            </a:r>
            <a:r>
              <a:rPr lang="en-US" sz="1000" dirty="0" smtClean="0"/>
              <a:t/>
            </a:r>
            <a:endParaRPr lang="ru-RU" sz="1000" dirty="0"/>
          </a:p>
        </p:txBody>
      </p:sp>
      <p:sp>
        <p:nvSpPr>
          <p:cNvPr id="57" name="TextBox 56"/>
          <p:cNvSpPr txBox="1"/>
          <p:nvPr/>
        </p:nvSpPr>
        <p:spPr>
          <a:xfrm>
            <a:off x="3517900" y="4695825"/>
            <a:ext cx="24240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100" dirty="0"/>
              <a:t>«Увелка»</a:t>
            </a:r>
            <a:r>
              <a:rPr lang="en-US" sz="1100" dirty="0" smtClean="0"/>
              <a:t/>
            </a:r>
            <a:endParaRPr lang="ru-RU" sz="1100" dirty="0"/>
          </a:p>
        </p:txBody>
      </p:sp>
      <p:sp>
        <p:nvSpPr>
          <p:cNvPr id="58" name="TextBox 57"/>
          <p:cNvSpPr txBox="1"/>
          <p:nvPr/>
        </p:nvSpPr>
        <p:spPr>
          <a:xfrm>
            <a:off x="3517901" y="5076825"/>
            <a:ext cx="33528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Иван Петров</a:t>
            </a:r>
            <a:r>
              <a:rPr lang="en-US" sz="1000" dirty="0" smtClean="0"/>
              <a:t/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9994" y="0"/>
            <a:ext cx="10332363" cy="7560309"/>
            <a:chOff x="359994" y="0"/>
            <a:chExt cx="10332363" cy="7560309"/>
          </a:xfrm>
        </p:grpSpPr>
        <p:sp>
          <p:nvSpPr>
            <p:cNvPr id="3" name="object 3"/>
            <p:cNvSpPr/>
            <p:nvPr/>
          </p:nvSpPr>
          <p:spPr>
            <a:xfrm>
              <a:off x="3239998" y="0"/>
              <a:ext cx="7452359" cy="7560309"/>
            </a:xfrm>
            <a:custGeom>
              <a:avLst/>
              <a:gdLst/>
              <a:ahLst/>
              <a:cxnLst/>
              <a:rect l="l" t="t" r="r" b="b"/>
              <a:pathLst>
                <a:path w="7452359" h="7560309">
                  <a:moveTo>
                    <a:pt x="7452004" y="0"/>
                  </a:moveTo>
                  <a:lnTo>
                    <a:pt x="252006" y="0"/>
                  </a:lnTo>
                  <a:lnTo>
                    <a:pt x="227303" y="1221"/>
                  </a:lnTo>
                  <a:lnTo>
                    <a:pt x="178850" y="10854"/>
                  </a:lnTo>
                  <a:lnTo>
                    <a:pt x="133214" y="29758"/>
                  </a:lnTo>
                  <a:lnTo>
                    <a:pt x="92138" y="57208"/>
                  </a:lnTo>
                  <a:lnTo>
                    <a:pt x="57210" y="92136"/>
                  </a:lnTo>
                  <a:lnTo>
                    <a:pt x="29769" y="133209"/>
                  </a:lnTo>
                  <a:lnTo>
                    <a:pt x="10865" y="178850"/>
                  </a:lnTo>
                  <a:lnTo>
                    <a:pt x="1223" y="227303"/>
                  </a:lnTo>
                  <a:lnTo>
                    <a:pt x="0" y="252006"/>
                  </a:lnTo>
                  <a:lnTo>
                    <a:pt x="0" y="7307999"/>
                  </a:lnTo>
                  <a:lnTo>
                    <a:pt x="4860" y="7357157"/>
                  </a:lnTo>
                  <a:lnTo>
                    <a:pt x="19189" y="7404430"/>
                  </a:lnTo>
                  <a:lnTo>
                    <a:pt x="42486" y="7447992"/>
                  </a:lnTo>
                  <a:lnTo>
                    <a:pt x="73812" y="7486192"/>
                  </a:lnTo>
                  <a:lnTo>
                    <a:pt x="112006" y="7517514"/>
                  </a:lnTo>
                  <a:lnTo>
                    <a:pt x="155562" y="7540815"/>
                  </a:lnTo>
                  <a:lnTo>
                    <a:pt x="202841" y="7555144"/>
                  </a:lnTo>
                  <a:lnTo>
                    <a:pt x="252006" y="7560005"/>
                  </a:lnTo>
                  <a:lnTo>
                    <a:pt x="7452004" y="7560005"/>
                  </a:lnTo>
                  <a:lnTo>
                    <a:pt x="74520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600005" y="1532801"/>
              <a:ext cx="6372225" cy="3517900"/>
            </a:xfrm>
            <a:custGeom>
              <a:avLst/>
              <a:gdLst/>
              <a:ahLst/>
              <a:cxnLst/>
              <a:rect l="l" t="t" r="r" b="b"/>
              <a:pathLst>
                <a:path w="6372225" h="3517900">
                  <a:moveTo>
                    <a:pt x="6191999" y="0"/>
                  </a:moveTo>
                  <a:lnTo>
                    <a:pt x="179997" y="0"/>
                  </a:lnTo>
                  <a:lnTo>
                    <a:pt x="162356" y="873"/>
                  </a:lnTo>
                  <a:lnTo>
                    <a:pt x="111112" y="13703"/>
                  </a:lnTo>
                  <a:lnTo>
                    <a:pt x="65810" y="40860"/>
                  </a:lnTo>
                  <a:lnTo>
                    <a:pt x="30337" y="80000"/>
                  </a:lnTo>
                  <a:lnTo>
                    <a:pt x="7747" y="127745"/>
                  </a:lnTo>
                  <a:lnTo>
                    <a:pt x="0" y="179997"/>
                  </a:lnTo>
                  <a:lnTo>
                    <a:pt x="0" y="3337382"/>
                  </a:lnTo>
                  <a:lnTo>
                    <a:pt x="7747" y="3389635"/>
                  </a:lnTo>
                  <a:lnTo>
                    <a:pt x="30337" y="3437378"/>
                  </a:lnTo>
                  <a:lnTo>
                    <a:pt x="65810" y="3476521"/>
                  </a:lnTo>
                  <a:lnTo>
                    <a:pt x="111112" y="3503688"/>
                  </a:lnTo>
                  <a:lnTo>
                    <a:pt x="162356" y="3516518"/>
                  </a:lnTo>
                  <a:lnTo>
                    <a:pt x="179997" y="3517391"/>
                  </a:lnTo>
                  <a:lnTo>
                    <a:pt x="6191999" y="3517391"/>
                  </a:lnTo>
                  <a:lnTo>
                    <a:pt x="6244239" y="3509633"/>
                  </a:lnTo>
                  <a:lnTo>
                    <a:pt x="6291994" y="3487042"/>
                  </a:lnTo>
                  <a:lnTo>
                    <a:pt x="6331130" y="3451569"/>
                  </a:lnTo>
                  <a:lnTo>
                    <a:pt x="6358293" y="3406266"/>
                  </a:lnTo>
                  <a:lnTo>
                    <a:pt x="6371123" y="3355028"/>
                  </a:lnTo>
                  <a:lnTo>
                    <a:pt x="6371996" y="3337382"/>
                  </a:lnTo>
                  <a:lnTo>
                    <a:pt x="6371996" y="179997"/>
                  </a:lnTo>
                  <a:lnTo>
                    <a:pt x="6364238" y="127745"/>
                  </a:lnTo>
                  <a:lnTo>
                    <a:pt x="6341648" y="80000"/>
                  </a:lnTo>
                  <a:lnTo>
                    <a:pt x="6306185" y="40860"/>
                  </a:lnTo>
                  <a:lnTo>
                    <a:pt x="6260871" y="13703"/>
                  </a:lnTo>
                  <a:lnTo>
                    <a:pt x="6209638" y="873"/>
                  </a:lnTo>
                  <a:lnTo>
                    <a:pt x="6191999" y="0"/>
                  </a:lnTo>
                  <a:close/>
                </a:path>
              </a:pathLst>
            </a:custGeom>
            <a:solidFill>
              <a:srgbClr val="E1EA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88001" y="5348986"/>
              <a:ext cx="4463999" cy="59039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79998" y="3433965"/>
              <a:ext cx="1872005" cy="37260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0994" y="1168070"/>
              <a:ext cx="2499004" cy="2160003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40994" y="3508070"/>
              <a:ext cx="2499004" cy="432003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59994" y="359994"/>
              <a:ext cx="2519997" cy="692124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740994" y="1168070"/>
            <a:ext cx="2499360" cy="2160270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919"/>
              </a:spcBef>
            </a:pP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Переговоры</a:t>
            </a:r>
            <a:endParaRPr sz="11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730"/>
              </a:spcBef>
            </a:pPr>
            <a:endParaRPr sz="1100">
              <a:latin typeface="Century Gothic"/>
              <a:cs typeface="Century Gothic"/>
            </a:endParaRPr>
          </a:p>
          <a:p>
            <a:pPr marL="503555">
              <a:lnSpc>
                <a:spcPct val="100000"/>
              </a:lnSpc>
            </a:pP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Статистика</a:t>
            </a:r>
            <a:endParaRPr sz="1100">
              <a:latin typeface="Century Gothic"/>
              <a:cs typeface="Century Gothic"/>
            </a:endParaRPr>
          </a:p>
          <a:p>
            <a:pPr marL="503555" marR="342265">
              <a:lnSpc>
                <a:spcPct val="257700"/>
              </a:lnSpc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Как</a:t>
            </a:r>
            <a:r>
              <a:rPr sz="1100" spc="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заключить</a:t>
            </a:r>
            <a:r>
              <a:rPr sz="1100" spc="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контракт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О </a:t>
            </a:r>
            <a:r>
              <a:rPr sz="1100" spc="-25" dirty="0">
                <a:solidFill>
                  <a:srgbClr val="FFFFFF"/>
                </a:solidFill>
                <a:latin typeface="Century Gothic"/>
                <a:cs typeface="Century Gothic"/>
              </a:rPr>
              <a:t>нас</a:t>
            </a:r>
            <a:endParaRPr sz="11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735"/>
              </a:spcBef>
            </a:pPr>
            <a:endParaRPr sz="1100">
              <a:latin typeface="Century Gothic"/>
              <a:cs typeface="Century Gothic"/>
            </a:endParaRPr>
          </a:p>
          <a:p>
            <a:pPr marL="503555">
              <a:lnSpc>
                <a:spcPct val="100000"/>
              </a:lnSpc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Фотоотчет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и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отзывы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32293" y="3612210"/>
            <a:ext cx="134556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245BA9"/>
                </a:solidFill>
                <a:latin typeface="Century Gothic"/>
                <a:cs typeface="Century Gothic"/>
              </a:rPr>
              <a:t>Контакты</a:t>
            </a:r>
            <a:r>
              <a:rPr sz="1100" spc="-35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245BA9"/>
                </a:solidFill>
                <a:latin typeface="Century Gothic"/>
                <a:cs typeface="Century Gothic"/>
              </a:rPr>
              <a:t>и</a:t>
            </a:r>
            <a:r>
              <a:rPr sz="1100" spc="-30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100" spc="-45" dirty="0">
                <a:solidFill>
                  <a:srgbClr val="245BA9"/>
                </a:solidFill>
                <a:latin typeface="Century Gothic"/>
                <a:cs typeface="Century Gothic"/>
              </a:rPr>
              <a:t>тарифы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64756" y="6688785"/>
            <a:ext cx="802005" cy="350520"/>
          </a:xfrm>
          <a:custGeom>
            <a:avLst/>
            <a:gdLst/>
            <a:ahLst/>
            <a:cxnLst/>
            <a:rect l="l" t="t" r="r" b="b"/>
            <a:pathLst>
              <a:path w="802005" h="350520">
                <a:moveTo>
                  <a:pt x="750214" y="51320"/>
                </a:moveTo>
                <a:lnTo>
                  <a:pt x="708907" y="20691"/>
                </a:lnTo>
                <a:lnTo>
                  <a:pt x="660493" y="3376"/>
                </a:lnTo>
                <a:lnTo>
                  <a:pt x="626313" y="0"/>
                </a:lnTo>
                <a:lnTo>
                  <a:pt x="175221" y="0"/>
                </a:lnTo>
                <a:lnTo>
                  <a:pt x="124360" y="7549"/>
                </a:lnTo>
                <a:lnTo>
                  <a:pt x="77881" y="29537"/>
                </a:lnTo>
                <a:lnTo>
                  <a:pt x="64065" y="39777"/>
                </a:lnTo>
                <a:lnTo>
                  <a:pt x="51320" y="51320"/>
                </a:lnTo>
              </a:path>
              <a:path w="802005" h="350520">
                <a:moveTo>
                  <a:pt x="51320" y="299161"/>
                </a:moveTo>
                <a:lnTo>
                  <a:pt x="92627" y="329779"/>
                </a:lnTo>
                <a:lnTo>
                  <a:pt x="141041" y="347092"/>
                </a:lnTo>
                <a:lnTo>
                  <a:pt x="175221" y="350469"/>
                </a:lnTo>
                <a:lnTo>
                  <a:pt x="621550" y="350469"/>
                </a:lnTo>
                <a:lnTo>
                  <a:pt x="659898" y="347092"/>
                </a:lnTo>
                <a:lnTo>
                  <a:pt x="708907" y="329779"/>
                </a:lnTo>
                <a:lnTo>
                  <a:pt x="737469" y="310702"/>
                </a:lnTo>
                <a:lnTo>
                  <a:pt x="750214" y="299161"/>
                </a:lnTo>
              </a:path>
              <a:path w="802005" h="350520">
                <a:moveTo>
                  <a:pt x="51320" y="51320"/>
                </a:moveTo>
                <a:lnTo>
                  <a:pt x="20702" y="92627"/>
                </a:lnTo>
                <a:lnTo>
                  <a:pt x="3382" y="141041"/>
                </a:lnTo>
                <a:lnTo>
                  <a:pt x="0" y="175221"/>
                </a:lnTo>
                <a:lnTo>
                  <a:pt x="0" y="170497"/>
                </a:lnTo>
                <a:lnTo>
                  <a:pt x="3382" y="208843"/>
                </a:lnTo>
                <a:lnTo>
                  <a:pt x="20702" y="257847"/>
                </a:lnTo>
                <a:lnTo>
                  <a:pt x="39779" y="286410"/>
                </a:lnTo>
                <a:lnTo>
                  <a:pt x="51320" y="299161"/>
                </a:lnTo>
              </a:path>
              <a:path w="802005" h="350520">
                <a:moveTo>
                  <a:pt x="750214" y="299161"/>
                </a:moveTo>
                <a:lnTo>
                  <a:pt x="780832" y="257847"/>
                </a:lnTo>
                <a:lnTo>
                  <a:pt x="798156" y="209438"/>
                </a:lnTo>
                <a:lnTo>
                  <a:pt x="801535" y="175260"/>
                </a:lnTo>
                <a:lnTo>
                  <a:pt x="801535" y="179984"/>
                </a:lnTo>
                <a:lnTo>
                  <a:pt x="798156" y="141636"/>
                </a:lnTo>
                <a:lnTo>
                  <a:pt x="780832" y="92627"/>
                </a:lnTo>
                <a:lnTo>
                  <a:pt x="761755" y="64065"/>
                </a:lnTo>
                <a:lnTo>
                  <a:pt x="750214" y="51320"/>
                </a:lnTo>
              </a:path>
            </a:pathLst>
          </a:custGeom>
          <a:ln w="9525">
            <a:solidFill>
              <a:srgbClr val="9CC9E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3587305" y="294056"/>
            <a:ext cx="5302250" cy="915635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 marR="5080">
              <a:lnSpc>
                <a:spcPts val="3200"/>
              </a:lnSpc>
              <a:spcBef>
                <a:spcPts val="740"/>
              </a:spcBef>
            </a:pPr>
            <a:r>
              <a:rPr lang="en-US" dirty="0" smtClean="0"/>
              <a:t>Шифрина</a:t>
            </a:r>
            <a:r>
              <a:rPr dirty="0" smtClean="0"/>
              <a:t>,</a:t>
            </a:r>
            <a:r>
              <a:rPr spc="-80" dirty="0" smtClean="0"/>
              <a:t> </a:t>
            </a:r>
            <a:r>
              <a:rPr dirty="0"/>
              <a:t>Вы</a:t>
            </a:r>
            <a:r>
              <a:rPr spc="-75" dirty="0"/>
              <a:t> </a:t>
            </a:r>
            <a:r>
              <a:rPr spc="210" dirty="0"/>
              <a:t>в</a:t>
            </a:r>
            <a:r>
              <a:rPr spc="-75" dirty="0"/>
              <a:t> </a:t>
            </a:r>
            <a:r>
              <a:rPr spc="-30" dirty="0"/>
              <a:t>одном</a:t>
            </a:r>
            <a:r>
              <a:rPr spc="-75" dirty="0"/>
              <a:t> </a:t>
            </a:r>
            <a:r>
              <a:rPr spc="-10" dirty="0"/>
              <a:t>клике </a:t>
            </a:r>
            <a:r>
              <a:rPr dirty="0"/>
              <a:t>от</a:t>
            </a:r>
            <a:r>
              <a:rPr spc="-15" dirty="0"/>
              <a:t> </a:t>
            </a:r>
            <a:r>
              <a:rPr spc="70" dirty="0"/>
              <a:t>входа</a:t>
            </a:r>
            <a:r>
              <a:rPr spc="-5" dirty="0"/>
              <a:t> </a:t>
            </a:r>
            <a:r>
              <a:rPr spc="210" dirty="0"/>
              <a:t>в</a:t>
            </a:r>
            <a:r>
              <a:rPr spc="-5" dirty="0"/>
              <a:t> </a:t>
            </a:r>
            <a:r>
              <a:rPr spc="-20" dirty="0"/>
              <a:t>сети!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5567298" y="1670151"/>
            <a:ext cx="2032635" cy="6038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800" dirty="0" err="1" smtClean="0">
                <a:latin typeface="Century Gothic"/>
                <a:cs typeface="Century Gothic"/>
              </a:rPr>
              <a:t>Мункуева</a:t>
            </a:r>
            <a:r>
              <a:rPr lang="ru-RU" sz="1800" spc="85" dirty="0" smtClean="0">
                <a:latin typeface="Century Gothic"/>
                <a:cs typeface="Century Gothic"/>
              </a:rPr>
              <a:t> </a:t>
            </a:r>
            <a:r>
              <a:rPr lang="ru-RU" sz="1800" spc="-25" dirty="0" smtClean="0">
                <a:latin typeface="Century Gothic"/>
                <a:cs typeface="Century Gothic"/>
              </a:rPr>
              <a:t>Зоя</a:t>
            </a:r>
            <a:endParaRPr lang="ru-RU" sz="1800" dirty="0" smtClean="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950"/>
              </a:spcBef>
            </a:pPr>
            <a:r>
              <a:rPr sz="1200" dirty="0" err="1" smtClean="0">
                <a:latin typeface="Century Gothic"/>
                <a:cs typeface="Century Gothic"/>
              </a:rPr>
              <a:t>Персональный</a:t>
            </a:r>
            <a:r>
              <a:rPr sz="1200" dirty="0" smtClean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менеджер</a:t>
            </a:r>
            <a:endParaRPr sz="1200" dirty="0">
              <a:latin typeface="Century Gothic"/>
              <a:cs typeface="Century Gothic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567298" y="2415870"/>
            <a:ext cx="4047490" cy="10377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800"/>
              </a:lnSpc>
              <a:spcBef>
                <a:spcPts val="100"/>
              </a:spcBef>
            </a:pPr>
            <a:r>
              <a:rPr sz="1200" dirty="0">
                <a:latin typeface="Century Gothic"/>
                <a:cs typeface="Century Gothic"/>
              </a:rPr>
              <a:t>«В 2025 году наши клиенты провели 222.94 переговоров и заключили 178.26 предварительных контрактов по категории «Полезные снеки». Уверены, вместе мы займем полки в нужных вам сетях».</a:t>
            </a:r>
            <a:r>
              <a:rPr sz="1200" spc="5" dirty="0">
                <a:latin typeface="Century Gothic"/>
                <a:cs typeface="Century Gothic"/>
              </a:rPr>
              <a:t/>
            </a:r>
            <a:r>
              <a:rPr sz="1200" dirty="0">
                <a:latin typeface="Century Gothic"/>
                <a:cs typeface="Century Gothic"/>
              </a:rPr>
              <a:t/>
            </a:r>
            <a:r>
              <a:rPr sz="1200" spc="-50" dirty="0">
                <a:latin typeface="Century Gothic"/>
                <a:cs typeface="Century Gothic"/>
              </a:rPr>
              <a:t/>
            </a:r>
            <a:r>
              <a:rPr sz="1200" spc="5" dirty="0">
                <a:latin typeface="Century Gothic"/>
                <a:cs typeface="Century Gothic"/>
              </a:rPr>
              <a:t/>
            </a:r>
            <a:r>
              <a:rPr sz="1200" dirty="0" err="1">
                <a:latin typeface="Century Gothic"/>
                <a:cs typeface="Century Gothic"/>
              </a:rPr>
              <a:t/>
            </a:r>
            <a:r>
              <a:rPr sz="1200" spc="5" dirty="0">
                <a:latin typeface="Century Gothic"/>
                <a:cs typeface="Century Gothic"/>
              </a:rPr>
              <a:t/>
            </a:r>
            <a:r>
              <a:rPr sz="1200" dirty="0" err="1" smtClean="0">
                <a:latin typeface="Century Gothic"/>
                <a:cs typeface="Century Gothic"/>
              </a:rPr>
              <a:t/>
            </a:r>
            <a:r>
              <a:rPr sz="1200" spc="5" dirty="0" smtClean="0">
                <a:latin typeface="Century Gothic"/>
                <a:cs typeface="Century Gothic"/>
              </a:rPr>
              <a:t/>
            </a:r>
            <a:r>
              <a:rPr lang="en-US" sz="1200" spc="5" dirty="0" smtClean="0">
                <a:latin typeface="Century Gothic"/>
                <a:cs typeface="Century Gothic"/>
              </a:rPr>
              <a:t/>
            </a:r>
            <a:r>
              <a:rPr sz="1200" spc="-25" dirty="0" smtClean="0">
                <a:latin typeface="Century Gothic"/>
                <a:cs typeface="Century Gothic"/>
              </a:rPr>
              <a:t/>
            </a:r>
            <a:r>
              <a:rPr lang="en-US" sz="1200" spc="-25" dirty="0" smtClean="0">
                <a:latin typeface="Century Gothic"/>
                <a:cs typeface="Century Gothic"/>
              </a:rPr>
              <a:t/>
            </a:r>
            <a:r>
              <a:rPr sz="1200" spc="-25" dirty="0" smtClean="0">
                <a:latin typeface="Century Gothic"/>
                <a:cs typeface="Century Gothic"/>
              </a:rPr>
              <a:t/>
            </a:r>
            <a:r>
              <a:rPr sz="1200" dirty="0">
                <a:latin typeface="Century Gothic"/>
                <a:cs typeface="Century Gothic"/>
              </a:rPr>
              <a:t/>
            </a:r>
            <a:r>
              <a:rPr sz="1200" spc="65" dirty="0">
                <a:latin typeface="Century Gothic"/>
                <a:cs typeface="Century Gothic"/>
              </a:rPr>
              <a:t/>
            </a:r>
            <a:r>
              <a:rPr sz="1200" dirty="0">
                <a:latin typeface="Century Gothic"/>
                <a:cs typeface="Century Gothic"/>
              </a:rPr>
              <a:t/>
            </a:r>
            <a:r>
              <a:rPr sz="1200" spc="65" dirty="0">
                <a:latin typeface="Century Gothic"/>
                <a:cs typeface="Century Gothic"/>
              </a:rPr>
              <a:t/>
            </a:r>
            <a:r>
              <a:rPr sz="1200" dirty="0" err="1">
                <a:latin typeface="Century Gothic"/>
                <a:cs typeface="Century Gothic"/>
              </a:rPr>
              <a:t/>
            </a:r>
            <a:r>
              <a:rPr sz="1200" spc="70" dirty="0">
                <a:latin typeface="Century Gothic"/>
                <a:cs typeface="Century Gothic"/>
              </a:rPr>
              <a:t/>
            </a:r>
            <a:r>
              <a:rPr lang="en-US" sz="1200" dirty="0" smtClean="0">
                <a:latin typeface="Century Gothic"/>
                <a:cs typeface="Century Gothic"/>
              </a:rPr>
              <a:t/>
            </a:r>
            <a:r>
              <a:rPr sz="1200" spc="65" dirty="0" smtClean="0">
                <a:latin typeface="Century Gothic"/>
                <a:cs typeface="Century Gothic"/>
              </a:rPr>
              <a:t/>
            </a:r>
            <a:r>
              <a:rPr sz="1200" spc="-10" dirty="0">
                <a:latin typeface="Century Gothic"/>
                <a:cs typeface="Century Gothic"/>
              </a:rPr>
              <a:t/>
            </a:r>
            <a:r>
              <a:rPr sz="1200" dirty="0">
                <a:latin typeface="Century Gothic"/>
                <a:cs typeface="Century Gothic"/>
              </a:rPr>
              <a:t/>
            </a:r>
            <a:r>
              <a:rPr sz="1200" spc="-25" dirty="0">
                <a:latin typeface="Century Gothic"/>
                <a:cs typeface="Century Gothic"/>
              </a:rPr>
              <a:t/>
            </a:r>
            <a:r>
              <a:rPr sz="1200" dirty="0">
                <a:latin typeface="Century Gothic"/>
                <a:cs typeface="Century Gothic"/>
              </a:rPr>
              <a:t/>
            </a:r>
            <a:r>
              <a:rPr sz="1200" spc="-20" dirty="0">
                <a:latin typeface="Century Gothic"/>
                <a:cs typeface="Century Gothic"/>
              </a:rPr>
              <a:t/>
            </a:r>
            <a:r>
              <a:rPr sz="1200" dirty="0" err="1">
                <a:latin typeface="Century Gothic"/>
                <a:cs typeface="Century Gothic"/>
              </a:rPr>
              <a:t/>
            </a:r>
            <a:r>
              <a:rPr sz="1200" spc="-20" dirty="0">
                <a:latin typeface="Century Gothic"/>
                <a:cs typeface="Century Gothic"/>
              </a:rPr>
              <a:t/>
            </a:r>
            <a:r>
              <a:rPr lang="en-US" sz="1200" spc="-20" dirty="0" smtClean="0">
                <a:latin typeface="Century Gothic"/>
                <a:cs typeface="Century Gothic"/>
              </a:rPr>
              <a:t/>
            </a:r>
            <a:r>
              <a:rPr sz="1200" spc="-10" dirty="0" smtClean="0">
                <a:latin typeface="Century Gothic"/>
                <a:cs typeface="Century Gothic"/>
              </a:rPr>
              <a:t/>
            </a:r>
            <a:r>
              <a:rPr sz="1200" spc="-20" dirty="0" smtClean="0">
                <a:latin typeface="Century Gothic"/>
                <a:cs typeface="Century Gothic"/>
              </a:rPr>
              <a:t/>
            </a:r>
            <a:r>
              <a:rPr sz="1200" spc="-10" dirty="0">
                <a:latin typeface="Century Gothic"/>
                <a:cs typeface="Century Gothic"/>
              </a:rPr>
              <a:t/>
            </a:r>
            <a:r>
              <a:rPr sz="1200" spc="-55" dirty="0">
                <a:latin typeface="Century Gothic"/>
                <a:cs typeface="Century Gothic"/>
              </a:rPr>
              <a:t/>
            </a:r>
            <a:r>
              <a:rPr sz="1200" spc="-90" dirty="0">
                <a:latin typeface="Century Gothic"/>
                <a:cs typeface="Century Gothic"/>
              </a:rPr>
              <a:t/>
            </a:r>
            <a:r>
              <a:rPr sz="1200" dirty="0">
                <a:latin typeface="Century Gothic"/>
                <a:cs typeface="Century Gothic"/>
              </a:rPr>
              <a:t/>
            </a:r>
            <a:r>
              <a:rPr sz="1200" spc="-45" dirty="0">
                <a:latin typeface="Century Gothic"/>
                <a:cs typeface="Century Gothic"/>
              </a:rPr>
              <a:t/>
            </a:r>
            <a:r>
              <a:rPr sz="1200" spc="-25" dirty="0">
                <a:latin typeface="Century Gothic"/>
                <a:cs typeface="Century Gothic"/>
              </a:rPr>
              <a:t/>
            </a:r>
            <a:r>
              <a:rPr sz="1200" dirty="0">
                <a:latin typeface="Century Gothic"/>
                <a:cs typeface="Century Gothic"/>
              </a:rPr>
              <a:t/>
            </a:r>
            <a:r>
              <a:rPr sz="1200" spc="-30" dirty="0">
                <a:latin typeface="Century Gothic"/>
                <a:cs typeface="Century Gothic"/>
              </a:rPr>
              <a:t/>
            </a:r>
            <a:r>
              <a:rPr sz="1200" spc="75" dirty="0">
                <a:latin typeface="Century Gothic"/>
                <a:cs typeface="Century Gothic"/>
              </a:rPr>
              <a:t/>
            </a:r>
            <a:r>
              <a:rPr sz="1200" spc="-25" dirty="0">
                <a:latin typeface="Century Gothic"/>
                <a:cs typeface="Century Gothic"/>
              </a:rPr>
              <a:t/>
            </a:r>
            <a:r>
              <a:rPr sz="1200" dirty="0">
                <a:latin typeface="Century Gothic"/>
                <a:cs typeface="Century Gothic"/>
              </a:rPr>
              <a:t/>
            </a:r>
            <a:r>
              <a:rPr sz="1200" spc="-25" dirty="0">
                <a:latin typeface="Century Gothic"/>
                <a:cs typeface="Century Gothic"/>
              </a:rPr>
              <a:t/>
            </a:r>
            <a:r>
              <a:rPr sz="1200" spc="-10" dirty="0">
                <a:latin typeface="Century Gothic"/>
                <a:cs typeface="Century Gothic"/>
              </a:rPr>
              <a:t/>
            </a:r>
            <a:r>
              <a:rPr sz="1200" spc="-25" dirty="0">
                <a:latin typeface="Century Gothic"/>
                <a:cs typeface="Century Gothic"/>
              </a:rPr>
              <a:t/>
            </a:r>
            <a:r>
              <a:rPr sz="1200" spc="-10" dirty="0">
                <a:latin typeface="Century Gothic"/>
                <a:cs typeface="Century Gothic"/>
              </a:rPr>
              <a:t/>
            </a:r>
            <a:endParaRPr sz="1200" dirty="0">
              <a:latin typeface="Century Gothic"/>
              <a:cs typeface="Century Gothic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579998" y="3433965"/>
            <a:ext cx="1872614" cy="275717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marL="359410">
              <a:lnSpc>
                <a:spcPct val="100000"/>
              </a:lnSpc>
              <a:spcBef>
                <a:spcPts val="710"/>
              </a:spcBef>
            </a:pPr>
            <a:r>
              <a:rPr lang="ru-RU" sz="1200" spc="-10" dirty="0" smtClean="0">
                <a:latin typeface="Century Gothic"/>
                <a:cs typeface="Century Gothic"/>
              </a:rPr>
              <a:t>+79006574280</a:t>
            </a:r>
            <a:endParaRPr lang="ru-RU" sz="1200" dirty="0">
              <a:latin typeface="Century Gothic"/>
              <a:cs typeface="Century Gothic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7472247" y="3433724"/>
            <a:ext cx="1887855" cy="900430"/>
            <a:chOff x="7472247" y="3433724"/>
            <a:chExt cx="1887855" cy="900430"/>
          </a:xfrm>
        </p:grpSpPr>
        <p:sp>
          <p:nvSpPr>
            <p:cNvPr id="19" name="object 19">
              <a:hlinkClick r:id="rId7"/>
            </p:cNvPr>
            <p:cNvSpPr/>
            <p:nvPr/>
          </p:nvSpPr>
          <p:spPr>
            <a:xfrm>
              <a:off x="7472247" y="3454208"/>
              <a:ext cx="283845" cy="283845"/>
            </a:xfrm>
            <a:custGeom>
              <a:avLst/>
              <a:gdLst/>
              <a:ahLst/>
              <a:cxnLst/>
              <a:rect l="l" t="t" r="r" b="b"/>
              <a:pathLst>
                <a:path w="283845" h="283845">
                  <a:moveTo>
                    <a:pt x="141734" y="0"/>
                  </a:moveTo>
                  <a:lnTo>
                    <a:pt x="96935" y="7225"/>
                  </a:lnTo>
                  <a:lnTo>
                    <a:pt x="58028" y="27346"/>
                  </a:lnTo>
                  <a:lnTo>
                    <a:pt x="27346" y="58028"/>
                  </a:lnTo>
                  <a:lnTo>
                    <a:pt x="7225" y="96935"/>
                  </a:lnTo>
                  <a:lnTo>
                    <a:pt x="0" y="141734"/>
                  </a:lnTo>
                  <a:lnTo>
                    <a:pt x="7225" y="186531"/>
                  </a:lnTo>
                  <a:lnTo>
                    <a:pt x="27346" y="225436"/>
                  </a:lnTo>
                  <a:lnTo>
                    <a:pt x="58028" y="256115"/>
                  </a:lnTo>
                  <a:lnTo>
                    <a:pt x="96935" y="276234"/>
                  </a:lnTo>
                  <a:lnTo>
                    <a:pt x="141734" y="283459"/>
                  </a:lnTo>
                  <a:lnTo>
                    <a:pt x="186531" y="276234"/>
                  </a:lnTo>
                  <a:lnTo>
                    <a:pt x="225436" y="256115"/>
                  </a:lnTo>
                  <a:lnTo>
                    <a:pt x="256115" y="225436"/>
                  </a:lnTo>
                  <a:lnTo>
                    <a:pt x="276234" y="186531"/>
                  </a:lnTo>
                  <a:lnTo>
                    <a:pt x="283459" y="141734"/>
                  </a:lnTo>
                  <a:lnTo>
                    <a:pt x="276234" y="96935"/>
                  </a:lnTo>
                  <a:lnTo>
                    <a:pt x="256115" y="58028"/>
                  </a:lnTo>
                  <a:lnTo>
                    <a:pt x="225436" y="27346"/>
                  </a:lnTo>
                  <a:lnTo>
                    <a:pt x="186531" y="7225"/>
                  </a:lnTo>
                  <a:lnTo>
                    <a:pt x="14173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>
              <a:hlinkClick r:id="rId7"/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492498" y="3474458"/>
              <a:ext cx="242965" cy="242963"/>
            </a:xfrm>
            <a:prstGeom prst="rect">
              <a:avLst/>
            </a:prstGeom>
          </p:spPr>
        </p:pic>
        <p:sp>
          <p:nvSpPr>
            <p:cNvPr id="21" name="object 21">
              <a:hlinkClick r:id="rId9"/>
            </p:cNvPr>
            <p:cNvSpPr/>
            <p:nvPr/>
          </p:nvSpPr>
          <p:spPr>
            <a:xfrm>
              <a:off x="7784999" y="3442972"/>
              <a:ext cx="339090" cy="339090"/>
            </a:xfrm>
            <a:custGeom>
              <a:avLst/>
              <a:gdLst/>
              <a:ahLst/>
              <a:cxnLst/>
              <a:rect l="l" t="t" r="r" b="b"/>
              <a:pathLst>
                <a:path w="339090" h="339089">
                  <a:moveTo>
                    <a:pt x="169269" y="0"/>
                  </a:moveTo>
                  <a:lnTo>
                    <a:pt x="124269" y="6046"/>
                  </a:lnTo>
                  <a:lnTo>
                    <a:pt x="83834" y="23109"/>
                  </a:lnTo>
                  <a:lnTo>
                    <a:pt x="49576" y="49576"/>
                  </a:lnTo>
                  <a:lnTo>
                    <a:pt x="23109" y="83834"/>
                  </a:lnTo>
                  <a:lnTo>
                    <a:pt x="6046" y="124269"/>
                  </a:lnTo>
                  <a:lnTo>
                    <a:pt x="0" y="169269"/>
                  </a:lnTo>
                  <a:lnTo>
                    <a:pt x="6046" y="214269"/>
                  </a:lnTo>
                  <a:lnTo>
                    <a:pt x="23109" y="254705"/>
                  </a:lnTo>
                  <a:lnTo>
                    <a:pt x="49576" y="288966"/>
                  </a:lnTo>
                  <a:lnTo>
                    <a:pt x="83834" y="315435"/>
                  </a:lnTo>
                  <a:lnTo>
                    <a:pt x="124269" y="332500"/>
                  </a:lnTo>
                  <a:lnTo>
                    <a:pt x="169269" y="338547"/>
                  </a:lnTo>
                  <a:lnTo>
                    <a:pt x="214269" y="332500"/>
                  </a:lnTo>
                  <a:lnTo>
                    <a:pt x="254705" y="315435"/>
                  </a:lnTo>
                  <a:lnTo>
                    <a:pt x="288966" y="288966"/>
                  </a:lnTo>
                  <a:lnTo>
                    <a:pt x="315435" y="254705"/>
                  </a:lnTo>
                  <a:lnTo>
                    <a:pt x="332500" y="214269"/>
                  </a:lnTo>
                  <a:lnTo>
                    <a:pt x="338547" y="169269"/>
                  </a:lnTo>
                  <a:lnTo>
                    <a:pt x="332500" y="124269"/>
                  </a:lnTo>
                  <a:lnTo>
                    <a:pt x="315435" y="83834"/>
                  </a:lnTo>
                  <a:lnTo>
                    <a:pt x="288966" y="49576"/>
                  </a:lnTo>
                  <a:lnTo>
                    <a:pt x="254705" y="23109"/>
                  </a:lnTo>
                  <a:lnTo>
                    <a:pt x="214269" y="6046"/>
                  </a:lnTo>
                  <a:lnTo>
                    <a:pt x="16926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>
              <a:hlinkClick r:id="rId9"/>
            </p:cNvPr>
            <p:cNvSpPr/>
            <p:nvPr/>
          </p:nvSpPr>
          <p:spPr>
            <a:xfrm>
              <a:off x="7811604" y="3470356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90" h="288289">
                  <a:moveTo>
                    <a:pt x="223909" y="264338"/>
                  </a:moveTo>
                  <a:lnTo>
                    <a:pt x="65231" y="264338"/>
                  </a:lnTo>
                  <a:lnTo>
                    <a:pt x="70636" y="267939"/>
                  </a:lnTo>
                  <a:lnTo>
                    <a:pt x="88502" y="276353"/>
                  </a:lnTo>
                  <a:lnTo>
                    <a:pt x="106876" y="282574"/>
                  </a:lnTo>
                  <a:lnTo>
                    <a:pt x="125588" y="286432"/>
                  </a:lnTo>
                  <a:lnTo>
                    <a:pt x="144469" y="287756"/>
                  </a:lnTo>
                  <a:lnTo>
                    <a:pt x="164251" y="286432"/>
                  </a:lnTo>
                  <a:lnTo>
                    <a:pt x="164533" y="286432"/>
                  </a:lnTo>
                  <a:lnTo>
                    <a:pt x="184536" y="282350"/>
                  </a:lnTo>
                  <a:lnTo>
                    <a:pt x="203727" y="275596"/>
                  </a:lnTo>
                  <a:lnTo>
                    <a:pt x="221903" y="266143"/>
                  </a:lnTo>
                  <a:lnTo>
                    <a:pt x="223909" y="264338"/>
                  </a:lnTo>
                  <a:close/>
                </a:path>
                <a:path w="288290" h="288289">
                  <a:moveTo>
                    <a:pt x="154511" y="0"/>
                  </a:moveTo>
                  <a:lnTo>
                    <a:pt x="109952" y="3616"/>
                  </a:lnTo>
                  <a:lnTo>
                    <a:pt x="67036" y="21236"/>
                  </a:lnTo>
                  <a:lnTo>
                    <a:pt x="32617" y="51346"/>
                  </a:lnTo>
                  <a:lnTo>
                    <a:pt x="9955" y="89667"/>
                  </a:lnTo>
                  <a:lnTo>
                    <a:pt x="0" y="132741"/>
                  </a:lnTo>
                  <a:lnTo>
                    <a:pt x="3703" y="177111"/>
                  </a:lnTo>
                  <a:lnTo>
                    <a:pt x="22016" y="219318"/>
                  </a:lnTo>
                  <a:lnTo>
                    <a:pt x="25616" y="224724"/>
                  </a:lnTo>
                  <a:lnTo>
                    <a:pt x="11214" y="278750"/>
                  </a:lnTo>
                  <a:lnTo>
                    <a:pt x="65231" y="264338"/>
                  </a:lnTo>
                  <a:lnTo>
                    <a:pt x="223909" y="264338"/>
                  </a:lnTo>
                  <a:lnTo>
                    <a:pt x="256148" y="235329"/>
                  </a:lnTo>
                  <a:lnTo>
                    <a:pt x="262099" y="225061"/>
                  </a:lnTo>
                  <a:lnTo>
                    <a:pt x="194158" y="225061"/>
                  </a:lnTo>
                  <a:lnTo>
                    <a:pt x="184985" y="224724"/>
                  </a:lnTo>
                  <a:lnTo>
                    <a:pt x="148070" y="213922"/>
                  </a:lnTo>
                  <a:lnTo>
                    <a:pt x="106429" y="186232"/>
                  </a:lnTo>
                  <a:lnTo>
                    <a:pt x="74237" y="149095"/>
                  </a:lnTo>
                  <a:lnTo>
                    <a:pt x="56234" y="104075"/>
                  </a:lnTo>
                  <a:lnTo>
                    <a:pt x="57218" y="93633"/>
                  </a:lnTo>
                  <a:lnTo>
                    <a:pt x="77837" y="62655"/>
                  </a:lnTo>
                  <a:lnTo>
                    <a:pt x="263683" y="62655"/>
                  </a:lnTo>
                  <a:lnTo>
                    <a:pt x="236109" y="32011"/>
                  </a:lnTo>
                  <a:lnTo>
                    <a:pt x="197601" y="9695"/>
                  </a:lnTo>
                  <a:lnTo>
                    <a:pt x="154511" y="0"/>
                  </a:lnTo>
                  <a:close/>
                </a:path>
                <a:path w="288290" h="288289">
                  <a:moveTo>
                    <a:pt x="285556" y="165302"/>
                  </a:moveTo>
                  <a:lnTo>
                    <a:pt x="189489" y="165302"/>
                  </a:lnTo>
                  <a:lnTo>
                    <a:pt x="229104" y="185109"/>
                  </a:lnTo>
                  <a:lnTo>
                    <a:pt x="230909" y="186905"/>
                  </a:lnTo>
                  <a:lnTo>
                    <a:pt x="232704" y="192310"/>
                  </a:lnTo>
                  <a:lnTo>
                    <a:pt x="232704" y="199511"/>
                  </a:lnTo>
                  <a:lnTo>
                    <a:pt x="200291" y="224724"/>
                  </a:lnTo>
                  <a:lnTo>
                    <a:pt x="194158" y="225061"/>
                  </a:lnTo>
                  <a:lnTo>
                    <a:pt x="262099" y="225061"/>
                  </a:lnTo>
                  <a:lnTo>
                    <a:pt x="278464" y="196821"/>
                  </a:lnTo>
                  <a:lnTo>
                    <a:pt x="285556" y="165302"/>
                  </a:lnTo>
                  <a:close/>
                </a:path>
                <a:path w="288290" h="288289">
                  <a:moveTo>
                    <a:pt x="263683" y="62655"/>
                  </a:moveTo>
                  <a:lnTo>
                    <a:pt x="97644" y="62655"/>
                  </a:lnTo>
                  <a:lnTo>
                    <a:pt x="99449" y="69856"/>
                  </a:lnTo>
                  <a:lnTo>
                    <a:pt x="107103" y="88763"/>
                  </a:lnTo>
                  <a:lnTo>
                    <a:pt x="110592" y="97710"/>
                  </a:lnTo>
                  <a:lnTo>
                    <a:pt x="112056" y="102270"/>
                  </a:lnTo>
                  <a:lnTo>
                    <a:pt x="113851" y="104075"/>
                  </a:lnTo>
                  <a:lnTo>
                    <a:pt x="113851" y="107675"/>
                  </a:lnTo>
                  <a:lnTo>
                    <a:pt x="112056" y="109471"/>
                  </a:lnTo>
                  <a:lnTo>
                    <a:pt x="113851" y="113071"/>
                  </a:lnTo>
                  <a:lnTo>
                    <a:pt x="112056" y="116681"/>
                  </a:lnTo>
                  <a:lnTo>
                    <a:pt x="108455" y="120282"/>
                  </a:lnTo>
                  <a:lnTo>
                    <a:pt x="106650" y="123882"/>
                  </a:lnTo>
                  <a:lnTo>
                    <a:pt x="104855" y="125678"/>
                  </a:lnTo>
                  <a:lnTo>
                    <a:pt x="101245" y="127483"/>
                  </a:lnTo>
                  <a:lnTo>
                    <a:pt x="99449" y="131083"/>
                  </a:lnTo>
                  <a:lnTo>
                    <a:pt x="101245" y="134684"/>
                  </a:lnTo>
                  <a:lnTo>
                    <a:pt x="126457" y="165302"/>
                  </a:lnTo>
                  <a:lnTo>
                    <a:pt x="160676" y="186905"/>
                  </a:lnTo>
                  <a:lnTo>
                    <a:pt x="164277" y="188710"/>
                  </a:lnTo>
                  <a:lnTo>
                    <a:pt x="167877" y="188710"/>
                  </a:lnTo>
                  <a:lnTo>
                    <a:pt x="171477" y="181509"/>
                  </a:lnTo>
                  <a:lnTo>
                    <a:pt x="187684" y="165302"/>
                  </a:lnTo>
                  <a:lnTo>
                    <a:pt x="285556" y="165302"/>
                  </a:lnTo>
                  <a:lnTo>
                    <a:pt x="288159" y="153731"/>
                  </a:lnTo>
                  <a:lnTo>
                    <a:pt x="284567" y="109471"/>
                  </a:lnTo>
                  <a:lnTo>
                    <a:pt x="284543" y="109172"/>
                  </a:lnTo>
                  <a:lnTo>
                    <a:pt x="266923" y="66256"/>
                  </a:lnTo>
                  <a:lnTo>
                    <a:pt x="263683" y="62655"/>
                  </a:lnTo>
                  <a:close/>
                </a:path>
              </a:pathLst>
            </a:custGeom>
            <a:solidFill>
              <a:srgbClr val="29AE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>
              <a:hlinkClick r:id="rId10"/>
            </p:cNvPr>
            <p:cNvSpPr/>
            <p:nvPr/>
          </p:nvSpPr>
          <p:spPr>
            <a:xfrm>
              <a:off x="8142160" y="3441662"/>
              <a:ext cx="289560" cy="289560"/>
            </a:xfrm>
            <a:custGeom>
              <a:avLst/>
              <a:gdLst/>
              <a:ahLst/>
              <a:cxnLst/>
              <a:rect l="l" t="t" r="r" b="b"/>
              <a:pathLst>
                <a:path w="289559" h="289560">
                  <a:moveTo>
                    <a:pt x="144754" y="0"/>
                  </a:moveTo>
                  <a:lnTo>
                    <a:pt x="99000" y="7379"/>
                  </a:lnTo>
                  <a:lnTo>
                    <a:pt x="59264" y="27929"/>
                  </a:lnTo>
                  <a:lnTo>
                    <a:pt x="27929" y="59264"/>
                  </a:lnTo>
                  <a:lnTo>
                    <a:pt x="7379" y="99000"/>
                  </a:lnTo>
                  <a:lnTo>
                    <a:pt x="0" y="144754"/>
                  </a:lnTo>
                  <a:lnTo>
                    <a:pt x="7379" y="190502"/>
                  </a:lnTo>
                  <a:lnTo>
                    <a:pt x="27929" y="230235"/>
                  </a:lnTo>
                  <a:lnTo>
                    <a:pt x="59264" y="261568"/>
                  </a:lnTo>
                  <a:lnTo>
                    <a:pt x="99000" y="282116"/>
                  </a:lnTo>
                  <a:lnTo>
                    <a:pt x="144754" y="289496"/>
                  </a:lnTo>
                  <a:lnTo>
                    <a:pt x="190502" y="282116"/>
                  </a:lnTo>
                  <a:lnTo>
                    <a:pt x="230235" y="261568"/>
                  </a:lnTo>
                  <a:lnTo>
                    <a:pt x="261568" y="230235"/>
                  </a:lnTo>
                  <a:lnTo>
                    <a:pt x="282116" y="190502"/>
                  </a:lnTo>
                  <a:lnTo>
                    <a:pt x="289496" y="144754"/>
                  </a:lnTo>
                  <a:lnTo>
                    <a:pt x="282116" y="99000"/>
                  </a:lnTo>
                  <a:lnTo>
                    <a:pt x="261568" y="59264"/>
                  </a:lnTo>
                  <a:lnTo>
                    <a:pt x="230235" y="27929"/>
                  </a:lnTo>
                  <a:lnTo>
                    <a:pt x="190502" y="7379"/>
                  </a:lnTo>
                  <a:lnTo>
                    <a:pt x="144754" y="0"/>
                  </a:lnTo>
                  <a:close/>
                </a:path>
              </a:pathLst>
            </a:custGeom>
            <a:solidFill>
              <a:srgbClr val="214E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>
              <a:hlinkClick r:id="rId10"/>
            </p:cNvPr>
            <p:cNvSpPr/>
            <p:nvPr/>
          </p:nvSpPr>
          <p:spPr>
            <a:xfrm>
              <a:off x="8142160" y="3441662"/>
              <a:ext cx="289560" cy="289560"/>
            </a:xfrm>
            <a:custGeom>
              <a:avLst/>
              <a:gdLst/>
              <a:ahLst/>
              <a:cxnLst/>
              <a:rect l="l" t="t" r="r" b="b"/>
              <a:pathLst>
                <a:path w="289559" h="289560">
                  <a:moveTo>
                    <a:pt x="144754" y="0"/>
                  </a:moveTo>
                  <a:lnTo>
                    <a:pt x="190502" y="7379"/>
                  </a:lnTo>
                  <a:lnTo>
                    <a:pt x="230235" y="27929"/>
                  </a:lnTo>
                  <a:lnTo>
                    <a:pt x="261568" y="59264"/>
                  </a:lnTo>
                  <a:lnTo>
                    <a:pt x="282116" y="99000"/>
                  </a:lnTo>
                  <a:lnTo>
                    <a:pt x="289496" y="144754"/>
                  </a:lnTo>
                  <a:lnTo>
                    <a:pt x="282116" y="190502"/>
                  </a:lnTo>
                  <a:lnTo>
                    <a:pt x="261568" y="230235"/>
                  </a:lnTo>
                  <a:lnTo>
                    <a:pt x="230235" y="261568"/>
                  </a:lnTo>
                  <a:lnTo>
                    <a:pt x="190502" y="282116"/>
                  </a:lnTo>
                  <a:lnTo>
                    <a:pt x="144754" y="289496"/>
                  </a:lnTo>
                  <a:lnTo>
                    <a:pt x="99000" y="282116"/>
                  </a:lnTo>
                  <a:lnTo>
                    <a:pt x="59264" y="261568"/>
                  </a:lnTo>
                  <a:lnTo>
                    <a:pt x="27929" y="230235"/>
                  </a:lnTo>
                  <a:lnTo>
                    <a:pt x="7379" y="190502"/>
                  </a:lnTo>
                  <a:lnTo>
                    <a:pt x="0" y="144754"/>
                  </a:lnTo>
                  <a:lnTo>
                    <a:pt x="7379" y="99000"/>
                  </a:lnTo>
                  <a:lnTo>
                    <a:pt x="27929" y="59264"/>
                  </a:lnTo>
                  <a:lnTo>
                    <a:pt x="59264" y="27929"/>
                  </a:lnTo>
                  <a:lnTo>
                    <a:pt x="99000" y="7379"/>
                  </a:lnTo>
                  <a:lnTo>
                    <a:pt x="144754" y="0"/>
                  </a:lnTo>
                  <a:close/>
                </a:path>
              </a:pathLst>
            </a:custGeom>
            <a:ln w="1540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>
              <a:hlinkClick r:id="rId10"/>
            </p:cNvPr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197595" y="3534054"/>
              <a:ext cx="181711" cy="115493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460003" y="3433966"/>
              <a:ext cx="899998" cy="899998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5928233" y="4659973"/>
            <a:ext cx="38049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entury Gothic"/>
                <a:cs typeface="Century Gothic"/>
              </a:rPr>
              <a:t>Готовы</a:t>
            </a:r>
            <a:r>
              <a:rPr sz="1200" spc="20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ответить</a:t>
            </a:r>
            <a:r>
              <a:rPr sz="1200" spc="20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на</a:t>
            </a:r>
            <a:r>
              <a:rPr sz="1200" spc="25" dirty="0">
                <a:latin typeface="Century Gothic"/>
                <a:cs typeface="Century Gothic"/>
              </a:rPr>
              <a:t> </a:t>
            </a:r>
            <a:r>
              <a:rPr sz="1200" spc="-20" dirty="0">
                <a:latin typeface="Century Gothic"/>
                <a:cs typeface="Century Gothic"/>
              </a:rPr>
              <a:t>ваши</a:t>
            </a:r>
            <a:r>
              <a:rPr sz="1200" spc="20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вопросы.</a:t>
            </a:r>
            <a:r>
              <a:rPr sz="1200" spc="25" dirty="0">
                <a:latin typeface="Century Gothic"/>
                <a:cs typeface="Century Gothic"/>
              </a:rPr>
              <a:t> </a:t>
            </a:r>
            <a:r>
              <a:rPr sz="1200" spc="-30" dirty="0">
                <a:latin typeface="Century Gothic"/>
                <a:cs typeface="Century Gothic"/>
              </a:rPr>
              <a:t>Напишите</a:t>
            </a:r>
            <a:r>
              <a:rPr sz="1200" spc="20" dirty="0">
                <a:latin typeface="Century Gothic"/>
                <a:cs typeface="Century Gothic"/>
              </a:rPr>
              <a:t> </a:t>
            </a:r>
            <a:r>
              <a:rPr sz="1200" spc="-25" dirty="0">
                <a:latin typeface="Century Gothic"/>
                <a:cs typeface="Century Gothic"/>
              </a:rPr>
              <a:t>нам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418884" y="5427574"/>
            <a:ext cx="12026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20" dirty="0">
                <a:solidFill>
                  <a:srgbClr val="FFFFFF"/>
                </a:solidFill>
                <a:latin typeface="Century Gothic"/>
                <a:cs typeface="Century Gothic"/>
                <a:hlinkClick r:id="rId13"/>
              </a:rPr>
              <a:t>Тарифы</a:t>
            </a:r>
            <a:endParaRPr sz="2400" dirty="0">
              <a:latin typeface="Century Gothic"/>
              <a:cs typeface="Century Gothic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4777206" y="5338191"/>
            <a:ext cx="4485640" cy="612140"/>
            <a:chOff x="4777206" y="5338191"/>
            <a:chExt cx="4485640" cy="612140"/>
          </a:xfrm>
        </p:grpSpPr>
        <p:sp>
          <p:nvSpPr>
            <p:cNvPr id="30" name="object 30"/>
            <p:cNvSpPr/>
            <p:nvPr/>
          </p:nvSpPr>
          <p:spPr>
            <a:xfrm>
              <a:off x="6431584" y="5783173"/>
              <a:ext cx="1177290" cy="0"/>
            </a:xfrm>
            <a:custGeom>
              <a:avLst/>
              <a:gdLst/>
              <a:ahLst/>
              <a:cxnLst/>
              <a:rect l="l" t="t" r="r" b="b"/>
              <a:pathLst>
                <a:path w="1177290">
                  <a:moveTo>
                    <a:pt x="0" y="0"/>
                  </a:moveTo>
                  <a:lnTo>
                    <a:pt x="1176832" y="0"/>
                  </a:lnTo>
                </a:path>
              </a:pathLst>
            </a:custGeom>
            <a:ln w="1767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782603" y="5343588"/>
              <a:ext cx="4474845" cy="601345"/>
            </a:xfrm>
            <a:custGeom>
              <a:avLst/>
              <a:gdLst/>
              <a:ahLst/>
              <a:cxnLst/>
              <a:rect l="l" t="t" r="r" b="b"/>
              <a:pathLst>
                <a:path w="4474845" h="601345">
                  <a:moveTo>
                    <a:pt x="4455287" y="19507"/>
                  </a:moveTo>
                  <a:lnTo>
                    <a:pt x="4421187" y="1281"/>
                  </a:lnTo>
                  <a:lnTo>
                    <a:pt x="4408195" y="0"/>
                  </a:lnTo>
                  <a:lnTo>
                    <a:pt x="66598" y="0"/>
                  </a:lnTo>
                  <a:lnTo>
                    <a:pt x="29598" y="11229"/>
                  </a:lnTo>
                  <a:lnTo>
                    <a:pt x="24348" y="15122"/>
                  </a:lnTo>
                  <a:lnTo>
                    <a:pt x="19507" y="19507"/>
                  </a:lnTo>
                </a:path>
                <a:path w="4474845" h="601345">
                  <a:moveTo>
                    <a:pt x="19507" y="581698"/>
                  </a:moveTo>
                  <a:lnTo>
                    <a:pt x="53601" y="599917"/>
                  </a:lnTo>
                  <a:lnTo>
                    <a:pt x="66598" y="601205"/>
                  </a:lnTo>
                  <a:lnTo>
                    <a:pt x="4402797" y="601205"/>
                  </a:lnTo>
                  <a:lnTo>
                    <a:pt x="4445195" y="589973"/>
                  </a:lnTo>
                  <a:lnTo>
                    <a:pt x="4450445" y="586082"/>
                  </a:lnTo>
                  <a:lnTo>
                    <a:pt x="4455287" y="581698"/>
                  </a:lnTo>
                </a:path>
                <a:path w="4474845" h="601345">
                  <a:moveTo>
                    <a:pt x="19507" y="19507"/>
                  </a:moveTo>
                  <a:lnTo>
                    <a:pt x="1281" y="53606"/>
                  </a:lnTo>
                  <a:lnTo>
                    <a:pt x="0" y="66598"/>
                  </a:lnTo>
                  <a:lnTo>
                    <a:pt x="0" y="529196"/>
                  </a:lnTo>
                  <a:lnTo>
                    <a:pt x="11225" y="571595"/>
                  </a:lnTo>
                  <a:lnTo>
                    <a:pt x="15116" y="576849"/>
                  </a:lnTo>
                  <a:lnTo>
                    <a:pt x="19507" y="581698"/>
                  </a:lnTo>
                </a:path>
                <a:path w="4474845" h="601345">
                  <a:moveTo>
                    <a:pt x="4455287" y="581698"/>
                  </a:moveTo>
                  <a:lnTo>
                    <a:pt x="4473513" y="547590"/>
                  </a:lnTo>
                  <a:lnTo>
                    <a:pt x="4474794" y="534593"/>
                  </a:lnTo>
                  <a:lnTo>
                    <a:pt x="4474794" y="71996"/>
                  </a:lnTo>
                  <a:lnTo>
                    <a:pt x="4463568" y="29598"/>
                  </a:lnTo>
                  <a:lnTo>
                    <a:pt x="4459677" y="24348"/>
                  </a:lnTo>
                  <a:lnTo>
                    <a:pt x="4455287" y="19507"/>
                  </a:lnTo>
                </a:path>
              </a:pathLst>
            </a:custGeom>
            <a:ln w="1079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4362386" y="6192215"/>
            <a:ext cx="4919345" cy="584200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386715" marR="5080" indent="-374650">
              <a:lnSpc>
                <a:spcPts val="2000"/>
              </a:lnSpc>
              <a:spcBef>
                <a:spcPts val="500"/>
              </a:spcBef>
            </a:pPr>
            <a:r>
              <a:rPr sz="2000" dirty="0">
                <a:latin typeface="Century Gothic"/>
                <a:cs typeface="Century Gothic"/>
              </a:rPr>
              <a:t>Получите</a:t>
            </a:r>
            <a:r>
              <a:rPr sz="2000" spc="20" dirty="0">
                <a:latin typeface="Century Gothic"/>
                <a:cs typeface="Century Gothic"/>
              </a:rPr>
              <a:t> </a:t>
            </a:r>
            <a:r>
              <a:rPr sz="2000" spc="-105" dirty="0">
                <a:latin typeface="Century Gothic"/>
                <a:cs typeface="Century Gothic"/>
              </a:rPr>
              <a:t>информацию</a:t>
            </a:r>
            <a:r>
              <a:rPr sz="2000" spc="20" dirty="0">
                <a:latin typeface="Century Gothic"/>
                <a:cs typeface="Century Gothic"/>
              </a:rPr>
              <a:t> </a:t>
            </a:r>
            <a:r>
              <a:rPr sz="2000" dirty="0">
                <a:latin typeface="Century Gothic"/>
                <a:cs typeface="Century Gothic"/>
              </a:rPr>
              <a:t>о</a:t>
            </a:r>
            <a:r>
              <a:rPr sz="2000" spc="25" dirty="0">
                <a:latin typeface="Century Gothic"/>
                <a:cs typeface="Century Gothic"/>
              </a:rPr>
              <a:t> </a:t>
            </a:r>
            <a:r>
              <a:rPr sz="2000" spc="-90" dirty="0">
                <a:latin typeface="Century Gothic"/>
                <a:cs typeface="Century Gothic"/>
              </a:rPr>
              <a:t>тарифах</a:t>
            </a:r>
            <a:r>
              <a:rPr sz="2000" spc="20" dirty="0">
                <a:latin typeface="Century Gothic"/>
                <a:cs typeface="Century Gothic"/>
              </a:rPr>
              <a:t> </a:t>
            </a:r>
            <a:r>
              <a:rPr sz="2000" spc="-25" dirty="0">
                <a:latin typeface="Century Gothic"/>
                <a:cs typeface="Century Gothic"/>
              </a:rPr>
              <a:t>или </a:t>
            </a:r>
            <a:r>
              <a:rPr sz="2000" dirty="0">
                <a:latin typeface="Century Gothic"/>
                <a:cs typeface="Century Gothic"/>
              </a:rPr>
              <a:t>зарегистрируйтесь</a:t>
            </a:r>
            <a:r>
              <a:rPr sz="2000" spc="-65" dirty="0">
                <a:latin typeface="Century Gothic"/>
                <a:cs typeface="Century Gothic"/>
              </a:rPr>
              <a:t> </a:t>
            </a:r>
            <a:r>
              <a:rPr sz="2000" spc="-10" dirty="0">
                <a:latin typeface="Century Gothic"/>
                <a:cs typeface="Century Gothic"/>
              </a:rPr>
              <a:t>уже</a:t>
            </a:r>
            <a:r>
              <a:rPr sz="2000" spc="-65" dirty="0">
                <a:latin typeface="Century Gothic"/>
                <a:cs typeface="Century Gothic"/>
              </a:rPr>
              <a:t> </a:t>
            </a:r>
            <a:r>
              <a:rPr sz="2000" spc="-10" dirty="0">
                <a:latin typeface="Century Gothic"/>
                <a:cs typeface="Century Gothic"/>
              </a:rPr>
              <a:t>сегодня</a:t>
            </a:r>
            <a:endParaRPr sz="2000">
              <a:latin typeface="Century Gothic"/>
              <a:cs typeface="Century Gothic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sldNum" sz="quarter" idx="7"/>
          </p:nvPr>
        </p:nvSpPr>
        <p:spPr>
          <a:xfrm>
            <a:off x="600163" y="6789623"/>
            <a:ext cx="305434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00"/>
              </a:lnSpc>
            </a:pPr>
            <a:fld id="{81D60167-4931-47E6-BA6A-407CBD079E47}" type="slidenum">
              <a:rPr dirty="0">
                <a:solidFill>
                  <a:srgbClr val="FFFFFF"/>
                </a:solidFill>
              </a:rPr>
              <a:pPr marL="38100">
                <a:lnSpc>
                  <a:spcPts val="1200"/>
                </a:lnSpc>
              </a:pPr>
              <a:t>8</a:t>
            </a:fld>
            <a:r>
              <a:rPr dirty="0"/>
              <a:t>/</a:t>
            </a:r>
            <a:r>
              <a:rPr spc="-5" dirty="0"/>
              <a:t> </a:t>
            </a:r>
            <a:r>
              <a:rPr lang="en-US" spc="-5" dirty="0" smtClean="0"/>
              <a:t>8</a:t>
            </a:r>
            <a:endParaRPr spc="-50" dirty="0"/>
          </a:p>
        </p:txBody>
      </p:sp>
      <p:pic>
        <p:nvPicPr>
          <p:cNvPr id="35" name="object 7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3780002" y="1712798"/>
            <a:ext cx="1511998" cy="151199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255</TotalTime>
  <Words>668</Words>
  <Application>Microsoft Office PowerPoint</Application>
  <PresentationFormat>Произвольный</PresentationFormat>
  <Paragraphs>173</Paragraphs>
  <Slides>8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9" baseType="lpstr">
      <vt:lpstr>Office Theme</vt:lpstr>
      <vt:lpstr>Слайд 1</vt:lpstr>
      <vt:lpstr>Слайд 2</vt:lpstr>
      <vt:lpstr>Статистика</vt:lpstr>
      <vt:lpstr>Всего два дня и вы в сети!</vt:lpstr>
      <vt:lpstr>Мы работаем для Вас</vt:lpstr>
      <vt:lpstr>Вот так проходят переговоры  </vt:lpstr>
      <vt:lpstr>Послушайте тех, кто был на ЦЗС™</vt:lpstr>
      <vt:lpstr>{{block24}}, Вы в одном клике от входа в сети!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Azfruktmn</dc:title>
  <dc:creator>Менеджер_004</dc:creator>
  <cp:lastModifiedBy>Менеджер_004</cp:lastModifiedBy>
  <cp:revision>11</cp:revision>
  <dcterms:created xsi:type="dcterms:W3CDTF">2026-06-24T08:38:13Z</dcterms:created>
  <dcterms:modified xsi:type="dcterms:W3CDTF">2026-06-25T10:39:59Z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2026-02-02T00:00:00Z</vt:filetime>
  </property>
  <property fmtid="{D5CDD505-2E9C-101B-9397-08002B2CF9AE}" pid="3" name="LastSaved">
    <vt:filetime>2026-06-24T00:00:00Z</vt:filetime>
  </property>
  <property fmtid="{D5CDD505-2E9C-101B-9397-08002B2CF9AE}" pid="4" name="Producer">
    <vt:lpwstr>3-Heights(TM) PDF Security Shell 4.8.25.2 (http://www.pdf-tools.com)</vt:lpwstr>
  </property>
</Properties>
</file>