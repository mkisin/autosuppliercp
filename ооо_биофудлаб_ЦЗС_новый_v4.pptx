
<file path=[Content_Types].xml><?xml version="1.0" encoding="utf-8"?>
<ns0:Types xmlns:ns0="http://schemas.openxmlformats.org/package/2006/content-types"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Default Extension="png" ContentType="image/png"/>
  <ns0:Override PartName="/ppt/slideMasters/slideMaster1.xml" ContentType="application/vnd.openxmlformats-officedocument.presentationml.slideMaster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presProps.xml" ContentType="application/vnd.openxmlformats-officedocument.presentationml.presProps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theme/theme1.xml" ContentType="application/vnd.openxmlformats-officedocument.theme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docProps/app.xml" ContentType="application/vnd.openxmlformats-officedocument.extended-properties+xml"/>
  <ns0:Override PartName="/ppt/tableStyles.xml" ContentType="application/vnd.openxmlformats-officedocument.presentationml.tableStyles+xml"/>
  <ns0:Override PartName="/docProps/custom.xml" ContentType="application/vnd.openxmlformats-officedocument.custom-properties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viewProps.xml" ContentType="application/vnd.openxmlformats-officedocument.presentationml.viewProps+xml"/>
  <ns0:Override PartName="/docProps/core.xml" ContentType="application/vnd.openxmlformats-package.core-properties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428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9998" y="0"/>
            <a:ext cx="7452004" cy="75600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994" y="1168070"/>
            <a:ext cx="2499004" cy="86400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2212073"/>
            <a:ext cx="2499004" cy="43200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2824073"/>
            <a:ext cx="2499004" cy="129599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239998" y="0"/>
            <a:ext cx="7452359" cy="7560309"/>
          </a:xfrm>
          <a:custGeom>
            <a:avLst/>
            <a:gdLst/>
            <a:ahLst/>
            <a:cxnLst/>
            <a:rect l="l" t="t" r="r" b="b"/>
            <a:pathLst>
              <a:path w="7452359" h="7560309">
                <a:moveTo>
                  <a:pt x="7452004" y="0"/>
                </a:moveTo>
                <a:lnTo>
                  <a:pt x="252006" y="0"/>
                </a:lnTo>
                <a:lnTo>
                  <a:pt x="227303" y="1221"/>
                </a:lnTo>
                <a:lnTo>
                  <a:pt x="178850" y="10854"/>
                </a:lnTo>
                <a:lnTo>
                  <a:pt x="133214" y="29758"/>
                </a:lnTo>
                <a:lnTo>
                  <a:pt x="92138" y="57208"/>
                </a:lnTo>
                <a:lnTo>
                  <a:pt x="57210" y="92136"/>
                </a:lnTo>
                <a:lnTo>
                  <a:pt x="29769" y="133209"/>
                </a:lnTo>
                <a:lnTo>
                  <a:pt x="10865" y="178850"/>
                </a:lnTo>
                <a:lnTo>
                  <a:pt x="1223" y="227303"/>
                </a:lnTo>
                <a:lnTo>
                  <a:pt x="0" y="252006"/>
                </a:lnTo>
                <a:lnTo>
                  <a:pt x="0" y="7308049"/>
                </a:lnTo>
                <a:lnTo>
                  <a:pt x="4860" y="7357214"/>
                </a:lnTo>
                <a:lnTo>
                  <a:pt x="19189" y="7404493"/>
                </a:lnTo>
                <a:lnTo>
                  <a:pt x="42486" y="7448054"/>
                </a:lnTo>
                <a:lnTo>
                  <a:pt x="73812" y="7486243"/>
                </a:lnTo>
                <a:lnTo>
                  <a:pt x="112006" y="7517576"/>
                </a:lnTo>
                <a:lnTo>
                  <a:pt x="155562" y="7540879"/>
                </a:lnTo>
                <a:lnTo>
                  <a:pt x="202841" y="7555201"/>
                </a:lnTo>
                <a:lnTo>
                  <a:pt x="252006" y="7560056"/>
                </a:lnTo>
                <a:lnTo>
                  <a:pt x="7452004" y="7560056"/>
                </a:lnTo>
                <a:lnTo>
                  <a:pt x="7452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0005" y="4658995"/>
            <a:ext cx="3959999" cy="58192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00005" y="5420931"/>
            <a:ext cx="3959999" cy="38794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1348067"/>
            <a:ext cx="2499004" cy="43200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1960067"/>
            <a:ext cx="2499004" cy="216000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7305" y="360248"/>
            <a:ext cx="503491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online-czs.ru/buyers/63/" TargetMode="External" /><Relationship Id="rId4" Type="http://schemas.openxmlformats.org/officeDocument/2006/relationships/image" Target="../media/image12.png" /><Relationship Id="rId6" Type="http://schemas.openxmlformats.org/officeDocument/2006/relationships/image" Target="../media/generated_9.png" /><Relationship Id="rId7" Type="http://schemas.openxmlformats.org/officeDocument/2006/relationships/image" Target="../media/generated_10.png" /><Relationship Id="rId8" Type="http://schemas.openxmlformats.org/officeDocument/2006/relationships/image" Target="../media/generated_11.png" /><Relationship Id="rId9" Type="http://schemas.openxmlformats.org/officeDocument/2006/relationships/image" Target="../media/generated_12.png" /><Relationship Id="rId10" Type="http://schemas.openxmlformats.org/officeDocument/2006/relationships/image" Target="../media/generated_13.png" /><Relationship Id="rId11" Type="http://schemas.openxmlformats.org/officeDocument/2006/relationships/image" Target="../media/generated_14.png" /><Relationship Id="rId12" Type="http://schemas.openxmlformats.org/officeDocument/2006/relationships/image" Target="../media/generated_15.png" /><Relationship Id="rId13" Type="http://schemas.openxmlformats.org/officeDocument/2006/relationships/image" Target="../media/generated_16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platforma-czs.ru/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'1.0' encoding='utf-8'?>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5.png" /><Relationship Id="rId5" Type="http://schemas.openxmlformats.org/officeDocument/2006/relationships/image" Target="../media/image6.png" /><Relationship Id="rId4" Type="http://schemas.openxmlformats.org/officeDocument/2006/relationships/image" Target="../media/image24.png" /><Relationship Id="rId7" Type="http://schemas.openxmlformats.org/officeDocument/2006/relationships/image" Target="../media/generated_1.png" /><Relationship Id="rId8" Type="http://schemas.openxmlformats.org/officeDocument/2006/relationships/image" Target="../media/generated_2.png" /><Relationship Id="rId9" Type="http://schemas.openxmlformats.org/officeDocument/2006/relationships/image" Target="../media/generated_3.png" /><Relationship Id="rId10" Type="http://schemas.openxmlformats.org/officeDocument/2006/relationships/image" Target="../media/generated_4.png" /><Relationship Id="rId11" Type="http://schemas.openxmlformats.org/officeDocument/2006/relationships/image" Target="../media/generated_5.png" /></Relationships>
</file>

<file path=ppt/slides/_rels/slide7.xml.rels><?xml version='1.0' encoding='utf-8'?>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6.png" /><Relationship Id="rId5" Type="http://schemas.openxmlformats.org/officeDocument/2006/relationships/image" Target="../media/image6.png" /><Relationship Id="rId4" Type="http://schemas.openxmlformats.org/officeDocument/2006/relationships/image" Target="../media/image24.png" /><Relationship Id="rId7" Type="http://schemas.openxmlformats.org/officeDocument/2006/relationships/image" Target="../media/generated_6.png" /><Relationship Id="rId8" Type="http://schemas.openxmlformats.org/officeDocument/2006/relationships/image" Target="../media/generated_7.png" /><Relationship Id="rId9" Type="http://schemas.openxmlformats.org/officeDocument/2006/relationships/image" Target="../media/generated_8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png"/><Relationship Id="rId7" Type="http://schemas.openxmlformats.org/officeDocument/2006/relationships/hyperlink" Target="https://platforma-czs.ru/wftariff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41"/>
            <a:ext cx="10692130" cy="7560309"/>
            <a:chOff x="0" y="0"/>
            <a:chExt cx="10692130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92002" cy="75600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9519" y="1603083"/>
              <a:ext cx="9952990" cy="2689225"/>
            </a:xfrm>
            <a:custGeom>
              <a:avLst/>
              <a:gdLst/>
              <a:ahLst/>
              <a:cxnLst/>
              <a:rect l="l" t="t" r="r" b="b"/>
              <a:pathLst>
                <a:path w="9952990" h="2689225">
                  <a:moveTo>
                    <a:pt x="9700958" y="0"/>
                  </a:moveTo>
                  <a:lnTo>
                    <a:pt x="252006" y="0"/>
                  </a:lnTo>
                  <a:lnTo>
                    <a:pt x="227308" y="1221"/>
                  </a:lnTo>
                  <a:lnTo>
                    <a:pt x="178857" y="10854"/>
                  </a:lnTo>
                  <a:lnTo>
                    <a:pt x="133221" y="29758"/>
                  </a:lnTo>
                  <a:lnTo>
                    <a:pt x="92143" y="57208"/>
                  </a:lnTo>
                  <a:lnTo>
                    <a:pt x="57215" y="92136"/>
                  </a:lnTo>
                  <a:lnTo>
                    <a:pt x="29771" y="133209"/>
                  </a:lnTo>
                  <a:lnTo>
                    <a:pt x="10865" y="178850"/>
                  </a:lnTo>
                  <a:lnTo>
                    <a:pt x="1223" y="227298"/>
                  </a:lnTo>
                  <a:lnTo>
                    <a:pt x="0" y="251993"/>
                  </a:lnTo>
                  <a:lnTo>
                    <a:pt x="0" y="2436647"/>
                  </a:lnTo>
                  <a:lnTo>
                    <a:pt x="4860" y="2485801"/>
                  </a:lnTo>
                  <a:lnTo>
                    <a:pt x="19189" y="2533078"/>
                  </a:lnTo>
                  <a:lnTo>
                    <a:pt x="42491" y="2576639"/>
                  </a:lnTo>
                  <a:lnTo>
                    <a:pt x="73812" y="2614828"/>
                  </a:lnTo>
                  <a:lnTo>
                    <a:pt x="112012" y="2646160"/>
                  </a:lnTo>
                  <a:lnTo>
                    <a:pt x="155574" y="2669463"/>
                  </a:lnTo>
                  <a:lnTo>
                    <a:pt x="202847" y="2683786"/>
                  </a:lnTo>
                  <a:lnTo>
                    <a:pt x="252006" y="2688640"/>
                  </a:lnTo>
                  <a:lnTo>
                    <a:pt x="9700958" y="2688640"/>
                  </a:lnTo>
                  <a:lnTo>
                    <a:pt x="9750117" y="2683786"/>
                  </a:lnTo>
                  <a:lnTo>
                    <a:pt x="9797389" y="2669463"/>
                  </a:lnTo>
                  <a:lnTo>
                    <a:pt x="9840952" y="2646160"/>
                  </a:lnTo>
                  <a:lnTo>
                    <a:pt x="9879152" y="2614828"/>
                  </a:lnTo>
                  <a:lnTo>
                    <a:pt x="9910473" y="2576639"/>
                  </a:lnTo>
                  <a:lnTo>
                    <a:pt x="9933774" y="2533078"/>
                  </a:lnTo>
                  <a:lnTo>
                    <a:pt x="9948103" y="2485801"/>
                  </a:lnTo>
                  <a:lnTo>
                    <a:pt x="9952964" y="2436647"/>
                  </a:lnTo>
                  <a:lnTo>
                    <a:pt x="9952964" y="251993"/>
                  </a:lnTo>
                  <a:lnTo>
                    <a:pt x="9948103" y="202839"/>
                  </a:lnTo>
                  <a:lnTo>
                    <a:pt x="9933774" y="155562"/>
                  </a:lnTo>
                  <a:lnTo>
                    <a:pt x="9910473" y="112001"/>
                  </a:lnTo>
                  <a:lnTo>
                    <a:pt x="9879152" y="73812"/>
                  </a:lnTo>
                  <a:lnTo>
                    <a:pt x="9840952" y="42479"/>
                  </a:lnTo>
                  <a:lnTo>
                    <a:pt x="9797389" y="19176"/>
                  </a:lnTo>
                  <a:lnTo>
                    <a:pt x="9750117" y="4854"/>
                  </a:lnTo>
                  <a:lnTo>
                    <a:pt x="9700958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9529" y="3742194"/>
              <a:ext cx="9592945" cy="360045"/>
            </a:xfrm>
            <a:custGeom>
              <a:avLst/>
              <a:gdLst/>
              <a:ahLst/>
              <a:cxnLst/>
              <a:rect l="l" t="t" r="r" b="b"/>
              <a:pathLst>
                <a:path w="9592945" h="360045">
                  <a:moveTo>
                    <a:pt x="791997" y="180022"/>
                  </a:moveTo>
                  <a:lnTo>
                    <a:pt x="784237" y="127749"/>
                  </a:lnTo>
                  <a:lnTo>
                    <a:pt x="761644" y="80010"/>
                  </a:lnTo>
                  <a:lnTo>
                    <a:pt x="726186" y="40868"/>
                  </a:lnTo>
                  <a:lnTo>
                    <a:pt x="680885" y="13703"/>
                  </a:lnTo>
                  <a:lnTo>
                    <a:pt x="629653" y="876"/>
                  </a:lnTo>
                  <a:lnTo>
                    <a:pt x="612013" y="0"/>
                  </a:lnTo>
                  <a:lnTo>
                    <a:pt x="179971" y="0"/>
                  </a:lnTo>
                  <a:lnTo>
                    <a:pt x="127723" y="7759"/>
                  </a:lnTo>
                  <a:lnTo>
                    <a:pt x="79984" y="30353"/>
                  </a:lnTo>
                  <a:lnTo>
                    <a:pt x="40855" y="65811"/>
                  </a:lnTo>
                  <a:lnTo>
                    <a:pt x="13690" y="111112"/>
                  </a:lnTo>
                  <a:lnTo>
                    <a:pt x="863" y="162356"/>
                  </a:lnTo>
                  <a:lnTo>
                    <a:pt x="0" y="180022"/>
                  </a:lnTo>
                  <a:lnTo>
                    <a:pt x="863" y="197662"/>
                  </a:lnTo>
                  <a:lnTo>
                    <a:pt x="13690" y="248894"/>
                  </a:lnTo>
                  <a:lnTo>
                    <a:pt x="40855" y="294208"/>
                  </a:lnTo>
                  <a:lnTo>
                    <a:pt x="79984" y="329666"/>
                  </a:lnTo>
                  <a:lnTo>
                    <a:pt x="127723" y="352259"/>
                  </a:lnTo>
                  <a:lnTo>
                    <a:pt x="179971" y="360006"/>
                  </a:lnTo>
                  <a:lnTo>
                    <a:pt x="612013" y="360006"/>
                  </a:lnTo>
                  <a:lnTo>
                    <a:pt x="664248" y="352259"/>
                  </a:lnTo>
                  <a:lnTo>
                    <a:pt x="711987" y="329666"/>
                  </a:lnTo>
                  <a:lnTo>
                    <a:pt x="751128" y="294208"/>
                  </a:lnTo>
                  <a:lnTo>
                    <a:pt x="778294" y="248894"/>
                  </a:lnTo>
                  <a:lnTo>
                    <a:pt x="791121" y="197662"/>
                  </a:lnTo>
                  <a:lnTo>
                    <a:pt x="791997" y="180022"/>
                  </a:lnTo>
                  <a:close/>
                </a:path>
                <a:path w="9592945" h="360045">
                  <a:moveTo>
                    <a:pt x="2663990" y="180022"/>
                  </a:moveTo>
                  <a:lnTo>
                    <a:pt x="2656230" y="127749"/>
                  </a:lnTo>
                  <a:lnTo>
                    <a:pt x="2633649" y="80010"/>
                  </a:lnTo>
                  <a:lnTo>
                    <a:pt x="2598191" y="40868"/>
                  </a:lnTo>
                  <a:lnTo>
                    <a:pt x="2552890" y="13703"/>
                  </a:lnTo>
                  <a:lnTo>
                    <a:pt x="2501646" y="876"/>
                  </a:lnTo>
                  <a:lnTo>
                    <a:pt x="2484018" y="0"/>
                  </a:lnTo>
                  <a:lnTo>
                    <a:pt x="1043978" y="0"/>
                  </a:lnTo>
                  <a:lnTo>
                    <a:pt x="991730" y="7759"/>
                  </a:lnTo>
                  <a:lnTo>
                    <a:pt x="943991" y="30353"/>
                  </a:lnTo>
                  <a:lnTo>
                    <a:pt x="904849" y="65811"/>
                  </a:lnTo>
                  <a:lnTo>
                    <a:pt x="877697" y="111112"/>
                  </a:lnTo>
                  <a:lnTo>
                    <a:pt x="864857" y="162356"/>
                  </a:lnTo>
                  <a:lnTo>
                    <a:pt x="863993" y="180022"/>
                  </a:lnTo>
                  <a:lnTo>
                    <a:pt x="864857" y="197662"/>
                  </a:lnTo>
                  <a:lnTo>
                    <a:pt x="877697" y="248894"/>
                  </a:lnTo>
                  <a:lnTo>
                    <a:pt x="904849" y="294208"/>
                  </a:lnTo>
                  <a:lnTo>
                    <a:pt x="943991" y="329666"/>
                  </a:lnTo>
                  <a:lnTo>
                    <a:pt x="991730" y="352259"/>
                  </a:lnTo>
                  <a:lnTo>
                    <a:pt x="1043978" y="360006"/>
                  </a:lnTo>
                  <a:lnTo>
                    <a:pt x="2484018" y="360006"/>
                  </a:lnTo>
                  <a:lnTo>
                    <a:pt x="2536253" y="352259"/>
                  </a:lnTo>
                  <a:lnTo>
                    <a:pt x="2583992" y="329666"/>
                  </a:lnTo>
                  <a:lnTo>
                    <a:pt x="2623134" y="294208"/>
                  </a:lnTo>
                  <a:lnTo>
                    <a:pt x="2650299" y="248894"/>
                  </a:lnTo>
                  <a:lnTo>
                    <a:pt x="2663113" y="197662"/>
                  </a:lnTo>
                  <a:lnTo>
                    <a:pt x="2663990" y="180022"/>
                  </a:lnTo>
                  <a:close/>
                </a:path>
                <a:path w="9592945" h="360045">
                  <a:moveTo>
                    <a:pt x="9592945" y="180022"/>
                  </a:moveTo>
                  <a:lnTo>
                    <a:pt x="9585185" y="127749"/>
                  </a:lnTo>
                  <a:lnTo>
                    <a:pt x="9562605" y="80010"/>
                  </a:lnTo>
                  <a:lnTo>
                    <a:pt x="9527134" y="40868"/>
                  </a:lnTo>
                  <a:lnTo>
                    <a:pt x="9481845" y="13703"/>
                  </a:lnTo>
                  <a:lnTo>
                    <a:pt x="9430601" y="876"/>
                  </a:lnTo>
                  <a:lnTo>
                    <a:pt x="9412973" y="0"/>
                  </a:lnTo>
                  <a:lnTo>
                    <a:pt x="2915983" y="0"/>
                  </a:lnTo>
                  <a:lnTo>
                    <a:pt x="2863723" y="7759"/>
                  </a:lnTo>
                  <a:lnTo>
                    <a:pt x="2815983" y="30353"/>
                  </a:lnTo>
                  <a:lnTo>
                    <a:pt x="2776855" y="65811"/>
                  </a:lnTo>
                  <a:lnTo>
                    <a:pt x="2749689" y="111112"/>
                  </a:lnTo>
                  <a:lnTo>
                    <a:pt x="2736862" y="162356"/>
                  </a:lnTo>
                  <a:lnTo>
                    <a:pt x="2735999" y="180022"/>
                  </a:lnTo>
                  <a:lnTo>
                    <a:pt x="2736862" y="197662"/>
                  </a:lnTo>
                  <a:lnTo>
                    <a:pt x="2749689" y="248894"/>
                  </a:lnTo>
                  <a:lnTo>
                    <a:pt x="2776855" y="294208"/>
                  </a:lnTo>
                  <a:lnTo>
                    <a:pt x="2815983" y="329666"/>
                  </a:lnTo>
                  <a:lnTo>
                    <a:pt x="2863723" y="352259"/>
                  </a:lnTo>
                  <a:lnTo>
                    <a:pt x="2915983" y="360006"/>
                  </a:lnTo>
                  <a:lnTo>
                    <a:pt x="9412973" y="360006"/>
                  </a:lnTo>
                  <a:lnTo>
                    <a:pt x="9465208" y="352259"/>
                  </a:lnTo>
                  <a:lnTo>
                    <a:pt x="9512948" y="329666"/>
                  </a:lnTo>
                  <a:lnTo>
                    <a:pt x="9552076" y="294208"/>
                  </a:lnTo>
                  <a:lnTo>
                    <a:pt x="9579254" y="248894"/>
                  </a:lnTo>
                  <a:lnTo>
                    <a:pt x="9592069" y="197662"/>
                  </a:lnTo>
                  <a:lnTo>
                    <a:pt x="9592945" y="1800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519" y="369532"/>
              <a:ext cx="3149993" cy="8639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42479" y="369519"/>
              <a:ext cx="2880004" cy="76206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46100" y="1724025"/>
            <a:ext cx="96012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 smtClean="0">
                <a:solidFill>
                  <a:srgbClr val="FFFFFF"/>
                </a:solidFill>
                <a:latin typeface="Century Gothic"/>
                <a:cs typeface="Century Gothic"/>
              </a:rPr>
              <a:t>Получатель Шифрина Елена Владимировна, Генеральный директор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100" y="1952625"/>
            <a:ext cx="9556115" cy="4507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lang="en-US" sz="2850" b="1" spc="155" dirty="0" smtClean="0">
                <a:solidFill>
                  <a:srgbClr val="FFFFFF"/>
                </a:solidFill>
                <a:latin typeface="Arial"/>
                <a:cs typeface="Arial"/>
              </a:rPr>
              <a:t>Как компании «ООО "БиоФудЛаб"» получить 5-10 контрактов с розничными сетями на Центре Закупок Сетей: WorldFood 2026</a:t>
            </a:r>
            <a:endParaRPr sz="28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658" y="3810343"/>
            <a:ext cx="3898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2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14E85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8922" y="3810343"/>
            <a:ext cx="13493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30-</a:t>
            </a: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40 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переговоров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17900" y="3857626"/>
            <a:ext cx="64008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>Категория </a:t>
            </a:r>
            <a:r>
              <a:rPr lang="en-US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>«Полезные снеки»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6826" y="5190287"/>
            <a:ext cx="2544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Среди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участников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от</a:t>
            </a:r>
            <a:r>
              <a:rPr sz="14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сетей: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0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10692003" y="0"/>
                </a:moveTo>
                <a:lnTo>
                  <a:pt x="10682478" y="0"/>
                </a:lnTo>
                <a:lnTo>
                  <a:pt x="10682478" y="9525"/>
                </a:lnTo>
                <a:lnTo>
                  <a:pt x="10682478" y="7550531"/>
                </a:lnTo>
                <a:lnTo>
                  <a:pt x="9525" y="7550531"/>
                </a:lnTo>
                <a:lnTo>
                  <a:pt x="9525" y="9525"/>
                </a:lnTo>
                <a:lnTo>
                  <a:pt x="10682478" y="9525"/>
                </a:lnTo>
                <a:lnTo>
                  <a:pt x="10682478" y="0"/>
                </a:lnTo>
                <a:lnTo>
                  <a:pt x="0" y="0"/>
                </a:lnTo>
                <a:lnTo>
                  <a:pt x="0" y="7560056"/>
                </a:lnTo>
                <a:lnTo>
                  <a:pt x="10692003" y="7560056"/>
                </a:lnTo>
                <a:lnTo>
                  <a:pt x="106920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596830" y="6090285"/>
            <a:ext cx="32423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4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Century Gothic"/>
                <a:cs typeface="Century Gothic"/>
              </a:rPr>
              <a:t>еще</a:t>
            </a:r>
            <a:r>
              <a:rPr sz="14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40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сетей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по</a:t>
            </a:r>
            <a:r>
              <a:rPr sz="14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вашей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категории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6826" y="6716242"/>
            <a:ext cx="17970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Место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проведения: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96830" y="6718655"/>
            <a:ext cx="5102670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700" dirty="0" smtClean="0">
                <a:solidFill>
                  <a:srgbClr val="FFFFFF"/>
                </a:solidFill>
                <a:latin typeface="Century Gothic"/>
                <a:cs typeface="Century Gothic"/>
              </a:rPr>
              <a:t>15</a:t>
            </a:r>
            <a:r>
              <a:rPr sz="1700" spc="-35" dirty="0" smtClean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 smtClean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r>
              <a:rPr lang="ru-RU" sz="1700" dirty="0" smtClean="0">
                <a:solidFill>
                  <a:srgbClr val="FFFFFF"/>
                </a:solidFill>
                <a:latin typeface="Century Gothic"/>
                <a:cs typeface="Century Gothic"/>
              </a:rPr>
              <a:t>6</a:t>
            </a:r>
            <a:r>
              <a:rPr sz="1700" spc="-30" dirty="0" smtClean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lang="ru-RU" sz="1700" spc="-30" dirty="0" smtClean="0">
                <a:solidFill>
                  <a:srgbClr val="FFFFFF"/>
                </a:solidFill>
                <a:latin typeface="Century Gothic"/>
                <a:cs typeface="Century Gothic"/>
              </a:rPr>
              <a:t>сентября</a:t>
            </a:r>
            <a:r>
              <a:rPr sz="1700" spc="-35" dirty="0" smtClean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2026,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Москва,</a:t>
            </a:r>
            <a:r>
              <a:rPr sz="17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Крокус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entury Gothic"/>
                <a:cs typeface="Century Gothic"/>
              </a:rPr>
              <a:t>Экспо</a:t>
            </a:r>
            <a:endParaRPr sz="1700" dirty="0">
              <a:latin typeface="Century Gothic"/>
              <a:cs typeface="Century Gothic"/>
            </a:endParaRPr>
          </a:p>
        </p:txBody>
      </p:sp>
      <p:sp>
        <p:nvSpPr>
          <p:cNvPr id="7170" name="AutoShape 2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2" name="AutoShape 4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4" name="AutoShape 6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5" name="Прямоугольник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5500" y="5153025"/>
            <a:ext cx="762000" cy="762000"/>
          </a:xfrm>
          <a:prstGeom prst="rect">
            <a:avLst/>
          </a:prstGeom>
        </p:spPr>
      </p:pic>
      <p:pic>
        <p:nvPicPr>
          <p:cNvPr id="7176" name="Прямоугольник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3700" y="5153025"/>
            <a:ext cx="762000" cy="762000"/>
          </a:xfrm>
          <a:prstGeom prst="rect">
            <a:avLst/>
          </a:prstGeom>
        </p:spPr>
      </p:pic>
      <p:pic>
        <p:nvPicPr>
          <p:cNvPr id="7177" name="Прямоугольник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1900" y="5153025"/>
            <a:ext cx="762000" cy="762000"/>
          </a:xfrm>
          <a:prstGeom prst="rect">
            <a:avLst/>
          </a:prstGeom>
        </p:spPr>
      </p:pic>
      <p:pic>
        <p:nvPicPr>
          <p:cNvPr id="7178" name="Прямоугольник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0100" y="5153025"/>
            <a:ext cx="762000" cy="762000"/>
          </a:xfrm>
          <a:prstGeom prst="rect">
            <a:avLst/>
          </a:prstGeom>
        </p:spPr>
      </p:pic>
      <p:pic>
        <p:nvPicPr>
          <p:cNvPr id="7179" name="Прямоугольник 3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8300" y="5153025"/>
            <a:ext cx="762000" cy="762000"/>
          </a:xfrm>
          <a:prstGeom prst="rect">
            <a:avLst/>
          </a:prstGeom>
        </p:spPr>
      </p:pic>
      <p:pic>
        <p:nvPicPr>
          <p:cNvPr id="7180" name="Прямоугольник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6500" y="5153025"/>
            <a:ext cx="762000" cy="762000"/>
          </a:xfrm>
          <a:prstGeom prst="rect">
            <a:avLst/>
          </a:prstGeom>
        </p:spPr>
      </p:pic>
      <p:pic>
        <p:nvPicPr>
          <p:cNvPr id="7181" name="Прямоугольник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4700" y="5153025"/>
            <a:ext cx="762000" cy="762000"/>
          </a:xfrm>
          <a:prstGeom prst="rect">
            <a:avLst/>
          </a:prstGeom>
        </p:spPr>
      </p:pic>
      <p:pic>
        <p:nvPicPr>
          <p:cNvPr id="7182" name="Прямоугольник 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2900" y="515302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2293" y="1452207"/>
            <a:ext cx="89344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0994" y="1960067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567298" y="397358"/>
            <a:ext cx="4208780" cy="319958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lang="en-US" sz="1800" dirty="0" smtClean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с сетями по категории «Полезные снеки»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2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3587305" y="-90499"/>
            <a:ext cx="1657985" cy="2595245"/>
          </a:xfrm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0"/>
              </a:spcBef>
            </a:pPr>
            <a:r>
              <a:rPr sz="7500" spc="-25" dirty="0">
                <a:solidFill>
                  <a:srgbClr val="245BA9"/>
                </a:solidFill>
                <a:latin typeface="Century Gothic"/>
                <a:cs typeface="Century Gothic"/>
              </a:rPr>
              <a:t>30+</a:t>
            </a:r>
            <a:endParaRPr sz="75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3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0" dirty="0">
                <a:solidFill>
                  <a:srgbClr val="245BA9"/>
                </a:solidFill>
                <a:latin typeface="Century Gothic"/>
                <a:cs typeface="Century Gothic"/>
              </a:rPr>
              <a:t>часа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подготовки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87305" y="2663304"/>
            <a:ext cx="2148840" cy="1242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Виртуальный </a:t>
            </a:r>
            <a:r>
              <a:rPr sz="1200" spc="-10" dirty="0">
                <a:latin typeface="Century Gothic"/>
                <a:cs typeface="Century Gothic"/>
              </a:rPr>
              <a:t>ассистент </a:t>
            </a:r>
            <a:r>
              <a:rPr sz="1200" spc="-35" dirty="0">
                <a:latin typeface="Century Gothic"/>
                <a:cs typeface="Century Gothic"/>
              </a:rPr>
              <a:t>поможет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подготовиться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к </a:t>
            </a:r>
            <a:r>
              <a:rPr sz="1200" spc="-10" dirty="0">
                <a:latin typeface="Century Gothic"/>
                <a:cs typeface="Century Gothic"/>
              </a:rPr>
              <a:t>переговорам,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создать коммерческое </a:t>
            </a:r>
            <a:r>
              <a:rPr sz="1200" dirty="0">
                <a:latin typeface="Century Gothic"/>
                <a:cs typeface="Century Gothic"/>
              </a:rPr>
              <a:t>предложение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записаться </a:t>
            </a:r>
            <a:r>
              <a:rPr sz="1200" dirty="0">
                <a:latin typeface="Century Gothic"/>
                <a:cs typeface="Century Gothic"/>
              </a:rPr>
              <a:t>к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35" dirty="0">
                <a:latin typeface="Century Gothic"/>
                <a:cs typeface="Century Gothic"/>
              </a:rPr>
              <a:t>нужным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сетям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55296" y="1566314"/>
            <a:ext cx="62928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2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встреч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55296" y="2663304"/>
            <a:ext cx="2108200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Личное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общение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вместо </a:t>
            </a:r>
            <a:r>
              <a:rPr sz="1200" dirty="0">
                <a:latin typeface="Century Gothic"/>
                <a:cs typeface="Century Gothic"/>
              </a:rPr>
              <a:t>месяцев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ожиданий, </a:t>
            </a:r>
            <a:r>
              <a:rPr sz="1200" dirty="0">
                <a:latin typeface="Century Gothic"/>
                <a:cs typeface="Century Gothic"/>
              </a:rPr>
              <a:t>отказов,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длительных </a:t>
            </a:r>
            <a:r>
              <a:rPr sz="1200" dirty="0">
                <a:latin typeface="Century Gothic"/>
                <a:cs typeface="Century Gothic"/>
              </a:rPr>
              <a:t>рассылок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командировок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23301" y="1566314"/>
            <a:ext cx="129984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0" dirty="0">
                <a:solidFill>
                  <a:srgbClr val="245BA9"/>
                </a:solidFill>
                <a:latin typeface="Century Gothic"/>
                <a:cs typeface="Century Gothic"/>
              </a:rPr>
              <a:t>5-</a:t>
            </a: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7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новых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контрактов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23301" y="2663304"/>
            <a:ext cx="2056130" cy="1444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Автоматизированная </a:t>
            </a:r>
            <a:r>
              <a:rPr sz="1200" spc="-25" dirty="0">
                <a:latin typeface="Century Gothic"/>
                <a:cs typeface="Century Gothic"/>
              </a:rPr>
              <a:t>система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готовые </a:t>
            </a:r>
            <a:r>
              <a:rPr sz="1200" spc="-20" dirty="0">
                <a:latin typeface="Century Gothic"/>
                <a:cs typeface="Century Gothic"/>
              </a:rPr>
              <a:t>шаблоны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позволяют </a:t>
            </a:r>
            <a:r>
              <a:rPr sz="1200" dirty="0">
                <a:latin typeface="Century Gothic"/>
                <a:cs typeface="Century Gothic"/>
              </a:rPr>
              <a:t>подписывать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за минуты.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Без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рисков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и </a:t>
            </a:r>
            <a:r>
              <a:rPr sz="1200" dirty="0">
                <a:latin typeface="Century Gothic"/>
                <a:cs typeface="Century Gothic"/>
              </a:rPr>
              <a:t>давления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срокам поставки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91304" y="4628794"/>
            <a:ext cx="3435985" cy="1175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100" spc="-45" dirty="0">
                <a:latin typeface="Century Gothic"/>
                <a:cs typeface="Century Gothic"/>
              </a:rPr>
              <a:t>Ваша</a:t>
            </a:r>
            <a:r>
              <a:rPr sz="1100" spc="-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продукция окажется на </a:t>
            </a:r>
            <a:r>
              <a:rPr sz="1100" spc="-10" dirty="0">
                <a:latin typeface="Century Gothic"/>
                <a:cs typeface="Century Gothic"/>
              </a:rPr>
              <a:t>полках </a:t>
            </a:r>
            <a:r>
              <a:rPr sz="1100" spc="-20" dirty="0">
                <a:latin typeface="Century Gothic"/>
                <a:cs typeface="Century Gothic"/>
              </a:rPr>
              <a:t>интересующих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вас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гораздо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быстрее,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чем </a:t>
            </a:r>
            <a:r>
              <a:rPr sz="1100" dirty="0">
                <a:latin typeface="Century Gothic"/>
                <a:cs typeface="Century Gothic"/>
              </a:rPr>
              <a:t>вы</a:t>
            </a:r>
            <a:r>
              <a:rPr sz="1100" spc="7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ожидаете!</a:t>
            </a:r>
            <a:endParaRPr sz="11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 dirty="0">
              <a:latin typeface="Century Gothic"/>
              <a:cs typeface="Century Gothic"/>
            </a:endParaRPr>
          </a:p>
          <a:p>
            <a:pPr marL="12700" marR="372745">
              <a:lnSpc>
                <a:spcPct val="115700"/>
              </a:lnSpc>
            </a:pPr>
            <a:r>
              <a:rPr sz="1100" dirty="0">
                <a:latin typeface="Century Gothic"/>
                <a:cs typeface="Century Gothic"/>
              </a:rPr>
              <a:t>Перейдите по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QR коду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или </a:t>
            </a:r>
            <a:r>
              <a:rPr sz="1100" u="sng" dirty="0">
                <a:solidFill>
                  <a:srgbClr val="245BA9"/>
                </a:solidFill>
                <a:uFill>
                  <a:solidFill>
                    <a:srgbClr val="245BA9"/>
                  </a:solidFill>
                </a:uFill>
                <a:latin typeface="Century Gothic"/>
                <a:cs typeface="Century Gothic"/>
                <a:hlinkClick r:id="rId2"/>
              </a:rPr>
              <a:t>ссылке</a:t>
            </a:r>
            <a:r>
              <a:rPr sz="11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 </a:t>
            </a:r>
            <a:r>
              <a:rPr sz="1100" spc="-10" dirty="0">
                <a:latin typeface="Century Gothic"/>
                <a:cs typeface="Century Gothic"/>
              </a:rPr>
              <a:t>ознакомьтесь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35" dirty="0">
                <a:latin typeface="Century Gothic"/>
                <a:cs typeface="Century Gothic"/>
              </a:rPr>
              <a:t>программой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мероприятия!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7170" name="AutoShape 2" descr="QR previe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2" name="AutoShape 4" descr="QR previe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37500" y="4467225"/>
            <a:ext cx="1600200" cy="1577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1315" y="0"/>
            <a:ext cx="10332085" cy="7560309"/>
            <a:chOff x="359994" y="0"/>
            <a:chExt cx="10332085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9998" y="0"/>
              <a:ext cx="7452004" cy="75600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4320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780070"/>
              <a:ext cx="2499004" cy="4320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2392070"/>
              <a:ext cx="2499004" cy="1728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40994" y="1168070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2293" y="1884210"/>
            <a:ext cx="8191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0994" y="2392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Статистика</a:t>
            </a:r>
            <a:endParaRPr sz="3000"/>
          </a:p>
        </p:txBody>
      </p:sp>
      <p:sp>
        <p:nvSpPr>
          <p:cNvPr id="13" name="object 13"/>
          <p:cNvSpPr txBox="1"/>
          <p:nvPr/>
        </p:nvSpPr>
        <p:spPr>
          <a:xfrm>
            <a:off x="3587305" y="1014527"/>
            <a:ext cx="5642610" cy="286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lang="en-US" sz="1600" dirty="0" smtClean="0">
                <a:solidFill>
                  <a:srgbClr val="245BA9"/>
                </a:solidFill>
                <a:latin typeface="Century Gothic"/>
                <a:cs typeface="Century Gothic"/>
              </a:rPr>
              <a:t>Елена Владимировна, ознакомьтесь с итогами последнего ЦЗС™ по категории «Полезные снеки»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65500" y="1800225"/>
            <a:ext cx="2743200" cy="68371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178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37300" y="2333625"/>
            <a:ext cx="1642745" cy="1118127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465"/>
              </a:spcBef>
            </a:pPr>
            <a:r>
              <a:rPr sz="1200" spc="-10" dirty="0" err="1" smtClean="0">
                <a:latin typeface="Century Gothic"/>
                <a:cs typeface="Century Gothic"/>
              </a:rPr>
              <a:t>Заключенных</a:t>
            </a:r>
            <a:r>
              <a:rPr sz="1200" spc="-10" dirty="0" smtClean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контрактов — </a:t>
            </a:r>
            <a:r>
              <a:rPr sz="1200" spc="-10" dirty="0">
                <a:latin typeface="Century Gothic"/>
                <a:cs typeface="Century Gothic"/>
              </a:rPr>
              <a:t>средний </a:t>
            </a:r>
            <a:r>
              <a:rPr sz="1200" dirty="0">
                <a:latin typeface="Century Gothic"/>
                <a:cs typeface="Century Gothic"/>
              </a:rPr>
              <a:t>результат</a:t>
            </a:r>
            <a:r>
              <a:rPr sz="1200" spc="10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одного поставщика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00005" y="1875244"/>
            <a:ext cx="6852095" cy="3574415"/>
            <a:chOff x="3600005" y="1875244"/>
            <a:chExt cx="6696075" cy="3574415"/>
          </a:xfrm>
        </p:grpSpPr>
        <p:sp>
          <p:nvSpPr>
            <p:cNvPr id="17" name="object 17"/>
            <p:cNvSpPr/>
            <p:nvPr/>
          </p:nvSpPr>
          <p:spPr>
            <a:xfrm>
              <a:off x="3604767" y="1880006"/>
              <a:ext cx="6686550" cy="1656714"/>
            </a:xfrm>
            <a:custGeom>
              <a:avLst/>
              <a:gdLst/>
              <a:ahLst/>
              <a:cxnLst/>
              <a:rect l="l" t="t" r="r" b="b"/>
              <a:pathLst>
                <a:path w="6686550" h="1656714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31"/>
                  </a:lnTo>
                  <a:lnTo>
                    <a:pt x="24576" y="15262"/>
                  </a:lnTo>
                  <a:lnTo>
                    <a:pt x="19685" y="19697"/>
                  </a:lnTo>
                </a:path>
                <a:path w="6686550" h="1656714">
                  <a:moveTo>
                    <a:pt x="19685" y="1637017"/>
                  </a:moveTo>
                  <a:lnTo>
                    <a:pt x="54116" y="1655418"/>
                  </a:lnTo>
                  <a:lnTo>
                    <a:pt x="67233" y="1656714"/>
                  </a:lnTo>
                  <a:lnTo>
                    <a:pt x="6614464" y="1656714"/>
                  </a:lnTo>
                  <a:lnTo>
                    <a:pt x="6656585" y="1645378"/>
                  </a:lnTo>
                  <a:lnTo>
                    <a:pt x="6661886" y="1641447"/>
                  </a:lnTo>
                  <a:lnTo>
                    <a:pt x="6666776" y="1637017"/>
                  </a:lnTo>
                </a:path>
                <a:path w="6686550" h="1656714">
                  <a:moveTo>
                    <a:pt x="19685" y="19697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584718"/>
                  </a:lnTo>
                  <a:lnTo>
                    <a:pt x="11329" y="1626828"/>
                  </a:lnTo>
                  <a:lnTo>
                    <a:pt x="15256" y="1632127"/>
                  </a:lnTo>
                  <a:lnTo>
                    <a:pt x="19685" y="1637017"/>
                  </a:lnTo>
                </a:path>
                <a:path w="6686550" h="1656714">
                  <a:moveTo>
                    <a:pt x="6666776" y="1637017"/>
                  </a:moveTo>
                  <a:lnTo>
                    <a:pt x="6685176" y="1602598"/>
                  </a:lnTo>
                  <a:lnTo>
                    <a:pt x="6686473" y="1589481"/>
                  </a:lnTo>
                  <a:lnTo>
                    <a:pt x="6686473" y="71996"/>
                  </a:lnTo>
                  <a:lnTo>
                    <a:pt x="6675132" y="29886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14E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04767" y="3726243"/>
              <a:ext cx="6686550" cy="1718945"/>
            </a:xfrm>
            <a:custGeom>
              <a:avLst/>
              <a:gdLst/>
              <a:ahLst/>
              <a:cxnLst/>
              <a:rect l="l" t="t" r="r" b="b"/>
              <a:pathLst>
                <a:path w="6686550" h="1718945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41"/>
                  </a:lnTo>
                  <a:lnTo>
                    <a:pt x="24576" y="15269"/>
                  </a:lnTo>
                  <a:lnTo>
                    <a:pt x="19685" y="19697"/>
                  </a:lnTo>
                </a:path>
                <a:path w="6686550" h="1718945">
                  <a:moveTo>
                    <a:pt x="19685" y="1698625"/>
                  </a:moveTo>
                  <a:lnTo>
                    <a:pt x="54116" y="1717025"/>
                  </a:lnTo>
                  <a:lnTo>
                    <a:pt x="67233" y="1718322"/>
                  </a:lnTo>
                  <a:lnTo>
                    <a:pt x="6614464" y="1718322"/>
                  </a:lnTo>
                  <a:lnTo>
                    <a:pt x="6656585" y="1706986"/>
                  </a:lnTo>
                  <a:lnTo>
                    <a:pt x="6661886" y="1703055"/>
                  </a:lnTo>
                  <a:lnTo>
                    <a:pt x="6666776" y="1698625"/>
                  </a:lnTo>
                </a:path>
                <a:path w="6686550" h="1718945">
                  <a:moveTo>
                    <a:pt x="19685" y="19697"/>
                  </a:moveTo>
                  <a:lnTo>
                    <a:pt x="1292" y="54128"/>
                  </a:lnTo>
                  <a:lnTo>
                    <a:pt x="0" y="67246"/>
                  </a:lnTo>
                  <a:lnTo>
                    <a:pt x="0" y="1646313"/>
                  </a:lnTo>
                  <a:lnTo>
                    <a:pt x="11329" y="1688436"/>
                  </a:lnTo>
                  <a:lnTo>
                    <a:pt x="15256" y="1693735"/>
                  </a:lnTo>
                  <a:lnTo>
                    <a:pt x="19685" y="1698625"/>
                  </a:lnTo>
                </a:path>
                <a:path w="6686550" h="1718945">
                  <a:moveTo>
                    <a:pt x="6666776" y="1698625"/>
                  </a:moveTo>
                  <a:lnTo>
                    <a:pt x="6685176" y="1664200"/>
                  </a:lnTo>
                  <a:lnTo>
                    <a:pt x="6686473" y="1651076"/>
                  </a:lnTo>
                  <a:lnTo>
                    <a:pt x="6686473" y="72009"/>
                  </a:lnTo>
                  <a:lnTo>
                    <a:pt x="6675132" y="29887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746500" y="4467225"/>
            <a:ext cx="1278255" cy="7089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z="1100" spc="-10" dirty="0" err="1" smtClean="0">
                <a:latin typeface="Century Gothic"/>
                <a:cs typeface="Century Gothic"/>
              </a:rPr>
              <a:t>Закупщика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00" spc="-10" dirty="0">
                <a:latin typeface="Century Gothic"/>
                <a:cs typeface="Century Gothic"/>
              </a:rPr>
              <a:t>участвовало</a:t>
            </a:r>
            <a:endParaRPr sz="1100" dirty="0">
              <a:latin typeface="Century Gothic"/>
              <a:cs typeface="Century Gothic"/>
            </a:endParaRPr>
          </a:p>
          <a:p>
            <a:pPr marL="12700" marR="5080">
              <a:lnSpc>
                <a:spcPct val="110800"/>
              </a:lnSpc>
            </a:pP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dirty="0">
                <a:latin typeface="Century Gothic"/>
                <a:cs typeface="Century Gothic"/>
              </a:rPr>
              <a:t> переговорах </a:t>
            </a:r>
            <a:r>
              <a:rPr sz="1100" spc="-25" dirty="0">
                <a:latin typeface="Century Gothic"/>
                <a:cs typeface="Century Gothic"/>
              </a:rPr>
              <a:t>по </a:t>
            </a:r>
            <a:r>
              <a:rPr sz="1100" spc="-30" dirty="0">
                <a:latin typeface="Century Gothic"/>
                <a:cs typeface="Century Gothic"/>
              </a:rPr>
              <a:t>Вашей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категории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46700" y="4010025"/>
            <a:ext cx="2057400" cy="131574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lang="en-US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7 </a:t>
            </a:r>
            <a:r>
              <a:rPr lang="en-US" sz="12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 </a:t>
            </a:r>
            <a:br>
              <a:rPr lang="en-US" sz="12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</a:br>
            <a:r>
              <a:rPr lang="en-US" sz="12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spc="-25" dirty="0" smtClean="0">
                <a:solidFill>
                  <a:schemeClr val="tx1"/>
                </a:solidFill>
                <a:latin typeface="Century Gothic"/>
                <a:cs typeface="Century Gothic"/>
              </a:rPr>
              <a:t>Ф</a:t>
            </a:r>
            <a:r>
              <a:rPr sz="1200" spc="-25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едеральных</a:t>
            </a:r>
            <a:r>
              <a:rPr sz="1200" spc="5" dirty="0" smtClean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200" spc="-10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Сетей</a:t>
            </a:r>
            <a:r>
              <a:rPr lang="ru-RU" sz="1200" spc="-10" dirty="0" smtClean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br>
              <a:rPr lang="ru-RU" sz="1200" spc="-10" dirty="0" smtClean="0">
                <a:solidFill>
                  <a:schemeClr val="tx1"/>
                </a:solidFill>
                <a:latin typeface="Century Gothic"/>
                <a:cs typeface="Century Gothic"/>
              </a:rPr>
            </a:br>
            <a:r>
              <a:rPr lang="ru-RU" sz="800" spc="-10" dirty="0" smtClean="0">
                <a:solidFill>
                  <a:schemeClr val="tx1"/>
                </a:solidFill>
                <a:latin typeface="Century Gothic"/>
                <a:cs typeface="Century Gothic"/>
              </a:rPr>
              <a:t/>
            </a:r>
            <a:br>
              <a:rPr lang="ru-RU" sz="800" spc="-10" dirty="0" smtClean="0">
                <a:solidFill>
                  <a:schemeClr val="tx1"/>
                </a:solidFill>
                <a:latin typeface="Century Gothic"/>
                <a:cs typeface="Century Gothic"/>
              </a:rPr>
            </a:br>
            <a:r>
              <a:rPr lang="en-US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18</a:t>
            </a:r>
            <a:r>
              <a:rPr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spc="-397" baseline="-5787" dirty="0" smtClean="0">
                <a:solidFill>
                  <a:schemeClr val="tx1"/>
                </a:solidFill>
                <a:latin typeface="Century Gothic"/>
                <a:cs typeface="Century Gothic"/>
              </a:rPr>
              <a:t>  </a:t>
            </a:r>
            <a:r>
              <a:rPr lang="en-US" sz="1200" spc="-397" baseline="-5787" dirty="0" smtClean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br>
              <a:rPr lang="en-US" sz="1200" spc="-397" baseline="-5787" dirty="0" smtClean="0">
                <a:solidFill>
                  <a:schemeClr val="tx1"/>
                </a:solidFill>
                <a:latin typeface="Century Gothic"/>
                <a:cs typeface="Century Gothic"/>
              </a:rPr>
            </a:br>
            <a:r>
              <a:rPr lang="ru-RU" sz="1200" dirty="0" smtClean="0">
                <a:solidFill>
                  <a:schemeClr val="tx1"/>
                </a:solidFill>
                <a:latin typeface="Century Gothic"/>
                <a:cs typeface="Century Gothic"/>
              </a:rPr>
              <a:t>Р</a:t>
            </a:r>
            <a:r>
              <a:rPr sz="1200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егиональных</a:t>
            </a:r>
            <a:r>
              <a:rPr sz="1200" dirty="0" smtClean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solidFill>
                <a:schemeClr val="tx1"/>
              </a:solidFill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56500" y="4010025"/>
            <a:ext cx="2617076" cy="1321067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14</a:t>
            </a:r>
            <a:r>
              <a:rPr sz="3600" spc="-35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dirty="0">
                <a:solidFill>
                  <a:schemeClr val="tx1"/>
                </a:solidFill>
                <a:latin typeface="Century Gothic"/>
                <a:cs typeface="Century Gothic"/>
              </a:rPr>
              <a:t>Л</a:t>
            </a:r>
            <a:r>
              <a:rPr sz="1200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окальных</a:t>
            </a:r>
            <a:r>
              <a:rPr sz="1200" spc="30" dirty="0" smtClean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 marL="426720" marR="189865" indent="-389255">
              <a:lnSpc>
                <a:spcPct val="99200"/>
              </a:lnSpc>
              <a:spcBef>
                <a:spcPts val="82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8</a:t>
            </a:r>
            <a:r>
              <a:rPr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solidFill>
                  <a:schemeClr val="tx1"/>
                </a:solidFill>
                <a:latin typeface="Century Gothic"/>
                <a:cs typeface="Century Gothic"/>
              </a:rPr>
              <a:t>Компаний </a:t>
            </a:r>
            <a:r>
              <a:rPr lang="en-US" sz="1200" spc="-10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H</a:t>
            </a:r>
            <a:r>
              <a:rPr sz="1200" spc="-10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oReCa</a:t>
            </a:r>
            <a:endParaRPr sz="1200" dirty="0">
              <a:solidFill>
                <a:schemeClr val="tx1"/>
              </a:solidFill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12089" y="5747842"/>
            <a:ext cx="6671945" cy="108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734" marR="1760855" algn="ctr">
              <a:lnSpc>
                <a:spcPct val="115700"/>
              </a:lnSpc>
              <a:spcBef>
                <a:spcPts val="100"/>
              </a:spcBef>
            </a:pPr>
            <a:r>
              <a:rPr sz="2000" spc="-30" dirty="0">
                <a:latin typeface="Century Gothic"/>
                <a:cs typeface="Century Gothic"/>
              </a:rPr>
              <a:t>Гарантируем</a:t>
            </a:r>
            <a:r>
              <a:rPr sz="2000" spc="-8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заключение </a:t>
            </a:r>
            <a:r>
              <a:rPr sz="2000" dirty="0">
                <a:latin typeface="Century Gothic"/>
                <a:cs typeface="Century Gothic"/>
              </a:rPr>
              <a:t>предварительного</a:t>
            </a:r>
            <a:r>
              <a:rPr sz="2000" spc="14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договора,</a:t>
            </a:r>
            <a:r>
              <a:rPr sz="2000" spc="145" dirty="0">
                <a:latin typeface="Century Gothic"/>
                <a:cs typeface="Century Gothic"/>
              </a:rPr>
              <a:t> </a:t>
            </a:r>
            <a:r>
              <a:rPr sz="2000" spc="-20" dirty="0">
                <a:latin typeface="Century Gothic"/>
                <a:cs typeface="Century Gothic"/>
              </a:rPr>
              <a:t>либо </a:t>
            </a:r>
            <a:r>
              <a:rPr sz="2000" spc="-10" dirty="0">
                <a:latin typeface="Century Gothic"/>
                <a:cs typeface="Century Gothic"/>
              </a:rPr>
              <a:t>вернем</a:t>
            </a:r>
            <a:r>
              <a:rPr sz="2000" spc="-100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деньги!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604767" y="5643613"/>
            <a:ext cx="6686550" cy="1355725"/>
          </a:xfrm>
          <a:custGeom>
            <a:avLst/>
            <a:gdLst/>
            <a:ahLst/>
            <a:cxnLst/>
            <a:rect l="l" t="t" r="r" b="b"/>
            <a:pathLst>
              <a:path w="6686550" h="1355725">
                <a:moveTo>
                  <a:pt x="6666776" y="19685"/>
                </a:moveTo>
                <a:lnTo>
                  <a:pt x="6632344" y="1292"/>
                </a:lnTo>
                <a:lnTo>
                  <a:pt x="6619227" y="0"/>
                </a:lnTo>
                <a:lnTo>
                  <a:pt x="67233" y="0"/>
                </a:lnTo>
                <a:lnTo>
                  <a:pt x="29879" y="11329"/>
                </a:lnTo>
                <a:lnTo>
                  <a:pt x="24576" y="15256"/>
                </a:lnTo>
                <a:lnTo>
                  <a:pt x="19685" y="19685"/>
                </a:lnTo>
              </a:path>
              <a:path w="6686550" h="1355725">
                <a:moveTo>
                  <a:pt x="19685" y="1335900"/>
                </a:moveTo>
                <a:lnTo>
                  <a:pt x="54116" y="1354293"/>
                </a:lnTo>
                <a:lnTo>
                  <a:pt x="67233" y="1355585"/>
                </a:lnTo>
                <a:lnTo>
                  <a:pt x="6614464" y="1355585"/>
                </a:lnTo>
                <a:lnTo>
                  <a:pt x="6656585" y="1344255"/>
                </a:lnTo>
                <a:lnTo>
                  <a:pt x="6661886" y="1340328"/>
                </a:lnTo>
                <a:lnTo>
                  <a:pt x="6666776" y="1335900"/>
                </a:lnTo>
              </a:path>
              <a:path w="6686550" h="1355725">
                <a:moveTo>
                  <a:pt x="19685" y="19685"/>
                </a:moveTo>
                <a:lnTo>
                  <a:pt x="1292" y="54116"/>
                </a:lnTo>
                <a:lnTo>
                  <a:pt x="0" y="67233"/>
                </a:lnTo>
                <a:lnTo>
                  <a:pt x="0" y="1283589"/>
                </a:lnTo>
                <a:lnTo>
                  <a:pt x="11329" y="1325705"/>
                </a:lnTo>
                <a:lnTo>
                  <a:pt x="15256" y="1331008"/>
                </a:lnTo>
                <a:lnTo>
                  <a:pt x="19685" y="1335900"/>
                </a:lnTo>
              </a:path>
              <a:path w="6686550" h="1355725">
                <a:moveTo>
                  <a:pt x="6666776" y="1335900"/>
                </a:moveTo>
                <a:lnTo>
                  <a:pt x="6685176" y="1301469"/>
                </a:lnTo>
                <a:lnTo>
                  <a:pt x="6686473" y="1288351"/>
                </a:lnTo>
                <a:lnTo>
                  <a:pt x="6686473" y="71996"/>
                </a:lnTo>
                <a:lnTo>
                  <a:pt x="6675132" y="29879"/>
                </a:lnTo>
                <a:lnTo>
                  <a:pt x="6671204" y="24576"/>
                </a:lnTo>
                <a:lnTo>
                  <a:pt x="6666776" y="19685"/>
                </a:lnTo>
              </a:path>
            </a:pathLst>
          </a:custGeom>
          <a:ln w="9525">
            <a:solidFill>
              <a:srgbClr val="245B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3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3746500" y="2638425"/>
            <a:ext cx="19284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Контрактов  </a:t>
            </a:r>
            <a:r>
              <a:rPr lang="ru-RU" sz="1200" spc="-10" dirty="0" smtClean="0">
                <a:latin typeface="Century Gothic"/>
                <a:cs typeface="Century Gothic"/>
              </a:rPr>
              <a:t>заключили</a:t>
            </a:r>
            <a:endParaRPr lang="ru-RU" sz="1200" dirty="0"/>
          </a:p>
        </p:txBody>
      </p:sp>
      <p:sp>
        <p:nvSpPr>
          <p:cNvPr id="30" name="object 14"/>
          <p:cNvSpPr txBox="1"/>
          <p:nvPr/>
        </p:nvSpPr>
        <p:spPr>
          <a:xfrm>
            <a:off x="5727700" y="1800225"/>
            <a:ext cx="2971800" cy="87498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ru-RU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5</a:t>
            </a:r>
          </a:p>
        </p:txBody>
      </p:sp>
      <p:sp>
        <p:nvSpPr>
          <p:cNvPr id="31" name="Прямоугольник 30"/>
          <p:cNvSpPr/>
          <p:nvPr/>
        </p:nvSpPr>
        <p:spPr>
          <a:xfrm>
            <a:off x="8318500" y="2638425"/>
            <a:ext cx="20021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Средний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dirty="0" smtClean="0">
                <a:latin typeface="Century Gothic"/>
                <a:cs typeface="Century Gothic"/>
              </a:rPr>
              <a:t>чек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latin typeface="Century Gothic"/>
                <a:cs typeface="Century Gothic"/>
              </a:rPr>
              <a:t>контракта</a:t>
            </a:r>
          </a:p>
          <a:p>
            <a:r>
              <a:rPr lang="ru-RU" sz="1200" spc="-10" dirty="0">
                <a:latin typeface="Century Gothic"/>
              </a:rPr>
              <a:t>м</a:t>
            </a:r>
            <a:r>
              <a:rPr lang="ru-RU" sz="1200" spc="-10" dirty="0" smtClean="0">
                <a:latin typeface="Century Gothic"/>
              </a:rPr>
              <a:t>лн. рублей</a:t>
            </a:r>
            <a:endParaRPr lang="ru-RU" sz="1200" dirty="0"/>
          </a:p>
        </p:txBody>
      </p:sp>
      <p:sp>
        <p:nvSpPr>
          <p:cNvPr id="33" name="object 14"/>
          <p:cNvSpPr txBox="1"/>
          <p:nvPr/>
        </p:nvSpPr>
        <p:spPr>
          <a:xfrm>
            <a:off x="3213100" y="3781425"/>
            <a:ext cx="1981200" cy="475066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24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46</a:t>
            </a:r>
          </a:p>
        </p:txBody>
      </p:sp>
      <p:sp>
        <p:nvSpPr>
          <p:cNvPr id="32" name="object 14"/>
          <p:cNvSpPr txBox="1"/>
          <p:nvPr/>
        </p:nvSpPr>
        <p:spPr>
          <a:xfrm>
            <a:off x="7721600" y="1800225"/>
            <a:ext cx="2971800" cy="87498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10.7</a:t>
            </a:r>
          </a:p>
        </p:txBody>
      </p:sp>
      <p:sp>
        <p:nvSpPr>
          <p:cNvPr id="40" name="Прямоугольник 39"/>
          <p:cNvSpPr/>
          <p:nvPr/>
        </p:nvSpPr>
        <p:spPr>
          <a:xfrm>
            <a:off x="5346700" y="3705225"/>
            <a:ext cx="1693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800" dirty="0" smtClean="0">
                <a:latin typeface="Century Gothic"/>
                <a:cs typeface="Century Gothic"/>
              </a:rPr>
              <a:t>В том числе: </a:t>
            </a:r>
            <a:endParaRPr lang="ru-RU" dirty="0"/>
          </a:p>
        </p:txBody>
      </p:sp>
      <p:pic>
        <p:nvPicPr>
          <p:cNvPr id="34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851899" y="5838825"/>
            <a:ext cx="1004819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0994" y="1168070"/>
            <a:ext cx="2499360" cy="8642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2293" y="2316213"/>
            <a:ext cx="16706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0994" y="2824073"/>
            <a:ext cx="2499360" cy="12960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905" y="6761683"/>
            <a:ext cx="2413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 smtClean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r>
              <a:rPr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/</a:t>
            </a:r>
            <a:r>
              <a:rPr lang="en-US"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8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Всего</a:t>
            </a:r>
            <a:r>
              <a:rPr sz="3000" spc="-20" dirty="0"/>
              <a:t> </a:t>
            </a:r>
            <a:r>
              <a:rPr sz="3000" spc="120" dirty="0"/>
              <a:t>два</a:t>
            </a:r>
            <a:r>
              <a:rPr sz="3000" spc="-20" dirty="0"/>
              <a:t> </a:t>
            </a:r>
            <a:r>
              <a:rPr sz="3000" spc="114" dirty="0"/>
              <a:t>дня</a:t>
            </a:r>
            <a:r>
              <a:rPr sz="3000" spc="-15" dirty="0"/>
              <a:t> </a:t>
            </a:r>
            <a:r>
              <a:rPr sz="3000" dirty="0"/>
              <a:t>и</a:t>
            </a:r>
            <a:r>
              <a:rPr sz="3000" spc="-20" dirty="0"/>
              <a:t> </a:t>
            </a:r>
            <a:r>
              <a:rPr sz="3000" spc="100" dirty="0"/>
              <a:t>вы</a:t>
            </a:r>
            <a:r>
              <a:rPr sz="3000" spc="-15" dirty="0"/>
              <a:t> </a:t>
            </a:r>
            <a:r>
              <a:rPr sz="3000" spc="195" dirty="0"/>
              <a:t>в</a:t>
            </a:r>
            <a:r>
              <a:rPr sz="3000" spc="-20" dirty="0"/>
              <a:t> </a:t>
            </a:r>
            <a:r>
              <a:rPr sz="3000" spc="-10" dirty="0"/>
              <a:t>сети!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3975493" y="1053312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01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8296" y="1150061"/>
            <a:ext cx="22332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доступ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личный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кабинет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70527" y="146994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75493" y="172853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02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8296" y="1693329"/>
            <a:ext cx="191452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-4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оптимальный</a:t>
            </a:r>
            <a:r>
              <a:rPr sz="1000" spc="-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пакет участия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70527" y="214517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75493" y="240375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03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08296" y="2476563"/>
            <a:ext cx="210883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сети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для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 </a:t>
            </a:r>
            <a:r>
              <a:rPr sz="1000" dirty="0">
                <a:latin typeface="Century Gothic"/>
                <a:cs typeface="Century Gothic"/>
              </a:rPr>
              <a:t>под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вашу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категорию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70527" y="2857855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975493" y="3116440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04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08296" y="3081235"/>
            <a:ext cx="2040255" cy="55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10" dirty="0">
                <a:latin typeface="Century Gothic"/>
                <a:cs typeface="Century Gothic"/>
              </a:rPr>
              <a:t>Сгенерируйте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автоматическую </a:t>
            </a:r>
            <a:r>
              <a:rPr sz="1000" dirty="0">
                <a:latin typeface="Century Gothic"/>
                <a:cs typeface="Century Gothic"/>
              </a:rPr>
              <a:t>презентацию </a:t>
            </a:r>
            <a:r>
              <a:rPr sz="1000" spc="-10" dirty="0">
                <a:latin typeface="Century Gothic"/>
                <a:cs typeface="Century Gothic"/>
              </a:rPr>
              <a:t>вашего </a:t>
            </a:r>
            <a:r>
              <a:rPr sz="1000" spc="-20" dirty="0">
                <a:latin typeface="Century Gothic"/>
                <a:cs typeface="Century Gothic"/>
              </a:rPr>
              <a:t>коммерческого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предложения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170527" y="363888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975493" y="3897465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05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08296" y="3862273"/>
            <a:ext cx="210058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0" dirty="0">
                <a:latin typeface="Century Gothic"/>
                <a:cs typeface="Century Gothic"/>
              </a:rPr>
              <a:t>Посмотрите </a:t>
            </a:r>
            <a:r>
              <a:rPr sz="1000" dirty="0">
                <a:latin typeface="Century Gothic"/>
                <a:cs typeface="Century Gothic"/>
              </a:rPr>
              <a:t>короткие</a:t>
            </a:r>
            <a:r>
              <a:rPr sz="1000" spc="-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вебинары </a:t>
            </a:r>
            <a:r>
              <a:rPr sz="1000" dirty="0">
                <a:latin typeface="Century Gothic"/>
                <a:cs typeface="Century Gothic"/>
              </a:rPr>
              <a:t>по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подготовке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к</a:t>
            </a:r>
            <a:r>
              <a:rPr sz="1000" spc="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переговорам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70527" y="431410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975493" y="4572673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06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08296" y="4537494"/>
            <a:ext cx="200977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подробный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-30" dirty="0">
                <a:latin typeface="Century Gothic"/>
                <a:cs typeface="Century Gothic"/>
              </a:rPr>
              <a:t>алгоритм </a:t>
            </a:r>
            <a:r>
              <a:rPr sz="1000" dirty="0">
                <a:latin typeface="Century Gothic"/>
                <a:cs typeface="Century Gothic"/>
              </a:rPr>
              <a:t>проведения</a:t>
            </a:r>
            <a:r>
              <a:rPr sz="1000" spc="17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170527" y="498930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975493" y="524789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07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08296" y="5212689"/>
            <a:ext cx="170053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5" dirty="0">
                <a:latin typeface="Century Gothic"/>
                <a:cs typeface="Century Gothic"/>
              </a:rPr>
              <a:t>Примите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участие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личных переговорах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170527" y="566453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850551" y="6078982"/>
            <a:ext cx="532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245BA9"/>
                </a:solidFill>
                <a:latin typeface="Century Gothic"/>
                <a:cs typeface="Century Gothic"/>
              </a:rPr>
              <a:t>08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91354" y="6124245"/>
            <a:ext cx="1657985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Заключите предварительные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с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40" dirty="0">
                <a:latin typeface="Century Gothic"/>
                <a:cs typeface="Century Gothic"/>
              </a:rPr>
              <a:t>нужными </a:t>
            </a:r>
            <a:r>
              <a:rPr sz="1200" spc="-10" dirty="0">
                <a:latin typeface="Century Gothic"/>
                <a:cs typeface="Century Gothic"/>
              </a:rPr>
              <a:t>сетями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702519" y="5998058"/>
            <a:ext cx="3128010" cy="1118235"/>
          </a:xfrm>
          <a:custGeom>
            <a:avLst/>
            <a:gdLst/>
            <a:ahLst/>
            <a:cxnLst/>
            <a:rect l="l" t="t" r="r" b="b"/>
            <a:pathLst>
              <a:path w="3128009" h="1118234">
                <a:moveTo>
                  <a:pt x="3088563" y="39382"/>
                </a:moveTo>
                <a:lnTo>
                  <a:pt x="3056868" y="15879"/>
                </a:lnTo>
                <a:lnTo>
                  <a:pt x="3019713" y="2589"/>
                </a:lnTo>
                <a:lnTo>
                  <a:pt x="2993478" y="0"/>
                </a:lnTo>
                <a:lnTo>
                  <a:pt x="134480" y="0"/>
                </a:lnTo>
                <a:lnTo>
                  <a:pt x="95443" y="5791"/>
                </a:lnTo>
                <a:lnTo>
                  <a:pt x="59774" y="22666"/>
                </a:lnTo>
                <a:lnTo>
                  <a:pt x="49174" y="30524"/>
                </a:lnTo>
                <a:lnTo>
                  <a:pt x="39395" y="39382"/>
                </a:lnTo>
              </a:path>
              <a:path w="3128009" h="1118234">
                <a:moveTo>
                  <a:pt x="39395" y="1078420"/>
                </a:moveTo>
                <a:lnTo>
                  <a:pt x="71090" y="1101930"/>
                </a:lnTo>
                <a:lnTo>
                  <a:pt x="108245" y="1115221"/>
                </a:lnTo>
                <a:lnTo>
                  <a:pt x="134480" y="1117815"/>
                </a:lnTo>
                <a:lnTo>
                  <a:pt x="2983953" y="1117815"/>
                </a:lnTo>
                <a:lnTo>
                  <a:pt x="3032367" y="1112018"/>
                </a:lnTo>
                <a:lnTo>
                  <a:pt x="3068185" y="1095143"/>
                </a:lnTo>
                <a:lnTo>
                  <a:pt x="3078784" y="1087284"/>
                </a:lnTo>
                <a:lnTo>
                  <a:pt x="3088563" y="1078420"/>
                </a:lnTo>
              </a:path>
              <a:path w="3128009" h="1118234">
                <a:moveTo>
                  <a:pt x="39395" y="39382"/>
                </a:moveTo>
                <a:lnTo>
                  <a:pt x="15887" y="71083"/>
                </a:lnTo>
                <a:lnTo>
                  <a:pt x="2593" y="108237"/>
                </a:lnTo>
                <a:lnTo>
                  <a:pt x="0" y="134467"/>
                </a:lnTo>
                <a:lnTo>
                  <a:pt x="0" y="973810"/>
                </a:lnTo>
                <a:lnTo>
                  <a:pt x="5797" y="1022223"/>
                </a:lnTo>
                <a:lnTo>
                  <a:pt x="22677" y="1058041"/>
                </a:lnTo>
                <a:lnTo>
                  <a:pt x="30536" y="1068641"/>
                </a:lnTo>
                <a:lnTo>
                  <a:pt x="39395" y="1078420"/>
                </a:lnTo>
              </a:path>
              <a:path w="3128009" h="1118234">
                <a:moveTo>
                  <a:pt x="3088563" y="1078420"/>
                </a:moveTo>
                <a:lnTo>
                  <a:pt x="3112072" y="1046725"/>
                </a:lnTo>
                <a:lnTo>
                  <a:pt x="3125365" y="1009570"/>
                </a:lnTo>
                <a:lnTo>
                  <a:pt x="3127959" y="983335"/>
                </a:lnTo>
                <a:lnTo>
                  <a:pt x="3127959" y="143992"/>
                </a:lnTo>
                <a:lnTo>
                  <a:pt x="3122162" y="95584"/>
                </a:lnTo>
                <a:lnTo>
                  <a:pt x="3105281" y="59766"/>
                </a:lnTo>
                <a:lnTo>
                  <a:pt x="3097422" y="49163"/>
                </a:lnTo>
                <a:lnTo>
                  <a:pt x="3088563" y="39382"/>
                </a:lnTo>
              </a:path>
            </a:pathLst>
          </a:custGeom>
          <a:ln w="19050">
            <a:solidFill>
              <a:srgbClr val="245B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18500" y="4772025"/>
            <a:ext cx="1447800" cy="1427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085" cy="7560309"/>
            <a:chOff x="359994" y="0"/>
            <a:chExt cx="10332085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0005" y="5874969"/>
              <a:ext cx="6839991" cy="12960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288005" y="6018974"/>
              <a:ext cx="1008380" cy="1008380"/>
            </a:xfrm>
            <a:custGeom>
              <a:avLst/>
              <a:gdLst/>
              <a:ahLst/>
              <a:cxnLst/>
              <a:rect l="l" t="t" r="r" b="b"/>
              <a:pathLst>
                <a:path w="1008379" h="1008379">
                  <a:moveTo>
                    <a:pt x="1007999" y="0"/>
                  </a:moveTo>
                  <a:lnTo>
                    <a:pt x="0" y="0"/>
                  </a:lnTo>
                  <a:lnTo>
                    <a:pt x="0" y="1007999"/>
                  </a:lnTo>
                  <a:lnTo>
                    <a:pt x="1007999" y="1007999"/>
                  </a:lnTo>
                  <a:lnTo>
                    <a:pt x="1007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12960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2644076"/>
              <a:ext cx="2499004" cy="4319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256077"/>
              <a:ext cx="2499004" cy="8639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40994" y="1168070"/>
            <a:ext cx="2499360" cy="12960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2293" y="2748204"/>
            <a:ext cx="4559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994" y="3256077"/>
            <a:ext cx="2499360" cy="8642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587305" y="361112"/>
            <a:ext cx="45827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Мы</a:t>
            </a:r>
            <a:r>
              <a:rPr spc="-50" dirty="0"/>
              <a:t> </a:t>
            </a:r>
            <a:r>
              <a:rPr spc="-45" dirty="0"/>
              <a:t>работаем </a:t>
            </a:r>
            <a:r>
              <a:rPr spc="135" dirty="0"/>
              <a:t>для</a:t>
            </a:r>
            <a:r>
              <a:rPr spc="-50" dirty="0"/>
              <a:t> </a:t>
            </a:r>
            <a:r>
              <a:rPr spc="-25" dirty="0"/>
              <a:t>Вас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5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17" name="object 17"/>
          <p:cNvSpPr txBox="1"/>
          <p:nvPr/>
        </p:nvSpPr>
        <p:spPr>
          <a:xfrm>
            <a:off x="3587305" y="813282"/>
            <a:ext cx="1683195" cy="1188146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35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endParaRPr sz="1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lang="ru-RU" sz="1200" dirty="0">
                <a:latin typeface="Century Gothic"/>
                <a:cs typeface="Century Gothic"/>
              </a:rPr>
              <a:t>л</a:t>
            </a:r>
            <a:r>
              <a:rPr lang="ru-RU" sz="1200" dirty="0" smtClean="0">
                <a:latin typeface="Century Gothic"/>
                <a:cs typeface="Century Gothic"/>
              </a:rPr>
              <a:t>ет </a:t>
            </a:r>
            <a:r>
              <a:rPr sz="1200" dirty="0" err="1" smtClean="0">
                <a:latin typeface="Century Gothic"/>
                <a:cs typeface="Century Gothic"/>
              </a:rPr>
              <a:t>работы</a:t>
            </a:r>
            <a:r>
              <a:rPr sz="1200" spc="-40" dirty="0" smtClean="0">
                <a:latin typeface="Century Gothic"/>
                <a:cs typeface="Century Gothic"/>
              </a:rPr>
              <a:t> </a:t>
            </a:r>
            <a:r>
              <a:rPr sz="1200" spc="-20" dirty="0">
                <a:latin typeface="Century Gothic"/>
                <a:cs typeface="Century Gothic"/>
              </a:rPr>
              <a:t>компании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87305" y="1874989"/>
            <a:ext cx="144272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26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5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деловых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87298" y="813282"/>
            <a:ext cx="3341002" cy="1542089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/>
            <a:r>
              <a:rPr lang="en-US" sz="4000" dirty="0" smtClean="0">
                <a:solidFill>
                  <a:srgbClr val="245BA9"/>
                </a:solidFill>
                <a:latin typeface="Century Gothic"/>
                <a:cs typeface="Century Gothic"/>
              </a:rPr>
              <a:t>567</a:t>
            </a:r>
            <a:endParaRPr lang="ru-RU" sz="1400" dirty="0" smtClean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lang="ru-RU" sz="4000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51700" y="1876425"/>
            <a:ext cx="325120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340</a:t>
            </a:r>
            <a:r>
              <a:rPr sz="4000" spc="-3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245BA9"/>
                </a:solidFill>
                <a:latin typeface="Century Gothic"/>
                <a:cs typeface="Century Gothic"/>
              </a:rPr>
              <a:t>Центров</a:t>
            </a:r>
            <a:r>
              <a:rPr sz="1400" spc="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245BA9"/>
                </a:solidFill>
                <a:latin typeface="Century Gothic"/>
                <a:cs typeface="Century Gothic"/>
              </a:rPr>
              <a:t>Закупок</a:t>
            </a:r>
            <a:r>
              <a:rPr sz="14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Сетей™</a:t>
            </a:r>
            <a:endParaRPr sz="1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проведено</a:t>
            </a:r>
            <a:r>
              <a:rPr sz="1000" spc="11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нами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7305" y="3455175"/>
            <a:ext cx="2116455" cy="22256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1970">
              <a:lnSpc>
                <a:spcPts val="1800"/>
              </a:lnSpc>
              <a:spcBef>
                <a:spcPts val="459"/>
              </a:spcBef>
            </a:pP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Новые предложения рынка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10" dirty="0">
                <a:latin typeface="Century Gothic"/>
                <a:cs typeface="Century Gothic"/>
              </a:rPr>
              <a:t>Категорийные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менеджеры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ищут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ЦЗС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свежие </a:t>
            </a:r>
            <a:r>
              <a:rPr sz="1100" dirty="0">
                <a:latin typeface="Century Gothic"/>
                <a:cs typeface="Century Gothic"/>
              </a:rPr>
              <a:t>продукты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новые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бренды. </a:t>
            </a:r>
            <a:r>
              <a:rPr sz="1100" spc="-50" dirty="0">
                <a:latin typeface="Century Gothic"/>
                <a:cs typeface="Century Gothic"/>
              </a:rPr>
              <a:t>Ваш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товар,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отсутствующий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на </a:t>
            </a:r>
            <a:r>
              <a:rPr sz="1100" spc="-10" dirty="0">
                <a:latin typeface="Century Gothic"/>
                <a:cs typeface="Century Gothic"/>
              </a:rPr>
              <a:t>полках,</a:t>
            </a:r>
            <a:r>
              <a:rPr sz="1100" spc="-1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—</a:t>
            </a:r>
            <a:r>
              <a:rPr sz="1100" spc="-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это</a:t>
            </a:r>
            <a:r>
              <a:rPr sz="1100" spc="-10" dirty="0">
                <a:latin typeface="Century Gothic"/>
                <a:cs typeface="Century Gothic"/>
              </a:rPr>
              <a:t> конкурентное </a:t>
            </a:r>
            <a:r>
              <a:rPr sz="1100" spc="-30" dirty="0">
                <a:latin typeface="Century Gothic"/>
                <a:cs typeface="Century Gothic"/>
              </a:rPr>
              <a:t>преимущество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для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83300" y="3455175"/>
            <a:ext cx="1917700" cy="20320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85090" algn="just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Выверенный</a:t>
            </a:r>
            <a:r>
              <a:rPr sz="1800" spc="1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за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25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40" dirty="0">
                <a:solidFill>
                  <a:srgbClr val="245BA9"/>
                </a:solidFill>
                <a:latin typeface="Century Gothic"/>
                <a:cs typeface="Century Gothic"/>
              </a:rPr>
              <a:t>алгоритм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60" dirty="0">
                <a:latin typeface="Century Gothic"/>
                <a:cs typeface="Century Gothic"/>
              </a:rPr>
              <a:t>Наш</a:t>
            </a:r>
            <a:r>
              <a:rPr sz="110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автоматизированный </a:t>
            </a:r>
            <a:r>
              <a:rPr sz="1100" spc="-95" dirty="0">
                <a:latin typeface="Century Gothic"/>
                <a:cs typeface="Century Gothic"/>
              </a:rPr>
              <a:t>формат</a:t>
            </a:r>
            <a:r>
              <a:rPr sz="1100" dirty="0">
                <a:latin typeface="Century Gothic"/>
                <a:cs typeface="Century Gothic"/>
              </a:rPr>
              <a:t> КП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договоров </a:t>
            </a:r>
            <a:r>
              <a:rPr sz="1100" dirty="0">
                <a:latin typeface="Century Gothic"/>
                <a:cs typeface="Century Gothic"/>
              </a:rPr>
              <a:t>признан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0" dirty="0">
                <a:latin typeface="Century Gothic"/>
                <a:cs typeface="Century Gothic"/>
              </a:rPr>
              <a:t>крупными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сетями. </a:t>
            </a:r>
            <a:r>
              <a:rPr sz="1100" dirty="0">
                <a:latin typeface="Century Gothic"/>
                <a:cs typeface="Century Gothic"/>
              </a:rPr>
              <a:t>Используйте</a:t>
            </a:r>
            <a:r>
              <a:rPr sz="1100" spc="6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готовое </a:t>
            </a:r>
            <a:r>
              <a:rPr sz="1100" spc="-20" dirty="0">
                <a:latin typeface="Century Gothic"/>
                <a:cs typeface="Century Gothic"/>
              </a:rPr>
              <a:t>решение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для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быстрого </a:t>
            </a:r>
            <a:r>
              <a:rPr sz="1100" dirty="0">
                <a:latin typeface="Century Gothic"/>
                <a:cs typeface="Century Gothic"/>
              </a:rPr>
              <a:t>заключения</a:t>
            </a:r>
            <a:r>
              <a:rPr sz="1100" spc="19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сделок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35303" y="3455175"/>
            <a:ext cx="2061845" cy="183768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0700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40</a:t>
            </a:r>
            <a:r>
              <a:rPr sz="1800" spc="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из</a:t>
            </a:r>
            <a:r>
              <a:rPr sz="1800" spc="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50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успешные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30" dirty="0">
                <a:latin typeface="Century Gothic"/>
                <a:cs typeface="Century Gothic"/>
              </a:rPr>
              <a:t>Наша</a:t>
            </a:r>
            <a:r>
              <a:rPr sz="1100" spc="-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методика</a:t>
            </a:r>
            <a:r>
              <a:rPr sz="1100" spc="-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готовит </a:t>
            </a:r>
            <a:r>
              <a:rPr sz="1100" dirty="0">
                <a:latin typeface="Century Gothic"/>
                <a:cs typeface="Century Gothic"/>
              </a:rPr>
              <a:t>поставщиков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отбирает </a:t>
            </a:r>
            <a:r>
              <a:rPr sz="1100" dirty="0">
                <a:latin typeface="Century Gothic"/>
                <a:cs typeface="Century Gothic"/>
              </a:rPr>
              <a:t>товары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под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ожидания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сетей, </a:t>
            </a:r>
            <a:r>
              <a:rPr sz="1100" dirty="0">
                <a:latin typeface="Century Gothic"/>
                <a:cs typeface="Century Gothic"/>
              </a:rPr>
              <a:t>что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обеспечивает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80% </a:t>
            </a:r>
            <a:r>
              <a:rPr sz="1100" dirty="0">
                <a:latin typeface="Century Gothic"/>
                <a:cs typeface="Century Gothic"/>
              </a:rPr>
              <a:t>успеха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49801" y="5974461"/>
            <a:ext cx="4628515" cy="73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1680" marR="5080" indent="-728980">
              <a:lnSpc>
                <a:spcPct val="1157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Получите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доступ к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Century Gothic"/>
                <a:cs typeface="Century Gothic"/>
              </a:rPr>
              <a:t>этим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entury Gothic"/>
                <a:cs typeface="Century Gothic"/>
              </a:rPr>
              <a:t>ресурсам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Century Gothic"/>
                <a:cs typeface="Century Gothic"/>
              </a:rPr>
              <a:t>в </a:t>
            </a:r>
            <a:r>
              <a:rPr sz="2000" spc="-80" dirty="0">
                <a:solidFill>
                  <a:srgbClr val="FFFFFF"/>
                </a:solidFill>
                <a:latin typeface="Century Gothic"/>
                <a:cs typeface="Century Gothic"/>
              </a:rPr>
              <a:t>вашем</a:t>
            </a:r>
            <a:r>
              <a:rPr sz="2000" spc="-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entury Gothic"/>
                <a:cs typeface="Century Gothic"/>
              </a:rPr>
              <a:t>личном</a:t>
            </a:r>
            <a:r>
              <a:rPr sz="2000" spc="-8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entury Gothic"/>
                <a:cs typeface="Century Gothic"/>
              </a:rPr>
              <a:t>кабинете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7251700" y="1724025"/>
            <a:ext cx="2438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lang="ru-RU" sz="1200" dirty="0">
                <a:latin typeface="Century Gothic"/>
                <a:cs typeface="Century Gothic"/>
              </a:rPr>
              <a:t>к</a:t>
            </a:r>
            <a:r>
              <a:rPr lang="ru-RU" sz="1200" dirty="0" smtClean="0">
                <a:latin typeface="Century Gothic"/>
                <a:cs typeface="Century Gothic"/>
              </a:rPr>
              <a:t>онтрактов заключено</a:t>
            </a:r>
            <a:r>
              <a:rPr lang="ru-RU" sz="1200" spc="55" dirty="0" smtClean="0">
                <a:latin typeface="Century Gothic"/>
                <a:cs typeface="Century Gothic"/>
              </a:rPr>
              <a:t> всего </a:t>
            </a:r>
            <a:r>
              <a:rPr lang="ru-RU" sz="1200" spc="65" dirty="0" smtClean="0">
                <a:latin typeface="Century Gothic"/>
                <a:cs typeface="Century Gothic"/>
              </a:rPr>
              <a:t>в вашей</a:t>
            </a:r>
            <a:r>
              <a:rPr lang="ru-RU" sz="1200" spc="55" dirty="0" smtClean="0"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latin typeface="Century Gothic"/>
                <a:cs typeface="Century Gothic"/>
              </a:rPr>
              <a:t>категории</a:t>
            </a:r>
            <a:endParaRPr lang="ru-RU" sz="1200" dirty="0" smtClean="0">
              <a:latin typeface="Century Gothic"/>
              <a:cs typeface="Century Gothic"/>
            </a:endParaRPr>
          </a:p>
        </p:txBody>
      </p:sp>
      <p:pic>
        <p:nvPicPr>
          <p:cNvPr id="27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279431" y="6048375"/>
            <a:ext cx="991694" cy="977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587305" y="360248"/>
            <a:ext cx="68647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10" dirty="0" smtClean="0"/>
              <a:t>Вот так проходят переговоры</a:t>
            </a:r>
            <a:r>
              <a:rPr lang="en-US" spc="-10" dirty="0" smtClean="0"/>
              <a:t> </a:t>
            </a:r>
            <a:r>
              <a:rPr spc="-125" dirty="0" smtClean="0"/>
              <a:t> </a:t>
            </a:r>
            <a:endParaRPr spc="55" dirty="0"/>
          </a:p>
        </p:txBody>
      </p:sp>
      <p:sp>
        <p:nvSpPr>
          <p:cNvPr id="23" name="object 23"/>
          <p:cNvSpPr txBox="1"/>
          <p:nvPr/>
        </p:nvSpPr>
        <p:spPr>
          <a:xfrm>
            <a:off x="3587305" y="1042860"/>
            <a:ext cx="6822440" cy="4445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1500"/>
              </a:lnSpc>
              <a:spcBef>
                <a:spcPts val="400"/>
              </a:spcBef>
            </a:pP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Каждый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участник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получает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возможность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представить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свои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продукты,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обсудить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условия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сотрудничества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95" dirty="0">
                <a:solidFill>
                  <a:srgbClr val="214E85"/>
                </a:solidFill>
                <a:latin typeface="Century Gothic"/>
                <a:cs typeface="Century Gothic"/>
              </a:rPr>
              <a:t>в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70" dirty="0">
                <a:solidFill>
                  <a:srgbClr val="214E85"/>
                </a:solidFill>
                <a:latin typeface="Century Gothic"/>
                <a:cs typeface="Century Gothic"/>
              </a:rPr>
              <a:t>комфортной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деловой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обстановке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6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29" name="Google Shape;402;p7"/>
          <p:cNvSpPr/>
          <p:nvPr/>
        </p:nvSpPr>
        <p:spPr>
          <a:xfrm>
            <a:off x="8394700" y="3857625"/>
            <a:ext cx="137005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фотографий </a:t>
            </a:r>
            <a:b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 QR-коду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Прямоугольник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1700" y="1800225"/>
            <a:ext cx="4419600" cy="3224841"/>
          </a:xfrm>
          <a:prstGeom prst="rect">
            <a:avLst/>
          </a:prstGeom>
        </p:spPr>
      </p:pic>
      <p:pic>
        <p:nvPicPr>
          <p:cNvPr id="40" name="Прямоугольник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900" y="1800225"/>
            <a:ext cx="2438400" cy="1524000"/>
          </a:xfrm>
          <a:prstGeom prst="rect">
            <a:avLst/>
          </a:prstGeom>
        </p:spPr>
      </p:pic>
      <p:pic>
        <p:nvPicPr>
          <p:cNvPr id="41" name="Скругленный прямоугольник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3074" y="5305425"/>
            <a:ext cx="2370826" cy="1677838"/>
          </a:xfrm>
          <a:prstGeom prst="rect">
            <a:avLst/>
          </a:prstGeom>
        </p:spPr>
      </p:pic>
      <p:pic>
        <p:nvPicPr>
          <p:cNvPr id="42" name="Скругленный прямоугольник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6300" y="5314950"/>
            <a:ext cx="2323381" cy="1683589"/>
          </a:xfrm>
          <a:prstGeom prst="rect">
            <a:avLst/>
          </a:prstGeom>
        </p:spPr>
      </p:pic>
      <p:pic>
        <p:nvPicPr>
          <p:cNvPr id="43" name="Скругленный прямоугольник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0" y="5276850"/>
            <a:ext cx="2222500" cy="1689340"/>
          </a:xfrm>
          <a:prstGeom prst="rect">
            <a:avLst/>
          </a:prstGeom>
        </p:spPr>
      </p:pic>
      <p:sp>
        <p:nvSpPr>
          <p:cNvPr id="37" name="Скругленный прямоугольник 36"/>
          <p:cNvSpPr/>
          <p:nvPr/>
        </p:nvSpPr>
        <p:spPr>
          <a:xfrm>
            <a:off x="8089900" y="3476625"/>
            <a:ext cx="2438400" cy="15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6" name="Google Shape;403;p7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8686800" y="3524250"/>
            <a:ext cx="121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441700" y="276225"/>
            <a:ext cx="72517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dirty="0" smtClean="0">
                <a:solidFill>
                  <a:srgbClr val="1E53A4"/>
                </a:solidFill>
              </a:rPr>
              <a:t>Послушайте тех, кто был на ЦЗС™</a:t>
            </a:r>
            <a:endParaRPr spc="55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smtClean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7</a:t>
            </a:fld>
            <a:r>
              <a:rPr dirty="0" smtClean="0"/>
              <a:t>/</a:t>
            </a:r>
            <a:r>
              <a:rPr lang="en-US" dirty="0" smtClean="0"/>
              <a:t>8</a:t>
            </a:r>
            <a:endParaRPr spc="-50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433;p8"/>
          <p:cNvGrpSpPr/>
          <p:nvPr/>
        </p:nvGrpSpPr>
        <p:grpSpPr>
          <a:xfrm>
            <a:off x="3365500" y="1114425"/>
            <a:ext cx="3581400" cy="2556272"/>
            <a:chOff x="3594100" y="1253728"/>
            <a:chExt cx="3855170" cy="2556272"/>
          </a:xfrm>
        </p:grpSpPr>
        <p:sp>
          <p:nvSpPr>
            <p:cNvPr id="26" name="Google Shape;434;p8"/>
            <p:cNvSpPr/>
            <p:nvPr/>
          </p:nvSpPr>
          <p:spPr>
            <a:xfrm>
              <a:off x="3594100" y="1482328"/>
              <a:ext cx="3855170" cy="2327672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435;p8"/>
            <p:cNvSpPr/>
            <p:nvPr/>
          </p:nvSpPr>
          <p:spPr>
            <a:xfrm>
              <a:off x="3676125" y="1558528"/>
              <a:ext cx="2706821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/>
                <a:t>«Увелка»</a:t>
              </a:r>
              <a:endParaRPr sz="1600" b="1" dirty="0"/>
            </a:p>
          </p:txBody>
        </p:sp>
        <p:sp>
          <p:nvSpPr>
            <p:cNvPr id="35" name="Google Shape;436;p8"/>
            <p:cNvSpPr/>
            <p:nvPr/>
          </p:nvSpPr>
          <p:spPr>
            <a:xfrm>
              <a:off x="3822700" y="1253728"/>
              <a:ext cx="360363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12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" name="Google Shape;438;p8"/>
          <p:cNvGrpSpPr/>
          <p:nvPr/>
        </p:nvGrpSpPr>
        <p:grpSpPr>
          <a:xfrm>
            <a:off x="7023100" y="1114425"/>
            <a:ext cx="3505200" cy="2543508"/>
            <a:chOff x="3792539" y="1647492"/>
            <a:chExt cx="3855170" cy="2543508"/>
          </a:xfrm>
        </p:grpSpPr>
        <p:sp>
          <p:nvSpPr>
            <p:cNvPr id="40" name="Google Shape;439;p8"/>
            <p:cNvSpPr/>
            <p:nvPr/>
          </p:nvSpPr>
          <p:spPr>
            <a:xfrm>
              <a:off x="3792539" y="1876092"/>
              <a:ext cx="3855170" cy="2314908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40;p8"/>
            <p:cNvSpPr/>
            <p:nvPr/>
          </p:nvSpPr>
          <p:spPr>
            <a:xfrm>
              <a:off x="3792539" y="1952292"/>
              <a:ext cx="2765665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/>
                <a:t>«Роса»</a:t>
              </a:r>
              <a:endParaRPr sz="1600" b="1" dirty="0"/>
            </a:p>
          </p:txBody>
        </p:sp>
        <p:sp>
          <p:nvSpPr>
            <p:cNvPr id="42" name="Google Shape;441;p8"/>
            <p:cNvSpPr/>
            <p:nvPr/>
          </p:nvSpPr>
          <p:spPr>
            <a:xfrm>
              <a:off x="3876347" y="1647492"/>
              <a:ext cx="360362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" name="Google Shape;442;p8"/>
          <p:cNvGrpSpPr/>
          <p:nvPr/>
        </p:nvGrpSpPr>
        <p:grpSpPr>
          <a:xfrm>
            <a:off x="3365500" y="3933825"/>
            <a:ext cx="3581400" cy="2922868"/>
            <a:chOff x="3792539" y="1876092"/>
            <a:chExt cx="3855170" cy="2219872"/>
          </a:xfrm>
        </p:grpSpPr>
        <p:sp>
          <p:nvSpPr>
            <p:cNvPr id="44" name="Google Shape;443;p8"/>
            <p:cNvSpPr/>
            <p:nvPr/>
          </p:nvSpPr>
          <p:spPr>
            <a:xfrm>
              <a:off x="3792539" y="2049710"/>
              <a:ext cx="3855170" cy="2046254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44;p8"/>
            <p:cNvSpPr/>
            <p:nvPr/>
          </p:nvSpPr>
          <p:spPr>
            <a:xfrm>
              <a:off x="3868739" y="2165455"/>
              <a:ext cx="2559536" cy="257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/>
                <a:t>ООО «КДВ Групп»</a:t>
              </a:r>
              <a:endParaRPr lang="en-US" sz="1050" b="1" dirty="0"/>
            </a:p>
          </p:txBody>
        </p:sp>
        <p:sp>
          <p:nvSpPr>
            <p:cNvPr id="46" name="Google Shape;445;p8"/>
            <p:cNvSpPr/>
            <p:nvPr/>
          </p:nvSpPr>
          <p:spPr>
            <a:xfrm>
              <a:off x="3900189" y="1876092"/>
              <a:ext cx="360363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48;p8"/>
          <p:cNvSpPr/>
          <p:nvPr/>
        </p:nvSpPr>
        <p:spPr>
          <a:xfrm>
            <a:off x="7099300" y="4162425"/>
            <a:ext cx="3429000" cy="2667000"/>
          </a:xfrm>
          <a:prstGeom prst="roundRect">
            <a:avLst>
              <a:gd name="adj" fmla="val 5646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49;p8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7937500" y="4314825"/>
            <a:ext cx="1718209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50;p8"/>
          <p:cNvSpPr/>
          <p:nvPr/>
        </p:nvSpPr>
        <p:spPr>
          <a:xfrm>
            <a:off x="7785100" y="6219825"/>
            <a:ext cx="2049600" cy="313500"/>
          </a:xfrm>
          <a:prstGeom prst="roundRect">
            <a:avLst>
              <a:gd name="adj" fmla="val 50000"/>
            </a:avLst>
          </a:prstGeom>
          <a:solidFill>
            <a:srgbClr val="255B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отзывов по QR-коду</a:t>
            </a:r>
            <a:endParaRPr dirty="0"/>
          </a:p>
        </p:txBody>
      </p:sp>
      <p:pic>
        <p:nvPicPr>
          <p:cNvPr id="59" name="Прямоугольник 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6300" y="1419225"/>
            <a:ext cx="914400" cy="57796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517900" y="1724025"/>
            <a:ext cx="24326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Иван Петров</a:t>
            </a:r>
            <a:endParaRPr lang="ru-RU" sz="11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3517901" y="2181225"/>
            <a:ext cx="3276600" cy="137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«Мы используем Центр Закупок Сетей™ как основную площадку для расширения сбыта. Участвуя всего дважды в год, нам удается оперативно презентовать наши инновационные линейки круп в варочных пакетиках. За последние два сезона провели более 30 переговоров с федеральными и региональными игроками, включая «Ленту», «Верный» и «Азбуку вкуса». Экономия времени и ресурсов колоссальная».</a:t>
            </a:r>
            <a:endParaRPr lang="ru-RU" sz="10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pic>
        <p:nvPicPr>
          <p:cNvPr id="60" name="Прямоугольник 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7700" y="1419225"/>
            <a:ext cx="897147" cy="577969"/>
          </a:xfrm>
          <a:prstGeom prst="rect">
            <a:avLst/>
          </a:prstGeom>
        </p:spPr>
      </p:pic>
      <p:pic>
        <p:nvPicPr>
          <p:cNvPr id="61" name="Прямоугольник 5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0100" y="4238625"/>
            <a:ext cx="897147" cy="57796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099300" y="1800225"/>
            <a:ext cx="2449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Елена Воробьева</a:t>
            </a:r>
            <a:endParaRPr lang="ru-RU" sz="1100" dirty="0"/>
          </a:p>
        </p:txBody>
      </p:sp>
      <p:sp>
        <p:nvSpPr>
          <p:cNvPr id="56" name="TextBox 55"/>
          <p:cNvSpPr txBox="1"/>
          <p:nvPr/>
        </p:nvSpPr>
        <p:spPr>
          <a:xfrm>
            <a:off x="7099300" y="2105025"/>
            <a:ext cx="3200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«Для нас, как для производителя с более чем 150 SKU, важно показать товар лицом. Центр Закупок Сетей™ дает такую возможность: мы участвуем раз в квартал и за год провели 45 переговоров с закупщиками. Итогом стали контракты с «О`КЕЙ», «Магнитом» и сетями «Хороший выбор». Это лучший способ быстро масштабировать свое присутствие на полках». |</a:t>
            </a:r>
            <a:endParaRPr lang="ru-RU" sz="1000" dirty="0"/>
          </a:p>
        </p:txBody>
      </p:sp>
      <p:sp>
        <p:nvSpPr>
          <p:cNvPr id="57" name="TextBox 56"/>
          <p:cNvSpPr txBox="1"/>
          <p:nvPr/>
        </p:nvSpPr>
        <p:spPr>
          <a:xfrm>
            <a:off x="3517900" y="4695825"/>
            <a:ext cx="2424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Денис Штенгелов</a:t>
            </a:r>
            <a:endParaRPr lang="ru-RU" sz="1100" dirty="0"/>
          </a:p>
        </p:txBody>
      </p:sp>
      <p:sp>
        <p:nvSpPr>
          <p:cNvPr id="58" name="TextBox 57"/>
          <p:cNvSpPr txBox="1"/>
          <p:nvPr/>
        </p:nvSpPr>
        <p:spPr>
          <a:xfrm>
            <a:off x="3517900" y="5000625"/>
            <a:ext cx="3352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«Наша миссия — дарить радость миллионам потребителей качественными сладостями. Центр Закупок Сетей™ стал для нас идеальной площадкой для презентации инновационных продуктов закупщикам ведущих розничных сетей. Всего за два дня мы проводим до 20 переговоров, что в обычной жизни заняло бы несколько месяцев. Результат — стабильный рост продаж и укрепление лидерства на рынке».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7999"/>
                  </a:lnTo>
                  <a:lnTo>
                    <a:pt x="4860" y="7357157"/>
                  </a:lnTo>
                  <a:lnTo>
                    <a:pt x="19189" y="7404430"/>
                  </a:lnTo>
                  <a:lnTo>
                    <a:pt x="42486" y="7447992"/>
                  </a:lnTo>
                  <a:lnTo>
                    <a:pt x="73812" y="7486192"/>
                  </a:lnTo>
                  <a:lnTo>
                    <a:pt x="112006" y="7517514"/>
                  </a:lnTo>
                  <a:lnTo>
                    <a:pt x="155562" y="7540815"/>
                  </a:lnTo>
                  <a:lnTo>
                    <a:pt x="202841" y="7555144"/>
                  </a:lnTo>
                  <a:lnTo>
                    <a:pt x="252006" y="7560005"/>
                  </a:lnTo>
                  <a:lnTo>
                    <a:pt x="7452004" y="7560005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00005" y="1532801"/>
              <a:ext cx="6372225" cy="3517900"/>
            </a:xfrm>
            <a:custGeom>
              <a:avLst/>
              <a:gdLst/>
              <a:ahLst/>
              <a:cxnLst/>
              <a:rect l="l" t="t" r="r" b="b"/>
              <a:pathLst>
                <a:path w="6372225" h="3517900">
                  <a:moveTo>
                    <a:pt x="6191999" y="0"/>
                  </a:moveTo>
                  <a:lnTo>
                    <a:pt x="179997" y="0"/>
                  </a:lnTo>
                  <a:lnTo>
                    <a:pt x="162356" y="873"/>
                  </a:lnTo>
                  <a:lnTo>
                    <a:pt x="111112" y="13703"/>
                  </a:lnTo>
                  <a:lnTo>
                    <a:pt x="65810" y="40860"/>
                  </a:lnTo>
                  <a:lnTo>
                    <a:pt x="30337" y="80000"/>
                  </a:lnTo>
                  <a:lnTo>
                    <a:pt x="7747" y="127745"/>
                  </a:lnTo>
                  <a:lnTo>
                    <a:pt x="0" y="179997"/>
                  </a:lnTo>
                  <a:lnTo>
                    <a:pt x="0" y="3337382"/>
                  </a:lnTo>
                  <a:lnTo>
                    <a:pt x="7747" y="3389635"/>
                  </a:lnTo>
                  <a:lnTo>
                    <a:pt x="30337" y="3437378"/>
                  </a:lnTo>
                  <a:lnTo>
                    <a:pt x="65810" y="3476521"/>
                  </a:lnTo>
                  <a:lnTo>
                    <a:pt x="111112" y="3503688"/>
                  </a:lnTo>
                  <a:lnTo>
                    <a:pt x="162356" y="3516518"/>
                  </a:lnTo>
                  <a:lnTo>
                    <a:pt x="179997" y="3517391"/>
                  </a:lnTo>
                  <a:lnTo>
                    <a:pt x="6191999" y="3517391"/>
                  </a:lnTo>
                  <a:lnTo>
                    <a:pt x="6244239" y="3509633"/>
                  </a:lnTo>
                  <a:lnTo>
                    <a:pt x="6291994" y="3487042"/>
                  </a:lnTo>
                  <a:lnTo>
                    <a:pt x="6331130" y="3451569"/>
                  </a:lnTo>
                  <a:lnTo>
                    <a:pt x="6358293" y="3406266"/>
                  </a:lnTo>
                  <a:lnTo>
                    <a:pt x="6371123" y="3355028"/>
                  </a:lnTo>
                  <a:lnTo>
                    <a:pt x="6371996" y="3337382"/>
                  </a:lnTo>
                  <a:lnTo>
                    <a:pt x="6371996" y="179997"/>
                  </a:lnTo>
                  <a:lnTo>
                    <a:pt x="6364238" y="127745"/>
                  </a:lnTo>
                  <a:lnTo>
                    <a:pt x="6341648" y="80000"/>
                  </a:lnTo>
                  <a:lnTo>
                    <a:pt x="6306185" y="40860"/>
                  </a:lnTo>
                  <a:lnTo>
                    <a:pt x="6260871" y="13703"/>
                  </a:lnTo>
                  <a:lnTo>
                    <a:pt x="6209638" y="873"/>
                  </a:lnTo>
                  <a:lnTo>
                    <a:pt x="6191999" y="0"/>
                  </a:lnTo>
                  <a:close/>
                </a:path>
              </a:pathLst>
            </a:custGeom>
            <a:solidFill>
              <a:srgbClr val="E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8001" y="5348986"/>
              <a:ext cx="4463999" cy="5903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9998" y="3433965"/>
              <a:ext cx="1872005" cy="37260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168070"/>
              <a:ext cx="2499004" cy="21600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508070"/>
              <a:ext cx="2499004" cy="4320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40994" y="1168070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2293" y="3612210"/>
            <a:ext cx="13455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45" dirty="0">
                <a:solidFill>
                  <a:srgbClr val="245BA9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587305" y="294056"/>
            <a:ext cx="5302250" cy="91563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740"/>
              </a:spcBef>
            </a:pPr>
            <a:r>
              <a:rPr lang="en-US" dirty="0" smtClean="0"/>
              <a:t>Елена</a:t>
            </a:r>
            <a:r>
              <a:rPr dirty="0" smtClean="0"/>
              <a:t>,</a:t>
            </a:r>
            <a:r>
              <a:rPr spc="-80" dirty="0" smtClean="0"/>
              <a:t> </a:t>
            </a:r>
            <a:r>
              <a:rPr dirty="0"/>
              <a:t>Вы</a:t>
            </a:r>
            <a:r>
              <a:rPr spc="-75" dirty="0"/>
              <a:t> </a:t>
            </a:r>
            <a:r>
              <a:rPr spc="210" dirty="0"/>
              <a:t>в</a:t>
            </a:r>
            <a:r>
              <a:rPr spc="-75" dirty="0"/>
              <a:t> </a:t>
            </a:r>
            <a:r>
              <a:rPr spc="-30" dirty="0"/>
              <a:t>одном</a:t>
            </a:r>
            <a:r>
              <a:rPr spc="-75" dirty="0"/>
              <a:t> </a:t>
            </a:r>
            <a:r>
              <a:rPr spc="-10" dirty="0"/>
              <a:t>клике </a:t>
            </a:r>
            <a:r>
              <a:rPr dirty="0"/>
              <a:t>от</a:t>
            </a:r>
            <a:r>
              <a:rPr spc="-15" dirty="0"/>
              <a:t> </a:t>
            </a:r>
            <a:r>
              <a:rPr spc="70" dirty="0"/>
              <a:t>входа</a:t>
            </a:r>
            <a:r>
              <a:rPr spc="-5" dirty="0"/>
              <a:t> </a:t>
            </a:r>
            <a:r>
              <a:rPr spc="210" dirty="0"/>
              <a:t>в</a:t>
            </a:r>
            <a:r>
              <a:rPr spc="-5" dirty="0"/>
              <a:t> </a:t>
            </a:r>
            <a:r>
              <a:rPr spc="-20" dirty="0"/>
              <a:t>сети!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67298" y="1670151"/>
            <a:ext cx="3284602" cy="6027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dirty="0" smtClean="0">
                <a:latin typeface="Century Gothic"/>
                <a:cs typeface="Century Gothic"/>
              </a:rPr>
              <a:t>Вострикова Татьяна</a:t>
            </a:r>
            <a:endParaRPr lang="ru-RU" sz="1800" dirty="0" smtClean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200" dirty="0" err="1" smtClean="0">
                <a:latin typeface="Century Gothic"/>
                <a:cs typeface="Century Gothic"/>
              </a:rPr>
              <a:t>Персональный</a:t>
            </a:r>
            <a:r>
              <a:rPr sz="1200" dirty="0" smtClean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менеджер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67298" y="2415870"/>
            <a:ext cx="4047490" cy="103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«В 2025</a:t>
            </a:r>
            <a:r>
              <a:rPr sz="1200" spc="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году </a:t>
            </a:r>
            <a:r>
              <a:rPr sz="1200" spc="-50" dirty="0">
                <a:latin typeface="Century Gothic"/>
                <a:cs typeface="Century Gothic"/>
              </a:rPr>
              <a:t>наши</a:t>
            </a:r>
            <a:r>
              <a:rPr sz="1200" spc="5" dirty="0">
                <a:latin typeface="Century Gothic"/>
                <a:cs typeface="Century Gothic"/>
              </a:rPr>
              <a:t> </a:t>
            </a:r>
            <a:r>
              <a:rPr sz="1200" dirty="0" err="1">
                <a:latin typeface="Century Gothic"/>
                <a:cs typeface="Century Gothic"/>
              </a:rPr>
              <a:t>клиенты</a:t>
            </a:r>
            <a:r>
              <a:rPr sz="1200" spc="5" dirty="0">
                <a:latin typeface="Century Gothic"/>
                <a:cs typeface="Century Gothic"/>
              </a:rPr>
              <a:t> </a:t>
            </a:r>
            <a:r>
              <a:rPr sz="1200" dirty="0" err="1" smtClean="0">
                <a:latin typeface="Century Gothic"/>
                <a:cs typeface="Century Gothic"/>
              </a:rPr>
              <a:t>провели</a:t>
            </a:r>
            <a:r>
              <a:rPr sz="1200" spc="5" dirty="0" smtClean="0">
                <a:latin typeface="Century Gothic"/>
                <a:cs typeface="Century Gothic"/>
              </a:rPr>
              <a:t> </a:t>
            </a:r>
            <a:r>
              <a:rPr lang="en-US" sz="1200" spc="5" dirty="0" smtClean="0">
                <a:latin typeface="Century Gothic"/>
                <a:cs typeface="Century Gothic"/>
              </a:rPr>
              <a:t>223</a:t>
            </a:r>
            <a:r>
              <a:rPr sz="1200" spc="-25" dirty="0" smtClean="0">
                <a:latin typeface="Century Gothic"/>
                <a:cs typeface="Century Gothic"/>
              </a:rPr>
              <a:t/>
            </a:r>
            <a:r>
              <a:rPr lang="en-US" sz="1200" spc="-25" dirty="0" smtClean="0">
                <a:latin typeface="Century Gothic"/>
                <a:cs typeface="Century Gothic"/>
              </a:rPr>
              <a:t/>
            </a:r>
            <a:r>
              <a:rPr sz="1200" spc="-25" dirty="0" smtClean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переговоров</a:t>
            </a:r>
            <a:r>
              <a:rPr sz="1200" spc="6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65" dirty="0">
                <a:latin typeface="Century Gothic"/>
                <a:cs typeface="Century Gothic"/>
              </a:rPr>
              <a:t> </a:t>
            </a:r>
            <a:r>
              <a:rPr sz="1200" dirty="0" err="1">
                <a:latin typeface="Century Gothic"/>
                <a:cs typeface="Century Gothic"/>
              </a:rPr>
              <a:t>заключили</a:t>
            </a:r>
            <a:r>
              <a:rPr sz="1200" spc="70" dirty="0">
                <a:latin typeface="Century Gothic"/>
                <a:cs typeface="Century Gothic"/>
              </a:rPr>
              <a:t> </a:t>
            </a:r>
            <a:r>
              <a:rPr lang="en-US" sz="1200" dirty="0" smtClean="0">
                <a:latin typeface="Century Gothic"/>
                <a:cs typeface="Century Gothic"/>
              </a:rPr>
              <a:t>178</a:t>
            </a:r>
            <a:r>
              <a:rPr sz="1200" spc="65" dirty="0" smtClean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предварительных </a:t>
            </a:r>
            <a:r>
              <a:rPr sz="1200" dirty="0">
                <a:latin typeface="Century Gothic"/>
                <a:cs typeface="Century Gothic"/>
              </a:rPr>
              <a:t>контрактов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</a:t>
            </a:r>
            <a:r>
              <a:rPr sz="1200" spc="-20" dirty="0">
                <a:latin typeface="Century Gothic"/>
                <a:cs typeface="Century Gothic"/>
              </a:rPr>
              <a:t> </a:t>
            </a:r>
            <a:r>
              <a:rPr sz="1200" dirty="0" err="1">
                <a:latin typeface="Century Gothic"/>
                <a:cs typeface="Century Gothic"/>
              </a:rPr>
              <a:t>категории</a:t>
            </a:r>
            <a:r>
              <a:rPr sz="1200" spc="-20" dirty="0">
                <a:latin typeface="Century Gothic"/>
                <a:cs typeface="Century Gothic"/>
              </a:rPr>
              <a:t> </a:t>
            </a:r>
            <a:r>
              <a:rPr lang="en-US" sz="1200" spc="-20" dirty="0" smtClean="0">
                <a:latin typeface="Century Gothic"/>
                <a:cs typeface="Century Gothic"/>
              </a:rPr>
              <a:t>«Полезные снеки»</a:t>
            </a:r>
            <a:r>
              <a:rPr sz="1200" spc="-10" dirty="0" smtClean="0">
                <a:latin typeface="Century Gothic"/>
                <a:cs typeface="Century Gothic"/>
              </a:rPr>
              <a:t>.</a:t>
            </a:r>
            <a:r>
              <a:rPr sz="1200" spc="-20" dirty="0" smtClean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Уверены, вместе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90" dirty="0">
                <a:latin typeface="Century Gothic"/>
                <a:cs typeface="Century Gothic"/>
              </a:rPr>
              <a:t>мы</a:t>
            </a:r>
            <a:r>
              <a:rPr sz="1200" dirty="0">
                <a:latin typeface="Century Gothic"/>
                <a:cs typeface="Century Gothic"/>
              </a:rPr>
              <a:t> </a:t>
            </a:r>
            <a:r>
              <a:rPr sz="1200" spc="-45" dirty="0">
                <a:latin typeface="Century Gothic"/>
                <a:cs typeface="Century Gothic"/>
              </a:rPr>
              <a:t>займем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полки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75" dirty="0">
                <a:latin typeface="Century Gothic"/>
                <a:cs typeface="Century Gothic"/>
              </a:rPr>
              <a:t>в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нужных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вам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сетях».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79998" y="3433965"/>
            <a:ext cx="4033902" cy="275717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710"/>
              </a:spcBef>
            </a:pPr>
            <a:r>
              <a:rPr lang="en-US" sz="1200" dirty="0" smtClean="0"/>
              <a:t> </a:t>
            </a:r>
            <a:r>
              <a:rPr lang="en-US" sz="1200" dirty="0"/>
              <a:t>+</a:t>
            </a:r>
            <a:r>
              <a:rPr lang="en-US" sz="1200" dirty="0" smtClean="0"/>
              <a:t>79219512113</a:t>
            </a:r>
            <a:r>
              <a:rPr lang="ru-RU" sz="1200" dirty="0" smtClean="0"/>
              <a:t>         </a:t>
            </a:r>
            <a:r>
              <a:rPr lang="en-US" sz="1200" dirty="0" smtClean="0"/>
              <a:t>manager49@imperia-forums.ru</a:t>
            </a:r>
            <a:endParaRPr lang="ru-RU" sz="1200" dirty="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28233" y="4659973"/>
            <a:ext cx="3804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Готовы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ответить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на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20" dirty="0">
                <a:latin typeface="Century Gothic"/>
                <a:cs typeface="Century Gothic"/>
              </a:rPr>
              <a:t>ваши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вопросы.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Напишите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нам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18884" y="5427574"/>
            <a:ext cx="1202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solidFill>
                  <a:srgbClr val="FFFFFF"/>
                </a:solidFill>
                <a:latin typeface="Century Gothic"/>
                <a:cs typeface="Century Gothic"/>
                <a:hlinkClick r:id="rId7"/>
              </a:rPr>
              <a:t>Тарифы</a:t>
            </a:r>
            <a:endParaRPr sz="2400" dirty="0">
              <a:latin typeface="Century Gothic"/>
              <a:cs typeface="Century Gothic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77206" y="5338191"/>
            <a:ext cx="4485640" cy="612140"/>
            <a:chOff x="4777206" y="5338191"/>
            <a:chExt cx="4485640" cy="612140"/>
          </a:xfrm>
        </p:grpSpPr>
        <p:sp>
          <p:nvSpPr>
            <p:cNvPr id="30" name="object 30"/>
            <p:cNvSpPr/>
            <p:nvPr/>
          </p:nvSpPr>
          <p:spPr>
            <a:xfrm>
              <a:off x="6431584" y="5783173"/>
              <a:ext cx="1177290" cy="0"/>
            </a:xfrm>
            <a:custGeom>
              <a:avLst/>
              <a:gdLst/>
              <a:ahLst/>
              <a:cxnLst/>
              <a:rect l="l" t="t" r="r" b="b"/>
              <a:pathLst>
                <a:path w="1177290">
                  <a:moveTo>
                    <a:pt x="0" y="0"/>
                  </a:moveTo>
                  <a:lnTo>
                    <a:pt x="1176832" y="0"/>
                  </a:lnTo>
                </a:path>
              </a:pathLst>
            </a:custGeom>
            <a:ln w="1767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82603" y="5343588"/>
              <a:ext cx="4474845" cy="601345"/>
            </a:xfrm>
            <a:custGeom>
              <a:avLst/>
              <a:gdLst/>
              <a:ahLst/>
              <a:cxnLst/>
              <a:rect l="l" t="t" r="r" b="b"/>
              <a:pathLst>
                <a:path w="4474845" h="601345">
                  <a:moveTo>
                    <a:pt x="4455287" y="19507"/>
                  </a:moveTo>
                  <a:lnTo>
                    <a:pt x="4421187" y="1281"/>
                  </a:lnTo>
                  <a:lnTo>
                    <a:pt x="4408195" y="0"/>
                  </a:lnTo>
                  <a:lnTo>
                    <a:pt x="66598" y="0"/>
                  </a:lnTo>
                  <a:lnTo>
                    <a:pt x="29598" y="11229"/>
                  </a:lnTo>
                  <a:lnTo>
                    <a:pt x="24348" y="15122"/>
                  </a:lnTo>
                  <a:lnTo>
                    <a:pt x="19507" y="19507"/>
                  </a:lnTo>
                </a:path>
                <a:path w="4474845" h="601345">
                  <a:moveTo>
                    <a:pt x="19507" y="581698"/>
                  </a:moveTo>
                  <a:lnTo>
                    <a:pt x="53601" y="599917"/>
                  </a:lnTo>
                  <a:lnTo>
                    <a:pt x="66598" y="601205"/>
                  </a:lnTo>
                  <a:lnTo>
                    <a:pt x="4402797" y="601205"/>
                  </a:lnTo>
                  <a:lnTo>
                    <a:pt x="4445195" y="589973"/>
                  </a:lnTo>
                  <a:lnTo>
                    <a:pt x="4450445" y="586082"/>
                  </a:lnTo>
                  <a:lnTo>
                    <a:pt x="4455287" y="581698"/>
                  </a:lnTo>
                </a:path>
                <a:path w="4474845" h="601345">
                  <a:moveTo>
                    <a:pt x="19507" y="19507"/>
                  </a:moveTo>
                  <a:lnTo>
                    <a:pt x="1281" y="53606"/>
                  </a:lnTo>
                  <a:lnTo>
                    <a:pt x="0" y="66598"/>
                  </a:lnTo>
                  <a:lnTo>
                    <a:pt x="0" y="529196"/>
                  </a:lnTo>
                  <a:lnTo>
                    <a:pt x="11225" y="571595"/>
                  </a:lnTo>
                  <a:lnTo>
                    <a:pt x="15116" y="576849"/>
                  </a:lnTo>
                  <a:lnTo>
                    <a:pt x="19507" y="581698"/>
                  </a:lnTo>
                </a:path>
                <a:path w="4474845" h="601345">
                  <a:moveTo>
                    <a:pt x="4455287" y="581698"/>
                  </a:moveTo>
                  <a:lnTo>
                    <a:pt x="4473513" y="547590"/>
                  </a:lnTo>
                  <a:lnTo>
                    <a:pt x="4474794" y="534593"/>
                  </a:lnTo>
                  <a:lnTo>
                    <a:pt x="4474794" y="71996"/>
                  </a:lnTo>
                  <a:lnTo>
                    <a:pt x="4463568" y="29598"/>
                  </a:lnTo>
                  <a:lnTo>
                    <a:pt x="4459677" y="24348"/>
                  </a:lnTo>
                  <a:lnTo>
                    <a:pt x="4455287" y="19507"/>
                  </a:lnTo>
                </a:path>
              </a:pathLst>
            </a:custGeom>
            <a:ln w="107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362386" y="6192215"/>
            <a:ext cx="4919345" cy="5842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86715" marR="5080" indent="-374650">
              <a:lnSpc>
                <a:spcPts val="2000"/>
              </a:lnSpc>
              <a:spcBef>
                <a:spcPts val="500"/>
              </a:spcBef>
            </a:pPr>
            <a:r>
              <a:rPr sz="2000" dirty="0">
                <a:latin typeface="Century Gothic"/>
                <a:cs typeface="Century Gothic"/>
              </a:rPr>
              <a:t>Получите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105" dirty="0">
                <a:latin typeface="Century Gothic"/>
                <a:cs typeface="Century Gothic"/>
              </a:rPr>
              <a:t>информацию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о</a:t>
            </a:r>
            <a:r>
              <a:rPr sz="2000" spc="25" dirty="0">
                <a:latin typeface="Century Gothic"/>
                <a:cs typeface="Century Gothic"/>
              </a:rPr>
              <a:t> </a:t>
            </a:r>
            <a:r>
              <a:rPr sz="2000" spc="-90" dirty="0">
                <a:latin typeface="Century Gothic"/>
                <a:cs typeface="Century Gothic"/>
              </a:rPr>
              <a:t>тарифах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25" dirty="0">
                <a:latin typeface="Century Gothic"/>
                <a:cs typeface="Century Gothic"/>
              </a:rPr>
              <a:t>или </a:t>
            </a:r>
            <a:r>
              <a:rPr sz="2000" dirty="0">
                <a:latin typeface="Century Gothic"/>
                <a:cs typeface="Century Gothic"/>
              </a:rPr>
              <a:t>зарегистрируйтесь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уже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сегодня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8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1026" name="AutoShape 2" descr="blob:https://web.telegram.org/d5f09edc-ace3-4855-b877-aa1b5dba986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8" name="AutoShape 4" descr="blob:https://web.telegram.org/d5f09edc-ace3-4855-b877-aa1b5dba986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9" name="Рисунок 38" descr="Вострикова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746500" y="1647825"/>
            <a:ext cx="1514900" cy="1519649"/>
          </a:xfrm>
          <a:prstGeom prst="rect">
            <a:avLst/>
          </a:prstGeom>
        </p:spPr>
      </p:pic>
      <p:pic>
        <p:nvPicPr>
          <p:cNvPr id="40" name="Picture 5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013700" y="3781425"/>
            <a:ext cx="762000" cy="751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612</TotalTime>
  <Words>666</Words>
  <Application>Microsoft Office PowerPoint</Application>
  <PresentationFormat>Произвольный</PresentationFormat>
  <Paragraphs>173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Office Theme</vt:lpstr>
      <vt:lpstr>Слайд 1</vt:lpstr>
      <vt:lpstr>Слайд 2</vt:lpstr>
      <vt:lpstr>Статистика</vt:lpstr>
      <vt:lpstr>Всего два дня и вы в сети!</vt:lpstr>
      <vt:lpstr>Мы работаем для Вас</vt:lpstr>
      <vt:lpstr>Вот так проходят переговоры  </vt:lpstr>
      <vt:lpstr>Послушайте тех, кто был на ЦЗС™</vt:lpstr>
      <vt:lpstr>{{block24}}, Вы в одном клике от входа в сети!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Azfruktmn</dc:title>
  <dc:creator>Менеджер_004</dc:creator>
  <cp:lastModifiedBy>Менеджер_004</cp:lastModifiedBy>
  <cp:revision>34</cp:revision>
  <dcterms:created xsi:type="dcterms:W3CDTF">2026-06-24T08:38:13Z</dcterms:created>
  <dcterms:modified xsi:type="dcterms:W3CDTF">2026-07-29T11:31:10Z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2026-02-02T00:00:00Z</vt:filetime>
  </property>
  <property fmtid="{D5CDD505-2E9C-101B-9397-08002B2CF9AE}" pid="3" name="LastSaved">
    <vt:filetime>2026-06-24T00:00:00Z</vt:filetime>
  </property>
  <property fmtid="{D5CDD505-2E9C-101B-9397-08002B2CF9AE}" pid="4" name="Producer">
    <vt:lpwstr>3-Heights(TM) PDF Security Shell 4.8.25.2 (http://www.pdf-tools.com)</vt:lpwstr>
  </property>
</Properties>
</file>