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hyperlink" Target="https://online-czs.ru/buyers/51/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15.jpeg"/><Relationship Id="rId12" Type="http://schemas.openxmlformats.org/officeDocument/2006/relationships/image" Target="../media/image20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t.me/Moonlight_my" TargetMode="External"/><Relationship Id="rId13" Type="http://schemas.openxmlformats.org/officeDocument/2006/relationships/image" Target="../media/image21.png"/><Relationship Id="rId3" Type="http://schemas.openxmlformats.org/officeDocument/2006/relationships/image" Target="../media/image40.png"/><Relationship Id="rId7" Type="http://schemas.openxmlformats.org/officeDocument/2006/relationships/image" Target="../media/image6.png"/><Relationship Id="rId12" Type="http://schemas.openxmlformats.org/officeDocument/2006/relationships/image" Target="../media/image4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hyperlink" Target="mailto:manager19@imperia-forums.ru" TargetMode="External"/><Relationship Id="rId5" Type="http://schemas.openxmlformats.org/officeDocument/2006/relationships/image" Target="../media/image42.png"/><Relationship Id="rId10" Type="http://schemas.openxmlformats.org/officeDocument/2006/relationships/hyperlink" Target="https://wa.me/+79006574280" TargetMode="External"/><Relationship Id="rId4" Type="http://schemas.openxmlformats.org/officeDocument/2006/relationships/image" Target="../media/image41.png"/><Relationship Id="rId9" Type="http://schemas.openxmlformats.org/officeDocument/2006/relationships/image" Target="../media/image44.png"/><Relationship Id="rId14" Type="http://schemas.openxmlformats.org/officeDocument/2006/relationships/hyperlink" Target="https://platforma-czs.ru/prodexpo_tarif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6829" y="1784845"/>
            <a:ext cx="1117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</a:rPr>
              <a:t>Azfruktmn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536829" y="2168639"/>
            <a:ext cx="25603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Получатель</a:t>
            </a:r>
            <a:r>
              <a:rPr sz="1100" spc="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Тагиев</a:t>
            </a:r>
            <a:r>
              <a:rPr sz="1100" spc="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Гейдар,</a:t>
            </a:r>
            <a:r>
              <a:rPr sz="1100" spc="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Партнер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2409825"/>
            <a:ext cx="9556115" cy="13279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sz="2850" b="1" spc="155" dirty="0" err="1">
                <a:solidFill>
                  <a:srgbClr val="FFFFFF"/>
                </a:solidFill>
                <a:latin typeface="Arial"/>
                <a:cs typeface="Arial"/>
              </a:rPr>
              <a:t>Как</a:t>
            </a:r>
            <a:r>
              <a:rPr sz="28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ru-RU" sz="2850" b="1" spc="40" dirty="0" smtClean="0">
                <a:solidFill>
                  <a:srgbClr val="FFFFFF"/>
                </a:solidFill>
                <a:latin typeface="Arial"/>
                <a:cs typeface="Arial"/>
              </a:rPr>
              <a:t>компании «»</a:t>
            </a:r>
            <a:r>
              <a:rPr sz="2850" b="1" spc="-75" dirty="0" err="1" smtClean="0">
                <a:solidFill>
                  <a:srgbClr val="FFFFFF"/>
                </a:solidFill>
                <a:latin typeface="Arial"/>
                <a:cs typeface="Arial"/>
              </a:rPr>
              <a:t>получить</a:t>
            </a:r>
            <a:r>
              <a:rPr sz="2850" b="1" spc="5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FFFFFF"/>
                </a:solidFill>
                <a:latin typeface="Arial"/>
                <a:cs typeface="Arial"/>
              </a:rPr>
              <a:t>5-10</a:t>
            </a:r>
            <a:r>
              <a:rPr sz="285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FFFFFF"/>
                </a:solidFill>
                <a:latin typeface="Arial"/>
                <a:cs typeface="Arial"/>
              </a:rPr>
              <a:t>контрактов</a:t>
            </a:r>
            <a:r>
              <a:rPr sz="28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spc="190" dirty="0">
                <a:solidFill>
                  <a:srgbClr val="FFFFFF"/>
                </a:solidFill>
                <a:latin typeface="Arial"/>
                <a:cs typeface="Arial"/>
              </a:rPr>
              <a:t>с</a:t>
            </a:r>
            <a:r>
              <a:rPr sz="285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dirty="0" err="1">
                <a:solidFill>
                  <a:srgbClr val="FFFFFF"/>
                </a:solidFill>
                <a:latin typeface="Arial"/>
                <a:cs typeface="Arial"/>
              </a:rPr>
              <a:t>розничными</a:t>
            </a:r>
            <a:r>
              <a:rPr sz="285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spc="-10" dirty="0" err="1" smtClean="0">
                <a:solidFill>
                  <a:srgbClr val="FFFFFF"/>
                </a:solidFill>
                <a:latin typeface="Arial"/>
                <a:cs typeface="Arial"/>
              </a:rPr>
              <a:t>сетями</a:t>
            </a:r>
            <a:r>
              <a:rPr lang="ru-RU" sz="285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spc="165" dirty="0" err="1" smtClean="0">
                <a:solidFill>
                  <a:srgbClr val="FFFFFF"/>
                </a:solidFill>
                <a:latin typeface="Arial"/>
                <a:cs typeface="Arial"/>
              </a:rPr>
              <a:t>на</a:t>
            </a:r>
            <a:r>
              <a:rPr sz="2850" b="1" spc="2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dirty="0" err="1" smtClean="0">
                <a:solidFill>
                  <a:srgbClr val="FFFFFF"/>
                </a:solidFill>
                <a:latin typeface="Arial"/>
                <a:cs typeface="Arial"/>
              </a:rPr>
              <a:t>Центр</a:t>
            </a:r>
            <a:r>
              <a:rPr lang="ru-RU" sz="2850" b="1" dirty="0" smtClean="0">
                <a:solidFill>
                  <a:srgbClr val="FFFFFF"/>
                </a:solidFill>
                <a:latin typeface="Arial"/>
                <a:cs typeface="Arial"/>
              </a:rPr>
              <a:t>е</a:t>
            </a:r>
            <a:r>
              <a:rPr sz="2850" b="1" spc="2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spc="80" dirty="0">
                <a:solidFill>
                  <a:srgbClr val="FFFFFF"/>
                </a:solidFill>
                <a:latin typeface="Arial"/>
                <a:cs typeface="Arial"/>
              </a:rPr>
              <a:t>Закупок</a:t>
            </a:r>
            <a:r>
              <a:rPr sz="28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spc="60" dirty="0">
                <a:solidFill>
                  <a:srgbClr val="FFFFFF"/>
                </a:solidFill>
                <a:latin typeface="Arial"/>
                <a:cs typeface="Arial"/>
              </a:rPr>
              <a:t>Сетей:</a:t>
            </a:r>
            <a:r>
              <a:rPr sz="28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50" b="1" spc="100" dirty="0" err="1" smtClean="0">
                <a:solidFill>
                  <a:srgbClr val="FFFFFF"/>
                </a:solidFill>
                <a:latin typeface="Arial"/>
                <a:cs typeface="Arial"/>
              </a:rPr>
              <a:t>WorldFood</a:t>
            </a:r>
            <a:r>
              <a:rPr sz="2850" b="1" spc="25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50" b="1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39193" y="3810343"/>
            <a:ext cx="19500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категория</a:t>
            </a:r>
            <a:r>
              <a:rPr sz="1100" spc="-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14E85"/>
                </a:solidFill>
                <a:latin typeface="Century Gothic"/>
                <a:cs typeface="Century Gothic"/>
              </a:rPr>
              <a:t>«Овощи.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Фрукты»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0"/>
            <a:ext cx="10692130" cy="7560309"/>
            <a:chOff x="0" y="0"/>
            <a:chExt cx="10692130" cy="7560309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9530" y="5191735"/>
              <a:ext cx="720001" cy="72000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1527" y="5191735"/>
              <a:ext cx="720001" cy="7200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3525" y="5191735"/>
              <a:ext cx="720001" cy="7200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85522" y="5191735"/>
              <a:ext cx="720001" cy="7200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77520" y="5191735"/>
              <a:ext cx="720001" cy="7200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69530" y="5191735"/>
              <a:ext cx="720001" cy="7200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61527" y="5191735"/>
              <a:ext cx="720001" cy="7200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53525" y="5191735"/>
              <a:ext cx="720001" cy="72000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0" y="0"/>
              <a:ext cx="10692130" cy="7560309"/>
            </a:xfrm>
            <a:custGeom>
              <a:avLst/>
              <a:gdLst/>
              <a:ahLst/>
              <a:cxnLst/>
              <a:rect l="l" t="t" r="r" b="b"/>
              <a:pathLst>
                <a:path w="10692130" h="7560309">
                  <a:moveTo>
                    <a:pt x="10692003" y="0"/>
                  </a:moveTo>
                  <a:lnTo>
                    <a:pt x="10682478" y="0"/>
                  </a:lnTo>
                  <a:lnTo>
                    <a:pt x="10682478" y="9525"/>
                  </a:lnTo>
                  <a:lnTo>
                    <a:pt x="10682478" y="7550531"/>
                  </a:lnTo>
                  <a:lnTo>
                    <a:pt x="9525" y="7550531"/>
                  </a:lnTo>
                  <a:lnTo>
                    <a:pt x="9525" y="9525"/>
                  </a:lnTo>
                  <a:lnTo>
                    <a:pt x="10682478" y="9525"/>
                  </a:lnTo>
                  <a:lnTo>
                    <a:pt x="10682478" y="0"/>
                  </a:lnTo>
                  <a:lnTo>
                    <a:pt x="0" y="0"/>
                  </a:lnTo>
                  <a:lnTo>
                    <a:pt x="0" y="7560056"/>
                  </a:lnTo>
                  <a:lnTo>
                    <a:pt x="10692003" y="7560056"/>
                  </a:lnTo>
                  <a:lnTo>
                    <a:pt x="10692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596830" y="6090285"/>
            <a:ext cx="3242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3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3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3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3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3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3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3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3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3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48996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февраля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4658995"/>
            <a:ext cx="9360535" cy="2385060"/>
            <a:chOff x="359994" y="4658995"/>
            <a:chExt cx="9360535" cy="2385060"/>
          </a:xfrm>
        </p:grpSpPr>
        <p:sp>
          <p:nvSpPr>
            <p:cNvPr id="5" name="object 5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9" y="4658995"/>
              <a:ext cx="1799996" cy="17999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67298" y="397358"/>
            <a:ext cx="4208780" cy="6337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r>
              <a:rPr sz="1800" spc="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с</a:t>
            </a:r>
            <a:r>
              <a:rPr sz="1800" spc="4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245BA9"/>
                </a:solidFill>
                <a:latin typeface="Century Gothic"/>
                <a:cs typeface="Century Gothic"/>
              </a:rPr>
              <a:t>сетями</a:t>
            </a:r>
            <a:r>
              <a:rPr sz="1800" spc="4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по</a:t>
            </a:r>
            <a:r>
              <a:rPr sz="1800" spc="4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категории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«Овощи.</a:t>
            </a:r>
            <a:r>
              <a:rPr sz="1800" spc="-6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Фрукты»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/>
              <a:t>/7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3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600" dirty="0">
                <a:solidFill>
                  <a:srgbClr val="245BA9"/>
                </a:solidFill>
                <a:latin typeface="Century Gothic"/>
                <a:cs typeface="Century Gothic"/>
              </a:rPr>
              <a:t>Гейдар,</a:t>
            </a:r>
            <a:r>
              <a:rPr sz="1600" spc="-10" dirty="0">
                <a:solidFill>
                  <a:srgbClr val="245BA9"/>
                </a:solidFill>
                <a:latin typeface="Century Gothic"/>
                <a:cs typeface="Century Gothic"/>
              </a:rPr>
              <a:t> ознакомьтесь</a:t>
            </a:r>
            <a:r>
              <a:rPr sz="1600" spc="-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245BA9"/>
                </a:solidFill>
                <a:latin typeface="Century Gothic"/>
                <a:cs typeface="Century Gothic"/>
              </a:rPr>
              <a:t>с</a:t>
            </a:r>
            <a:r>
              <a:rPr sz="1600" spc="-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600" spc="-30" dirty="0">
                <a:solidFill>
                  <a:srgbClr val="245BA9"/>
                </a:solidFill>
                <a:latin typeface="Century Gothic"/>
                <a:cs typeface="Century Gothic"/>
              </a:rPr>
              <a:t>итогами</a:t>
            </a:r>
            <a:r>
              <a:rPr sz="1600" spc="-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245BA9"/>
                </a:solidFill>
                <a:latin typeface="Century Gothic"/>
                <a:cs typeface="Century Gothic"/>
              </a:rPr>
              <a:t>последнего</a:t>
            </a:r>
            <a:r>
              <a:rPr sz="1600" spc="-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600" spc="-20" dirty="0">
                <a:solidFill>
                  <a:srgbClr val="245BA9"/>
                </a:solidFill>
                <a:latin typeface="Century Gothic"/>
                <a:cs typeface="Century Gothic"/>
              </a:rPr>
              <a:t>ЦЗС™</a:t>
            </a:r>
            <a:r>
              <a:rPr sz="1600" spc="-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600" spc="-25" dirty="0">
                <a:solidFill>
                  <a:srgbClr val="245BA9"/>
                </a:solidFill>
                <a:latin typeface="Century Gothic"/>
                <a:cs typeface="Century Gothic"/>
              </a:rPr>
              <a:t>по </a:t>
            </a:r>
            <a:r>
              <a:rPr sz="1600" dirty="0">
                <a:solidFill>
                  <a:srgbClr val="245BA9"/>
                </a:solidFill>
                <a:latin typeface="Century Gothic"/>
                <a:cs typeface="Century Gothic"/>
              </a:rPr>
              <a:t>категории</a:t>
            </a:r>
            <a:r>
              <a:rPr sz="1600" spc="-7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600" spc="-20" dirty="0">
                <a:solidFill>
                  <a:srgbClr val="245BA9"/>
                </a:solidFill>
                <a:latin typeface="Century Gothic"/>
                <a:cs typeface="Century Gothic"/>
              </a:rPr>
              <a:t>«Овощи.</a:t>
            </a:r>
            <a:r>
              <a:rPr sz="1600" spc="-7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600" spc="-10" dirty="0">
                <a:solidFill>
                  <a:srgbClr val="245BA9"/>
                </a:solidFill>
                <a:latin typeface="Century Gothic"/>
                <a:cs typeface="Century Gothic"/>
              </a:rPr>
              <a:t>Фрукты»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40823" y="1666974"/>
            <a:ext cx="3845560" cy="116332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marR="5080" indent="513715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sz="4000" spc="-25" dirty="0">
                <a:solidFill>
                  <a:srgbClr val="245BA9"/>
                </a:solidFill>
                <a:latin typeface="Century Gothic"/>
                <a:cs typeface="Century Gothic"/>
              </a:rPr>
              <a:t>201</a:t>
            </a: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		10.5</a:t>
            </a:r>
            <a:r>
              <a:rPr sz="4000" spc="-80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млн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 руб </a:t>
            </a:r>
            <a:r>
              <a:rPr sz="1100" dirty="0">
                <a:latin typeface="Century Gothic"/>
                <a:cs typeface="Century Gothic"/>
              </a:rPr>
              <a:t>Контрактов </a:t>
            </a:r>
            <a:r>
              <a:rPr sz="1100" spc="-10" dirty="0">
                <a:latin typeface="Century Gothic"/>
                <a:cs typeface="Century Gothic"/>
              </a:rPr>
              <a:t>заключили</a:t>
            </a:r>
            <a:r>
              <a:rPr sz="1100" dirty="0">
                <a:latin typeface="Century Gothic"/>
                <a:cs typeface="Century Gothic"/>
              </a:rPr>
              <a:t>	Средний</a:t>
            </a:r>
            <a:r>
              <a:rPr sz="1100" spc="5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чек</a:t>
            </a:r>
            <a:r>
              <a:rPr sz="1100" spc="5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контракта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16824" y="1666974"/>
            <a:ext cx="1642745" cy="1720850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254635" algn="ctr">
              <a:lnSpc>
                <a:spcPct val="100000"/>
              </a:lnSpc>
              <a:spcBef>
                <a:spcPts val="2325"/>
              </a:spcBef>
            </a:pPr>
            <a:r>
              <a:rPr sz="4000" spc="-50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endParaRPr sz="400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100" spc="-10" dirty="0">
                <a:latin typeface="Century Gothic"/>
                <a:cs typeface="Century Gothic"/>
              </a:rPr>
              <a:t>Заключенных </a:t>
            </a:r>
            <a:r>
              <a:rPr sz="1100" dirty="0">
                <a:latin typeface="Century Gothic"/>
                <a:cs typeface="Century Gothic"/>
              </a:rPr>
              <a:t>контрактов — </a:t>
            </a:r>
            <a:r>
              <a:rPr sz="1100" spc="-10" dirty="0">
                <a:latin typeface="Century Gothic"/>
                <a:cs typeface="Century Gothic"/>
              </a:rPr>
              <a:t>средний </a:t>
            </a:r>
            <a:r>
              <a:rPr sz="1100" dirty="0">
                <a:latin typeface="Century Gothic"/>
                <a:cs typeface="Century Gothic"/>
              </a:rPr>
              <a:t>результат</a:t>
            </a:r>
            <a:r>
              <a:rPr sz="1100" spc="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одного поставщика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69607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0823" y="3795763"/>
            <a:ext cx="1278255" cy="1330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80"/>
              </a:lnSpc>
              <a:spcBef>
                <a:spcPts val="100"/>
              </a:spcBef>
            </a:pPr>
            <a:r>
              <a:rPr sz="4000" spc="-25" dirty="0">
                <a:solidFill>
                  <a:srgbClr val="245BA9"/>
                </a:solidFill>
                <a:latin typeface="Century Gothic"/>
                <a:cs typeface="Century Gothic"/>
              </a:rPr>
              <a:t>63</a:t>
            </a:r>
            <a:endParaRPr sz="4000">
              <a:latin typeface="Century Gothic"/>
              <a:cs typeface="Century Gothic"/>
            </a:endParaRPr>
          </a:p>
          <a:p>
            <a:pPr marL="12700">
              <a:lnSpc>
                <a:spcPts val="1200"/>
              </a:lnSpc>
            </a:pPr>
            <a:r>
              <a:rPr sz="1100" spc="-10" dirty="0">
                <a:latin typeface="Century Gothic"/>
                <a:cs typeface="Century Gothic"/>
              </a:rPr>
              <a:t>Закупщика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5422" y="3798693"/>
            <a:ext cx="2065020" cy="13004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entury Gothic"/>
                <a:cs typeface="Century Gothic"/>
              </a:rPr>
              <a:t>В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spc="-85" dirty="0">
                <a:latin typeface="Century Gothic"/>
                <a:cs typeface="Century Gothic"/>
              </a:rPr>
              <a:t>том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числе:</a:t>
            </a:r>
            <a:endParaRPr sz="180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750"/>
              </a:spcBef>
            </a:pPr>
            <a:r>
              <a:rPr sz="3600" baseline="-5787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r>
              <a:rPr sz="3600" spc="-382" baseline="-5787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25" dirty="0">
                <a:solidFill>
                  <a:srgbClr val="245BA9"/>
                </a:solidFill>
                <a:latin typeface="Century Gothic"/>
                <a:cs typeface="Century Gothic"/>
              </a:rPr>
              <a:t>федеральных</a:t>
            </a:r>
            <a:r>
              <a:rPr sz="12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805"/>
              </a:spcBef>
            </a:pPr>
            <a:r>
              <a:rPr sz="3600" baseline="-5787" dirty="0">
                <a:solidFill>
                  <a:srgbClr val="245BA9"/>
                </a:solidFill>
                <a:latin typeface="Century Gothic"/>
                <a:cs typeface="Century Gothic"/>
              </a:rPr>
              <a:t>16</a:t>
            </a:r>
            <a:r>
              <a:rPr sz="3600" spc="-397" baseline="-5787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245BA9"/>
                </a:solidFill>
                <a:latin typeface="Century Gothic"/>
                <a:cs typeface="Century Gothic"/>
              </a:rPr>
              <a:t>региональных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2624" y="4137342"/>
            <a:ext cx="1776095" cy="114300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sz="3600" baseline="-5787" dirty="0">
                <a:solidFill>
                  <a:srgbClr val="245BA9"/>
                </a:solidFill>
                <a:latin typeface="Century Gothic"/>
                <a:cs typeface="Century Gothic"/>
              </a:rPr>
              <a:t>21</a:t>
            </a:r>
            <a:r>
              <a:rPr sz="3600" spc="-352" baseline="-5787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245BA9"/>
                </a:solidFill>
                <a:latin typeface="Century Gothic"/>
                <a:cs typeface="Century Gothic"/>
              </a:rPr>
              <a:t>локальных</a:t>
            </a:r>
            <a:r>
              <a:rPr sz="12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sz="3600" baseline="-5787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r>
              <a:rPr sz="3600" spc="-397" baseline="-5787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представителя HoReCa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0005" y="5638851"/>
            <a:ext cx="6696075" cy="1365250"/>
            <a:chOff x="3600005" y="5638851"/>
            <a:chExt cx="6696075" cy="1365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3530" y="5792368"/>
              <a:ext cx="899998" cy="8999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04767" y="5643613"/>
              <a:ext cx="6686550" cy="1355725"/>
            </a:xfrm>
            <a:custGeom>
              <a:avLst/>
              <a:gdLst/>
              <a:ahLst/>
              <a:cxnLst/>
              <a:rect l="l" t="t" r="r" b="b"/>
              <a:pathLst>
                <a:path w="6686550" h="1355725">
                  <a:moveTo>
                    <a:pt x="6666776" y="19685"/>
                  </a:moveTo>
                  <a:lnTo>
                    <a:pt x="6632344" y="1292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29"/>
                  </a:lnTo>
                  <a:lnTo>
                    <a:pt x="24576" y="15256"/>
                  </a:lnTo>
                  <a:lnTo>
                    <a:pt x="19685" y="19685"/>
                  </a:lnTo>
                </a:path>
                <a:path w="6686550" h="1355725">
                  <a:moveTo>
                    <a:pt x="19685" y="1335900"/>
                  </a:moveTo>
                  <a:lnTo>
                    <a:pt x="54116" y="1354293"/>
                  </a:lnTo>
                  <a:lnTo>
                    <a:pt x="67233" y="1355585"/>
                  </a:lnTo>
                  <a:lnTo>
                    <a:pt x="6614464" y="1355585"/>
                  </a:lnTo>
                  <a:lnTo>
                    <a:pt x="6656585" y="1344255"/>
                  </a:lnTo>
                  <a:lnTo>
                    <a:pt x="6661886" y="1340328"/>
                  </a:lnTo>
                  <a:lnTo>
                    <a:pt x="6666776" y="1335900"/>
                  </a:lnTo>
                </a:path>
                <a:path w="6686550" h="1355725">
                  <a:moveTo>
                    <a:pt x="19685" y="19685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283589"/>
                  </a:lnTo>
                  <a:lnTo>
                    <a:pt x="11329" y="1325705"/>
                  </a:lnTo>
                  <a:lnTo>
                    <a:pt x="15256" y="1331008"/>
                  </a:lnTo>
                  <a:lnTo>
                    <a:pt x="19685" y="1335900"/>
                  </a:lnTo>
                </a:path>
                <a:path w="6686550" h="1355725">
                  <a:moveTo>
                    <a:pt x="6666776" y="1335900"/>
                  </a:moveTo>
                  <a:lnTo>
                    <a:pt x="6685176" y="1301469"/>
                  </a:lnTo>
                  <a:lnTo>
                    <a:pt x="6686473" y="1288351"/>
                  </a:lnTo>
                  <a:lnTo>
                    <a:pt x="6686473" y="71996"/>
                  </a:lnTo>
                  <a:lnTo>
                    <a:pt x="6675132" y="29879"/>
                  </a:lnTo>
                  <a:lnTo>
                    <a:pt x="6671204" y="24576"/>
                  </a:lnTo>
                  <a:lnTo>
                    <a:pt x="6666776" y="19685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>
                <a:solidFill>
                  <a:srgbClr val="9CC9ED"/>
                </a:solidFill>
                <a:latin typeface="Century Gothic"/>
                <a:cs typeface="Century Gothic"/>
              </a:rPr>
              <a:t>/7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2994" y="4646740"/>
            <a:ext cx="6207125" cy="2479040"/>
            <a:chOff x="3692994" y="4646740"/>
            <a:chExt cx="6207125" cy="2479040"/>
          </a:xfrm>
        </p:grpSpPr>
        <p:sp>
          <p:nvSpPr>
            <p:cNvPr id="32" name="object 32"/>
            <p:cNvSpPr/>
            <p:nvPr/>
          </p:nvSpPr>
          <p:spPr>
            <a:xfrm>
              <a:off x="3702519" y="5998058"/>
              <a:ext cx="3128010" cy="1118235"/>
            </a:xfrm>
            <a:custGeom>
              <a:avLst/>
              <a:gdLst/>
              <a:ahLst/>
              <a:cxnLst/>
              <a:rect l="l" t="t" r="r" b="b"/>
              <a:pathLst>
                <a:path w="3128009" h="1118234">
                  <a:moveTo>
                    <a:pt x="3088563" y="39382"/>
                  </a:moveTo>
                  <a:lnTo>
                    <a:pt x="3056868" y="15879"/>
                  </a:lnTo>
                  <a:lnTo>
                    <a:pt x="3019713" y="2589"/>
                  </a:lnTo>
                  <a:lnTo>
                    <a:pt x="2993478" y="0"/>
                  </a:lnTo>
                  <a:lnTo>
                    <a:pt x="134480" y="0"/>
                  </a:lnTo>
                  <a:lnTo>
                    <a:pt x="95443" y="5791"/>
                  </a:lnTo>
                  <a:lnTo>
                    <a:pt x="59774" y="22666"/>
                  </a:lnTo>
                  <a:lnTo>
                    <a:pt x="49174" y="30524"/>
                  </a:lnTo>
                  <a:lnTo>
                    <a:pt x="39395" y="39382"/>
                  </a:lnTo>
                </a:path>
                <a:path w="3128009" h="1118234">
                  <a:moveTo>
                    <a:pt x="39395" y="1078420"/>
                  </a:moveTo>
                  <a:lnTo>
                    <a:pt x="71090" y="1101930"/>
                  </a:lnTo>
                  <a:lnTo>
                    <a:pt x="108245" y="1115221"/>
                  </a:lnTo>
                  <a:lnTo>
                    <a:pt x="134480" y="1117815"/>
                  </a:lnTo>
                  <a:lnTo>
                    <a:pt x="2983953" y="1117815"/>
                  </a:lnTo>
                  <a:lnTo>
                    <a:pt x="3032367" y="1112018"/>
                  </a:lnTo>
                  <a:lnTo>
                    <a:pt x="3068185" y="1095143"/>
                  </a:lnTo>
                  <a:lnTo>
                    <a:pt x="3078784" y="1087284"/>
                  </a:lnTo>
                  <a:lnTo>
                    <a:pt x="3088563" y="1078420"/>
                  </a:lnTo>
                </a:path>
                <a:path w="3128009" h="1118234">
                  <a:moveTo>
                    <a:pt x="39395" y="39382"/>
                  </a:moveTo>
                  <a:lnTo>
                    <a:pt x="15887" y="71083"/>
                  </a:lnTo>
                  <a:lnTo>
                    <a:pt x="2593" y="108237"/>
                  </a:lnTo>
                  <a:lnTo>
                    <a:pt x="0" y="134467"/>
                  </a:lnTo>
                  <a:lnTo>
                    <a:pt x="0" y="973810"/>
                  </a:lnTo>
                  <a:lnTo>
                    <a:pt x="5797" y="1022223"/>
                  </a:lnTo>
                  <a:lnTo>
                    <a:pt x="22677" y="1058041"/>
                  </a:lnTo>
                  <a:lnTo>
                    <a:pt x="30536" y="1068641"/>
                  </a:lnTo>
                  <a:lnTo>
                    <a:pt x="39395" y="1078420"/>
                  </a:lnTo>
                </a:path>
                <a:path w="3128009" h="1118234">
                  <a:moveTo>
                    <a:pt x="3088563" y="1078420"/>
                  </a:moveTo>
                  <a:lnTo>
                    <a:pt x="3112072" y="1046725"/>
                  </a:lnTo>
                  <a:lnTo>
                    <a:pt x="3125365" y="1009570"/>
                  </a:lnTo>
                  <a:lnTo>
                    <a:pt x="3127959" y="983335"/>
                  </a:lnTo>
                  <a:lnTo>
                    <a:pt x="3127959" y="143992"/>
                  </a:lnTo>
                  <a:lnTo>
                    <a:pt x="3122162" y="95584"/>
                  </a:lnTo>
                  <a:lnTo>
                    <a:pt x="3105281" y="59766"/>
                  </a:lnTo>
                  <a:lnTo>
                    <a:pt x="3097422" y="49163"/>
                  </a:lnTo>
                  <a:lnTo>
                    <a:pt x="3088563" y="39382"/>
                  </a:lnTo>
                </a:path>
              </a:pathLst>
            </a:custGeom>
            <a:ln w="19050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9996" y="4646740"/>
              <a:ext cx="1799996" cy="1799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94" y="6054966"/>
            <a:ext cx="9900285" cy="989330"/>
            <a:chOff x="359994" y="6054966"/>
            <a:chExt cx="9900285" cy="989330"/>
          </a:xfrm>
        </p:grpSpPr>
        <p:sp>
          <p:nvSpPr>
            <p:cNvPr id="14" name="object 14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3997" y="6054966"/>
              <a:ext cx="936002" cy="9360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spc="-50" dirty="0"/>
              <a:t>7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169035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года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работы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компании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1956435" cy="13220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835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заключено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категории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00" spc="-20" dirty="0">
                <a:latin typeface="Century Gothic"/>
                <a:cs typeface="Century Gothic"/>
              </a:rPr>
              <a:t>«Овощи.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Фрукты»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87298" y="2051342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20000" y="4125531"/>
              <a:ext cx="3276003" cy="21599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00005" y="4125531"/>
              <a:ext cx="3276600" cy="2995930"/>
            </a:xfrm>
            <a:custGeom>
              <a:avLst/>
              <a:gdLst/>
              <a:ahLst/>
              <a:cxnLst/>
              <a:rect l="l" t="t" r="r" b="b"/>
              <a:pathLst>
                <a:path w="3276600" h="2995929">
                  <a:moveTo>
                    <a:pt x="3131997" y="0"/>
                  </a:moveTo>
                  <a:lnTo>
                    <a:pt x="143992" y="0"/>
                  </a:lnTo>
                  <a:lnTo>
                    <a:pt x="129879" y="698"/>
                  </a:lnTo>
                  <a:lnTo>
                    <a:pt x="88887" y="10960"/>
                  </a:lnTo>
                  <a:lnTo>
                    <a:pt x="52647" y="32687"/>
                  </a:lnTo>
                  <a:lnTo>
                    <a:pt x="24272" y="63998"/>
                  </a:lnTo>
                  <a:lnTo>
                    <a:pt x="6204" y="102192"/>
                  </a:lnTo>
                  <a:lnTo>
                    <a:pt x="0" y="143992"/>
                  </a:lnTo>
                  <a:lnTo>
                    <a:pt x="0" y="2851302"/>
                  </a:lnTo>
                  <a:lnTo>
                    <a:pt x="6204" y="2893102"/>
                  </a:lnTo>
                  <a:lnTo>
                    <a:pt x="24272" y="2931298"/>
                  </a:lnTo>
                  <a:lnTo>
                    <a:pt x="52647" y="2962614"/>
                  </a:lnTo>
                  <a:lnTo>
                    <a:pt x="88887" y="2984347"/>
                  </a:lnTo>
                  <a:lnTo>
                    <a:pt x="129879" y="2994609"/>
                  </a:lnTo>
                  <a:lnTo>
                    <a:pt x="143992" y="2995307"/>
                  </a:lnTo>
                  <a:lnTo>
                    <a:pt x="3131997" y="2995307"/>
                  </a:lnTo>
                  <a:lnTo>
                    <a:pt x="3173797" y="2989103"/>
                  </a:lnTo>
                  <a:lnTo>
                    <a:pt x="3211991" y="2971030"/>
                  </a:lnTo>
                  <a:lnTo>
                    <a:pt x="3243302" y="2942653"/>
                  </a:lnTo>
                  <a:lnTo>
                    <a:pt x="3265030" y="2906407"/>
                  </a:lnTo>
                  <a:lnTo>
                    <a:pt x="3275292" y="2865415"/>
                  </a:lnTo>
                  <a:lnTo>
                    <a:pt x="3275990" y="2851302"/>
                  </a:lnTo>
                  <a:lnTo>
                    <a:pt x="3275990" y="143992"/>
                  </a:lnTo>
                  <a:lnTo>
                    <a:pt x="3269786" y="102192"/>
                  </a:lnTo>
                  <a:lnTo>
                    <a:pt x="3251717" y="63998"/>
                  </a:lnTo>
                  <a:lnTo>
                    <a:pt x="3223343" y="32687"/>
                  </a:lnTo>
                  <a:lnTo>
                    <a:pt x="3187103" y="10960"/>
                  </a:lnTo>
                  <a:lnTo>
                    <a:pt x="3146110" y="698"/>
                  </a:lnTo>
                  <a:lnTo>
                    <a:pt x="313199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3997" y="6040818"/>
              <a:ext cx="2988005" cy="9360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0000" y="1821510"/>
              <a:ext cx="3276003" cy="21600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199998" y="2757513"/>
              <a:ext cx="2916555" cy="1044575"/>
            </a:xfrm>
            <a:custGeom>
              <a:avLst/>
              <a:gdLst/>
              <a:ahLst/>
              <a:cxnLst/>
              <a:rect l="l" t="t" r="r" b="b"/>
              <a:pathLst>
                <a:path w="2916554" h="1044575">
                  <a:moveTo>
                    <a:pt x="1368005" y="108000"/>
                  </a:moveTo>
                  <a:lnTo>
                    <a:pt x="1359776" y="66675"/>
                  </a:lnTo>
                  <a:lnTo>
                    <a:pt x="1336370" y="31635"/>
                  </a:lnTo>
                  <a:lnTo>
                    <a:pt x="1301330" y="8216"/>
                  </a:lnTo>
                  <a:lnTo>
                    <a:pt x="1260005" y="0"/>
                  </a:lnTo>
                  <a:lnTo>
                    <a:pt x="108000" y="0"/>
                  </a:lnTo>
                  <a:lnTo>
                    <a:pt x="66675" y="8216"/>
                  </a:lnTo>
                  <a:lnTo>
                    <a:pt x="31635" y="31635"/>
                  </a:lnTo>
                  <a:lnTo>
                    <a:pt x="8216" y="66675"/>
                  </a:lnTo>
                  <a:lnTo>
                    <a:pt x="0" y="108000"/>
                  </a:lnTo>
                  <a:lnTo>
                    <a:pt x="0" y="936002"/>
                  </a:lnTo>
                  <a:lnTo>
                    <a:pt x="8216" y="977328"/>
                  </a:lnTo>
                  <a:lnTo>
                    <a:pt x="31635" y="1012367"/>
                  </a:lnTo>
                  <a:lnTo>
                    <a:pt x="66675" y="1035773"/>
                  </a:lnTo>
                  <a:lnTo>
                    <a:pt x="108000" y="1044003"/>
                  </a:lnTo>
                  <a:lnTo>
                    <a:pt x="1260005" y="1044003"/>
                  </a:lnTo>
                  <a:lnTo>
                    <a:pt x="1301330" y="1035773"/>
                  </a:lnTo>
                  <a:lnTo>
                    <a:pt x="1336370" y="1012367"/>
                  </a:lnTo>
                  <a:lnTo>
                    <a:pt x="1359776" y="977328"/>
                  </a:lnTo>
                  <a:lnTo>
                    <a:pt x="1368005" y="936002"/>
                  </a:lnTo>
                  <a:lnTo>
                    <a:pt x="1368005" y="108000"/>
                  </a:lnTo>
                  <a:close/>
                </a:path>
                <a:path w="2916554" h="1044575">
                  <a:moveTo>
                    <a:pt x="2915996" y="108000"/>
                  </a:moveTo>
                  <a:lnTo>
                    <a:pt x="2907779" y="66675"/>
                  </a:lnTo>
                  <a:lnTo>
                    <a:pt x="2884373" y="31635"/>
                  </a:lnTo>
                  <a:lnTo>
                    <a:pt x="2849334" y="8216"/>
                  </a:lnTo>
                  <a:lnTo>
                    <a:pt x="2807995" y="0"/>
                  </a:lnTo>
                  <a:lnTo>
                    <a:pt x="1656003" y="0"/>
                  </a:lnTo>
                  <a:lnTo>
                    <a:pt x="1614678" y="8216"/>
                  </a:lnTo>
                  <a:lnTo>
                    <a:pt x="1579638" y="31635"/>
                  </a:lnTo>
                  <a:lnTo>
                    <a:pt x="1556219" y="66675"/>
                  </a:lnTo>
                  <a:lnTo>
                    <a:pt x="1548003" y="108000"/>
                  </a:lnTo>
                  <a:lnTo>
                    <a:pt x="1548003" y="936002"/>
                  </a:lnTo>
                  <a:lnTo>
                    <a:pt x="1556219" y="977328"/>
                  </a:lnTo>
                  <a:lnTo>
                    <a:pt x="1579638" y="1012367"/>
                  </a:lnTo>
                  <a:lnTo>
                    <a:pt x="1614678" y="1035773"/>
                  </a:lnTo>
                  <a:lnTo>
                    <a:pt x="1656003" y="1044003"/>
                  </a:lnTo>
                  <a:lnTo>
                    <a:pt x="2807995" y="1044003"/>
                  </a:lnTo>
                  <a:lnTo>
                    <a:pt x="2849334" y="1035773"/>
                  </a:lnTo>
                  <a:lnTo>
                    <a:pt x="2884373" y="1012367"/>
                  </a:lnTo>
                  <a:lnTo>
                    <a:pt x="2907779" y="977328"/>
                  </a:lnTo>
                  <a:lnTo>
                    <a:pt x="2915996" y="936002"/>
                  </a:lnTo>
                  <a:lnTo>
                    <a:pt x="2915996" y="108000"/>
                  </a:lnTo>
                  <a:close/>
                </a:path>
              </a:pathLst>
            </a:custGeom>
            <a:solidFill>
              <a:srgbClr val="1D8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00005" y="1821510"/>
              <a:ext cx="3275990" cy="216000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9994" y="2865514"/>
            <a:ext cx="7884159" cy="4178935"/>
            <a:chOff x="359994" y="2865514"/>
            <a:chExt cx="7884159" cy="4178935"/>
          </a:xfrm>
        </p:grpSpPr>
        <p:sp>
          <p:nvSpPr>
            <p:cNvPr id="19" name="object 19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4000" y="2865514"/>
              <a:ext cx="720001" cy="72000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43998" y="4269537"/>
              <a:ext cx="720001" cy="505841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Фото</a:t>
            </a:r>
            <a:r>
              <a:rPr spc="-125" dirty="0"/>
              <a:t> </a:t>
            </a:r>
            <a:r>
              <a:rPr dirty="0"/>
              <a:t>и</a:t>
            </a:r>
            <a:r>
              <a:rPr spc="-125" dirty="0"/>
              <a:t> </a:t>
            </a:r>
            <a:r>
              <a:rPr spc="55" dirty="0"/>
              <a:t>отзывы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64091" y="2835325"/>
            <a:ext cx="935990" cy="801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57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Больше </a:t>
            </a:r>
            <a:r>
              <a:rPr sz="1100" spc="-45" dirty="0">
                <a:solidFill>
                  <a:srgbClr val="FFFFFF"/>
                </a:solidFill>
                <a:latin typeface="Century Gothic"/>
                <a:cs typeface="Century Gothic"/>
              </a:rPr>
              <a:t>фотографий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по</a:t>
            </a:r>
            <a:r>
              <a:rPr sz="1100" spc="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QR</a:t>
            </a:r>
            <a:r>
              <a:rPr sz="1100" spc="1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коду</a:t>
            </a:r>
            <a:r>
              <a:rPr sz="1100" spc="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Century Gothic"/>
                <a:cs typeface="Century Gothic"/>
              </a:rPr>
              <a:t>и </a:t>
            </a:r>
            <a:r>
              <a:rPr sz="11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2"/>
              </a:rPr>
              <a:t>ссылке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31298" y="4265663"/>
            <a:ext cx="2979420" cy="170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2494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entury Gothic"/>
                <a:cs typeface="Century Gothic"/>
              </a:rPr>
              <a:t>Андрей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Мартынов</a:t>
            </a:r>
            <a:endParaRPr sz="1100">
              <a:latin typeface="Century Gothic"/>
              <a:cs typeface="Century Gothic"/>
            </a:endParaRPr>
          </a:p>
          <a:p>
            <a:pPr marL="912494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latin typeface="Century Gothic"/>
                <a:cs typeface="Century Gothic"/>
              </a:rPr>
              <a:t>Шоколадная </a:t>
            </a:r>
            <a:r>
              <a:rPr sz="900" spc="-45" dirty="0">
                <a:latin typeface="Century Gothic"/>
                <a:cs typeface="Century Gothic"/>
              </a:rPr>
              <a:t>фабрика</a:t>
            </a:r>
            <a:r>
              <a:rPr sz="900" spc="5" dirty="0">
                <a:latin typeface="Century Gothic"/>
                <a:cs typeface="Century Gothic"/>
              </a:rPr>
              <a:t> </a:t>
            </a:r>
            <a:r>
              <a:rPr sz="900" spc="-10" dirty="0">
                <a:latin typeface="Century Gothic"/>
                <a:cs typeface="Century Gothic"/>
              </a:rPr>
              <a:t>VIVACHOCO</a:t>
            </a:r>
            <a:endParaRPr sz="9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9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900">
              <a:latin typeface="Century Gothic"/>
              <a:cs typeface="Century Gothic"/>
            </a:endParaRPr>
          </a:p>
          <a:p>
            <a:pPr marL="12700" marR="144780">
              <a:lnSpc>
                <a:spcPct val="110800"/>
              </a:lnSpc>
            </a:pPr>
            <a:r>
              <a:rPr sz="1000" dirty="0">
                <a:latin typeface="Century Gothic"/>
                <a:cs typeface="Century Gothic"/>
              </a:rPr>
              <a:t>Мы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за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1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год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приняли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Центре Закупок</a:t>
            </a:r>
            <a:r>
              <a:rPr sz="1000" dirty="0">
                <a:latin typeface="Century Gothic"/>
                <a:cs typeface="Century Gothic"/>
              </a:rPr>
              <a:t> Сетей™ 3</a:t>
            </a:r>
            <a:r>
              <a:rPr sz="1000" spc="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раза и очень</a:t>
            </a:r>
            <a:r>
              <a:rPr sz="1000" spc="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довольны результатами: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112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контактов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позволило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-55" dirty="0">
                <a:latin typeface="Century Gothic"/>
                <a:cs typeface="Century Gothic"/>
              </a:rPr>
              <a:t>нам </a:t>
            </a:r>
            <a:r>
              <a:rPr sz="1000" dirty="0">
                <a:latin typeface="Century Gothic"/>
                <a:cs typeface="Century Gothic"/>
              </a:rPr>
              <a:t>заключить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более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20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контрактов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такими сетями</a:t>
            </a:r>
            <a:r>
              <a:rPr sz="1000" spc="-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как:</a:t>
            </a:r>
            <a:r>
              <a:rPr sz="1000" spc="-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Магнолия,</a:t>
            </a:r>
            <a:r>
              <a:rPr sz="1000" spc="-25" dirty="0">
                <a:latin typeface="Century Gothic"/>
                <a:cs typeface="Century Gothic"/>
              </a:rPr>
              <a:t> Хороший </a:t>
            </a:r>
            <a:r>
              <a:rPr sz="1000" spc="-10" dirty="0">
                <a:latin typeface="Century Gothic"/>
                <a:cs typeface="Century Gothic"/>
              </a:rPr>
              <a:t>выбор, Командор</a:t>
            </a:r>
            <a:r>
              <a:rPr sz="1000" spc="-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и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др.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03294" y="6153036"/>
            <a:ext cx="1790700" cy="44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Century Gothic"/>
                <a:cs typeface="Century Gothic"/>
              </a:rPr>
              <a:t>Больше</a:t>
            </a:r>
            <a:r>
              <a:rPr sz="12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Century Gothic"/>
                <a:cs typeface="Century Gothic"/>
              </a:rPr>
              <a:t>отзывов</a:t>
            </a:r>
            <a:r>
              <a:rPr sz="12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Century Gothic"/>
                <a:cs typeface="Century Gothic"/>
              </a:rPr>
              <a:t>по</a:t>
            </a:r>
            <a:r>
              <a:rPr sz="12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entury Gothic"/>
                <a:cs typeface="Century Gothic"/>
              </a:rPr>
              <a:t>QR- </a:t>
            </a:r>
            <a:r>
              <a:rPr sz="1200" dirty="0">
                <a:solidFill>
                  <a:srgbClr val="FFFFFF"/>
                </a:solidFill>
                <a:latin typeface="Century Gothic"/>
                <a:cs typeface="Century Gothic"/>
              </a:rPr>
              <a:t>коду</a:t>
            </a:r>
            <a:r>
              <a:rPr sz="1200" spc="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Century Gothic"/>
                <a:cs typeface="Century Gothic"/>
              </a:rPr>
              <a:t>или</a:t>
            </a:r>
            <a:r>
              <a:rPr sz="1200" spc="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2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12"/>
              </a:rPr>
              <a:t>ссылке</a:t>
            </a:r>
            <a:endParaRPr sz="1200">
              <a:latin typeface="Century Gothic"/>
              <a:cs typeface="Century Gothic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904001" y="6148819"/>
            <a:ext cx="720001" cy="720001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spc="-50" dirty="0"/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0002" y="1712798"/>
              <a:ext cx="1511998" cy="15119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948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dirty="0"/>
              <a:t>Гейдар,</a:t>
            </a:r>
            <a:r>
              <a:rPr spc="-80" dirty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203263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Мункуева</a:t>
            </a:r>
            <a:r>
              <a:rPr sz="1800" spc="85" dirty="0">
                <a:latin typeface="Century Gothic"/>
                <a:cs typeface="Century Gothic"/>
              </a:rPr>
              <a:t> </a:t>
            </a:r>
            <a:r>
              <a:rPr sz="1800" spc="-25" dirty="0">
                <a:latin typeface="Century Gothic"/>
                <a:cs typeface="Century Gothic"/>
              </a:rPr>
              <a:t>Зоя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>
                <a:latin typeface="Century Gothic"/>
                <a:cs typeface="Century Gothic"/>
              </a:rPr>
              <a:t>Персональный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году </a:t>
            </a:r>
            <a:r>
              <a:rPr sz="1200" spc="-50" dirty="0">
                <a:latin typeface="Century Gothic"/>
                <a:cs typeface="Century Gothic"/>
              </a:rPr>
              <a:t>наши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клиенты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уже</a:t>
            </a:r>
            <a:r>
              <a:rPr sz="1200" dirty="0">
                <a:latin typeface="Century Gothic"/>
                <a:cs typeface="Century Gothic"/>
              </a:rPr>
              <a:t> провели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241 </a:t>
            </a:r>
            <a:r>
              <a:rPr sz="1200" dirty="0">
                <a:latin typeface="Century Gothic"/>
                <a:cs typeface="Century Gothic"/>
              </a:rPr>
              <a:t>переговоров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заключили</a:t>
            </a:r>
            <a:r>
              <a:rPr sz="1200" spc="7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201</a:t>
            </a:r>
            <a:r>
              <a:rPr sz="1200" spc="6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предварительных </a:t>
            </a:r>
            <a:r>
              <a:rPr sz="1200" dirty="0">
                <a:latin typeface="Century Gothic"/>
                <a:cs typeface="Century Gothic"/>
              </a:rPr>
              <a:t>контрактов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-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категории</a:t>
            </a:r>
            <a:r>
              <a:rPr sz="1200" spc="-20" dirty="0">
                <a:latin typeface="Century Gothic"/>
                <a:cs typeface="Century Gothic"/>
              </a:rPr>
              <a:t> «Овощи. </a:t>
            </a:r>
            <a:r>
              <a:rPr sz="1200" spc="-10" dirty="0">
                <a:latin typeface="Century Gothic"/>
                <a:cs typeface="Century Gothic"/>
              </a:rPr>
              <a:t>Фрукты».</a:t>
            </a:r>
            <a:r>
              <a:rPr sz="1200" spc="-2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Уверены, вместе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90" dirty="0">
                <a:latin typeface="Century Gothic"/>
                <a:cs typeface="Century Gothic"/>
              </a:rPr>
              <a:t>мы</a:t>
            </a:r>
            <a:r>
              <a:rPr sz="1200" dirty="0">
                <a:latin typeface="Century Gothic"/>
                <a:cs typeface="Century Gothic"/>
              </a:rPr>
              <a:t> </a:t>
            </a:r>
            <a:r>
              <a:rPr sz="1200" spc="-45" dirty="0">
                <a:latin typeface="Century Gothic"/>
                <a:cs typeface="Century Gothic"/>
              </a:rPr>
              <a:t>займем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полки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75" dirty="0">
                <a:latin typeface="Century Gothic"/>
                <a:cs typeface="Century Gothic"/>
              </a:rPr>
              <a:t>в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нужных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вам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сетях».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1872614" cy="37274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sz="1200" spc="-10" dirty="0">
                <a:latin typeface="Century Gothic"/>
                <a:cs typeface="Century Gothic"/>
              </a:rPr>
              <a:t>+79006574280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247" y="3433724"/>
            <a:ext cx="1887855" cy="900430"/>
            <a:chOff x="7472247" y="3433724"/>
            <a:chExt cx="1887855" cy="900430"/>
          </a:xfrm>
        </p:grpSpPr>
        <p:sp>
          <p:nvSpPr>
            <p:cNvPr id="19" name="object 19">
              <a:hlinkClick r:id="rId8"/>
            </p:cNvPr>
            <p:cNvSpPr/>
            <p:nvPr/>
          </p:nvSpPr>
          <p:spPr>
            <a:xfrm>
              <a:off x="7472247" y="345420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734" y="0"/>
                  </a:moveTo>
                  <a:lnTo>
                    <a:pt x="96935" y="7225"/>
                  </a:lnTo>
                  <a:lnTo>
                    <a:pt x="58028" y="27346"/>
                  </a:lnTo>
                  <a:lnTo>
                    <a:pt x="27346" y="58028"/>
                  </a:lnTo>
                  <a:lnTo>
                    <a:pt x="7225" y="96935"/>
                  </a:lnTo>
                  <a:lnTo>
                    <a:pt x="0" y="141734"/>
                  </a:lnTo>
                  <a:lnTo>
                    <a:pt x="7225" y="186531"/>
                  </a:lnTo>
                  <a:lnTo>
                    <a:pt x="27346" y="225436"/>
                  </a:lnTo>
                  <a:lnTo>
                    <a:pt x="58028" y="256115"/>
                  </a:lnTo>
                  <a:lnTo>
                    <a:pt x="96935" y="276234"/>
                  </a:lnTo>
                  <a:lnTo>
                    <a:pt x="141734" y="283459"/>
                  </a:lnTo>
                  <a:lnTo>
                    <a:pt x="186531" y="276234"/>
                  </a:lnTo>
                  <a:lnTo>
                    <a:pt x="225436" y="256115"/>
                  </a:lnTo>
                  <a:lnTo>
                    <a:pt x="256115" y="225436"/>
                  </a:lnTo>
                  <a:lnTo>
                    <a:pt x="276234" y="186531"/>
                  </a:lnTo>
                  <a:lnTo>
                    <a:pt x="283459" y="141734"/>
                  </a:lnTo>
                  <a:lnTo>
                    <a:pt x="276234" y="96935"/>
                  </a:lnTo>
                  <a:lnTo>
                    <a:pt x="256115" y="58028"/>
                  </a:lnTo>
                  <a:lnTo>
                    <a:pt x="225436" y="27346"/>
                  </a:lnTo>
                  <a:lnTo>
                    <a:pt x="186531" y="7225"/>
                  </a:lnTo>
                  <a:lnTo>
                    <a:pt x="141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92498" y="3474458"/>
              <a:ext cx="242965" cy="242963"/>
            </a:xfrm>
            <a:prstGeom prst="rect">
              <a:avLst/>
            </a:prstGeom>
          </p:spPr>
        </p:pic>
        <p:sp>
          <p:nvSpPr>
            <p:cNvPr id="21" name="object 21">
              <a:hlinkClick r:id="rId10"/>
            </p:cNvPr>
            <p:cNvSpPr/>
            <p:nvPr/>
          </p:nvSpPr>
          <p:spPr>
            <a:xfrm>
              <a:off x="7784999" y="344297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269" y="0"/>
                  </a:moveTo>
                  <a:lnTo>
                    <a:pt x="124269" y="6046"/>
                  </a:lnTo>
                  <a:lnTo>
                    <a:pt x="83834" y="23109"/>
                  </a:lnTo>
                  <a:lnTo>
                    <a:pt x="49576" y="49576"/>
                  </a:lnTo>
                  <a:lnTo>
                    <a:pt x="23109" y="83834"/>
                  </a:lnTo>
                  <a:lnTo>
                    <a:pt x="6046" y="124269"/>
                  </a:lnTo>
                  <a:lnTo>
                    <a:pt x="0" y="169269"/>
                  </a:lnTo>
                  <a:lnTo>
                    <a:pt x="6046" y="214269"/>
                  </a:lnTo>
                  <a:lnTo>
                    <a:pt x="23109" y="254705"/>
                  </a:lnTo>
                  <a:lnTo>
                    <a:pt x="49576" y="288966"/>
                  </a:lnTo>
                  <a:lnTo>
                    <a:pt x="83834" y="315435"/>
                  </a:lnTo>
                  <a:lnTo>
                    <a:pt x="124269" y="332500"/>
                  </a:lnTo>
                  <a:lnTo>
                    <a:pt x="169269" y="338547"/>
                  </a:lnTo>
                  <a:lnTo>
                    <a:pt x="214269" y="332500"/>
                  </a:lnTo>
                  <a:lnTo>
                    <a:pt x="254705" y="315435"/>
                  </a:lnTo>
                  <a:lnTo>
                    <a:pt x="288966" y="288966"/>
                  </a:lnTo>
                  <a:lnTo>
                    <a:pt x="315435" y="254705"/>
                  </a:lnTo>
                  <a:lnTo>
                    <a:pt x="332500" y="214269"/>
                  </a:lnTo>
                  <a:lnTo>
                    <a:pt x="338547" y="169269"/>
                  </a:lnTo>
                  <a:lnTo>
                    <a:pt x="332500" y="124269"/>
                  </a:lnTo>
                  <a:lnTo>
                    <a:pt x="315435" y="83834"/>
                  </a:lnTo>
                  <a:lnTo>
                    <a:pt x="288966" y="49576"/>
                  </a:lnTo>
                  <a:lnTo>
                    <a:pt x="254705" y="23109"/>
                  </a:lnTo>
                  <a:lnTo>
                    <a:pt x="214269" y="6046"/>
                  </a:lnTo>
                  <a:lnTo>
                    <a:pt x="169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hlinkClick r:id="rId10"/>
            </p:cNvPr>
            <p:cNvSpPr/>
            <p:nvPr/>
          </p:nvSpPr>
          <p:spPr>
            <a:xfrm>
              <a:off x="7811604" y="347035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23909" y="264338"/>
                  </a:moveTo>
                  <a:lnTo>
                    <a:pt x="65231" y="264338"/>
                  </a:lnTo>
                  <a:lnTo>
                    <a:pt x="70636" y="267939"/>
                  </a:lnTo>
                  <a:lnTo>
                    <a:pt x="88502" y="276353"/>
                  </a:lnTo>
                  <a:lnTo>
                    <a:pt x="106876" y="282574"/>
                  </a:lnTo>
                  <a:lnTo>
                    <a:pt x="125588" y="286432"/>
                  </a:lnTo>
                  <a:lnTo>
                    <a:pt x="144469" y="287756"/>
                  </a:lnTo>
                  <a:lnTo>
                    <a:pt x="164251" y="286432"/>
                  </a:lnTo>
                  <a:lnTo>
                    <a:pt x="164533" y="286432"/>
                  </a:lnTo>
                  <a:lnTo>
                    <a:pt x="184536" y="282350"/>
                  </a:lnTo>
                  <a:lnTo>
                    <a:pt x="203727" y="275596"/>
                  </a:lnTo>
                  <a:lnTo>
                    <a:pt x="221903" y="266143"/>
                  </a:lnTo>
                  <a:lnTo>
                    <a:pt x="223909" y="264338"/>
                  </a:lnTo>
                  <a:close/>
                </a:path>
                <a:path w="288290" h="288289">
                  <a:moveTo>
                    <a:pt x="154511" y="0"/>
                  </a:moveTo>
                  <a:lnTo>
                    <a:pt x="109952" y="3616"/>
                  </a:lnTo>
                  <a:lnTo>
                    <a:pt x="67036" y="21236"/>
                  </a:lnTo>
                  <a:lnTo>
                    <a:pt x="32617" y="51346"/>
                  </a:lnTo>
                  <a:lnTo>
                    <a:pt x="9955" y="89667"/>
                  </a:lnTo>
                  <a:lnTo>
                    <a:pt x="0" y="132741"/>
                  </a:lnTo>
                  <a:lnTo>
                    <a:pt x="3703" y="177111"/>
                  </a:lnTo>
                  <a:lnTo>
                    <a:pt x="22016" y="219318"/>
                  </a:lnTo>
                  <a:lnTo>
                    <a:pt x="25616" y="224724"/>
                  </a:lnTo>
                  <a:lnTo>
                    <a:pt x="11214" y="278750"/>
                  </a:lnTo>
                  <a:lnTo>
                    <a:pt x="65231" y="264338"/>
                  </a:lnTo>
                  <a:lnTo>
                    <a:pt x="223909" y="264338"/>
                  </a:lnTo>
                  <a:lnTo>
                    <a:pt x="256148" y="235329"/>
                  </a:lnTo>
                  <a:lnTo>
                    <a:pt x="262099" y="225061"/>
                  </a:lnTo>
                  <a:lnTo>
                    <a:pt x="194158" y="225061"/>
                  </a:lnTo>
                  <a:lnTo>
                    <a:pt x="184985" y="224724"/>
                  </a:lnTo>
                  <a:lnTo>
                    <a:pt x="148070" y="213922"/>
                  </a:lnTo>
                  <a:lnTo>
                    <a:pt x="106429" y="186232"/>
                  </a:lnTo>
                  <a:lnTo>
                    <a:pt x="74237" y="149095"/>
                  </a:lnTo>
                  <a:lnTo>
                    <a:pt x="56234" y="104075"/>
                  </a:lnTo>
                  <a:lnTo>
                    <a:pt x="57218" y="93633"/>
                  </a:lnTo>
                  <a:lnTo>
                    <a:pt x="77837" y="62655"/>
                  </a:lnTo>
                  <a:lnTo>
                    <a:pt x="263683" y="62655"/>
                  </a:lnTo>
                  <a:lnTo>
                    <a:pt x="236109" y="32011"/>
                  </a:lnTo>
                  <a:lnTo>
                    <a:pt x="197601" y="9695"/>
                  </a:lnTo>
                  <a:lnTo>
                    <a:pt x="154511" y="0"/>
                  </a:lnTo>
                  <a:close/>
                </a:path>
                <a:path w="288290" h="288289">
                  <a:moveTo>
                    <a:pt x="285556" y="165302"/>
                  </a:moveTo>
                  <a:lnTo>
                    <a:pt x="189489" y="165302"/>
                  </a:lnTo>
                  <a:lnTo>
                    <a:pt x="229104" y="185109"/>
                  </a:lnTo>
                  <a:lnTo>
                    <a:pt x="230909" y="186905"/>
                  </a:lnTo>
                  <a:lnTo>
                    <a:pt x="232704" y="192310"/>
                  </a:lnTo>
                  <a:lnTo>
                    <a:pt x="232704" y="199511"/>
                  </a:lnTo>
                  <a:lnTo>
                    <a:pt x="200291" y="224724"/>
                  </a:lnTo>
                  <a:lnTo>
                    <a:pt x="194158" y="225061"/>
                  </a:lnTo>
                  <a:lnTo>
                    <a:pt x="262099" y="225061"/>
                  </a:lnTo>
                  <a:lnTo>
                    <a:pt x="278464" y="196821"/>
                  </a:lnTo>
                  <a:lnTo>
                    <a:pt x="285556" y="165302"/>
                  </a:lnTo>
                  <a:close/>
                </a:path>
                <a:path w="288290" h="288289">
                  <a:moveTo>
                    <a:pt x="263683" y="62655"/>
                  </a:moveTo>
                  <a:lnTo>
                    <a:pt x="97644" y="62655"/>
                  </a:lnTo>
                  <a:lnTo>
                    <a:pt x="99449" y="69856"/>
                  </a:lnTo>
                  <a:lnTo>
                    <a:pt x="107103" y="88763"/>
                  </a:lnTo>
                  <a:lnTo>
                    <a:pt x="110592" y="97710"/>
                  </a:lnTo>
                  <a:lnTo>
                    <a:pt x="112056" y="102270"/>
                  </a:lnTo>
                  <a:lnTo>
                    <a:pt x="113851" y="104075"/>
                  </a:lnTo>
                  <a:lnTo>
                    <a:pt x="113851" y="107675"/>
                  </a:lnTo>
                  <a:lnTo>
                    <a:pt x="112056" y="109471"/>
                  </a:lnTo>
                  <a:lnTo>
                    <a:pt x="113851" y="113071"/>
                  </a:lnTo>
                  <a:lnTo>
                    <a:pt x="112056" y="116681"/>
                  </a:lnTo>
                  <a:lnTo>
                    <a:pt x="108455" y="120282"/>
                  </a:lnTo>
                  <a:lnTo>
                    <a:pt x="106650" y="123882"/>
                  </a:lnTo>
                  <a:lnTo>
                    <a:pt x="104855" y="125678"/>
                  </a:lnTo>
                  <a:lnTo>
                    <a:pt x="101245" y="127483"/>
                  </a:lnTo>
                  <a:lnTo>
                    <a:pt x="99449" y="131083"/>
                  </a:lnTo>
                  <a:lnTo>
                    <a:pt x="101245" y="134684"/>
                  </a:lnTo>
                  <a:lnTo>
                    <a:pt x="126457" y="165302"/>
                  </a:lnTo>
                  <a:lnTo>
                    <a:pt x="160676" y="186905"/>
                  </a:lnTo>
                  <a:lnTo>
                    <a:pt x="164277" y="188710"/>
                  </a:lnTo>
                  <a:lnTo>
                    <a:pt x="167877" y="188710"/>
                  </a:lnTo>
                  <a:lnTo>
                    <a:pt x="171477" y="181509"/>
                  </a:lnTo>
                  <a:lnTo>
                    <a:pt x="187684" y="165302"/>
                  </a:lnTo>
                  <a:lnTo>
                    <a:pt x="285556" y="165302"/>
                  </a:lnTo>
                  <a:lnTo>
                    <a:pt x="288159" y="153731"/>
                  </a:lnTo>
                  <a:lnTo>
                    <a:pt x="284567" y="109471"/>
                  </a:lnTo>
                  <a:lnTo>
                    <a:pt x="284543" y="109172"/>
                  </a:lnTo>
                  <a:lnTo>
                    <a:pt x="266923" y="66256"/>
                  </a:lnTo>
                  <a:lnTo>
                    <a:pt x="263683" y="62655"/>
                  </a:lnTo>
                  <a:close/>
                </a:path>
              </a:pathLst>
            </a:custGeom>
            <a:solidFill>
              <a:srgbClr val="29AE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hlinkClick r:id="rId11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4"/>
                  </a:lnTo>
                  <a:lnTo>
                    <a:pt x="7379" y="99000"/>
                  </a:lnTo>
                  <a:lnTo>
                    <a:pt x="0" y="144754"/>
                  </a:lnTo>
                  <a:lnTo>
                    <a:pt x="7379" y="190502"/>
                  </a:lnTo>
                  <a:lnTo>
                    <a:pt x="27929" y="230235"/>
                  </a:lnTo>
                  <a:lnTo>
                    <a:pt x="59264" y="261568"/>
                  </a:lnTo>
                  <a:lnTo>
                    <a:pt x="99000" y="282116"/>
                  </a:lnTo>
                  <a:lnTo>
                    <a:pt x="144754" y="289496"/>
                  </a:lnTo>
                  <a:lnTo>
                    <a:pt x="190502" y="282116"/>
                  </a:lnTo>
                  <a:lnTo>
                    <a:pt x="230235" y="261568"/>
                  </a:lnTo>
                  <a:lnTo>
                    <a:pt x="261568" y="230235"/>
                  </a:lnTo>
                  <a:lnTo>
                    <a:pt x="282116" y="190502"/>
                  </a:lnTo>
                  <a:lnTo>
                    <a:pt x="289496" y="144754"/>
                  </a:lnTo>
                  <a:lnTo>
                    <a:pt x="282116" y="99000"/>
                  </a:lnTo>
                  <a:lnTo>
                    <a:pt x="261568" y="59264"/>
                  </a:lnTo>
                  <a:lnTo>
                    <a:pt x="230235" y="27929"/>
                  </a:lnTo>
                  <a:lnTo>
                    <a:pt x="190502" y="7379"/>
                  </a:lnTo>
                  <a:lnTo>
                    <a:pt x="144754" y="0"/>
                  </a:lnTo>
                  <a:close/>
                </a:path>
              </a:pathLst>
            </a:custGeom>
            <a:solidFill>
              <a:srgbClr val="214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hlinkClick r:id="rId11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190502" y="7379"/>
                  </a:lnTo>
                  <a:lnTo>
                    <a:pt x="230235" y="27929"/>
                  </a:lnTo>
                  <a:lnTo>
                    <a:pt x="261568" y="59264"/>
                  </a:lnTo>
                  <a:lnTo>
                    <a:pt x="282116" y="99000"/>
                  </a:lnTo>
                  <a:lnTo>
                    <a:pt x="289496" y="144754"/>
                  </a:lnTo>
                  <a:lnTo>
                    <a:pt x="282116" y="190502"/>
                  </a:lnTo>
                  <a:lnTo>
                    <a:pt x="261568" y="230235"/>
                  </a:lnTo>
                  <a:lnTo>
                    <a:pt x="230235" y="261568"/>
                  </a:lnTo>
                  <a:lnTo>
                    <a:pt x="190502" y="282116"/>
                  </a:lnTo>
                  <a:lnTo>
                    <a:pt x="144754" y="289496"/>
                  </a:lnTo>
                  <a:lnTo>
                    <a:pt x="99000" y="282116"/>
                  </a:lnTo>
                  <a:lnTo>
                    <a:pt x="59264" y="261568"/>
                  </a:lnTo>
                  <a:lnTo>
                    <a:pt x="27929" y="230235"/>
                  </a:lnTo>
                  <a:lnTo>
                    <a:pt x="7379" y="190502"/>
                  </a:lnTo>
                  <a:lnTo>
                    <a:pt x="0" y="144754"/>
                  </a:lnTo>
                  <a:lnTo>
                    <a:pt x="7379" y="99000"/>
                  </a:lnTo>
                  <a:lnTo>
                    <a:pt x="27929" y="59264"/>
                  </a:lnTo>
                  <a:lnTo>
                    <a:pt x="59264" y="27929"/>
                  </a:lnTo>
                  <a:lnTo>
                    <a:pt x="99000" y="7379"/>
                  </a:lnTo>
                  <a:lnTo>
                    <a:pt x="144754" y="0"/>
                  </a:lnTo>
                  <a:close/>
                </a:path>
              </a:pathLst>
            </a:custGeom>
            <a:ln w="154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hlinkClick r:id="rId11"/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97595" y="3534054"/>
              <a:ext cx="181711" cy="1154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60003" y="3433966"/>
              <a:ext cx="899998" cy="8999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14"/>
              </a:rPr>
              <a:t>Тарифы</a:t>
            </a:r>
            <a:endParaRPr sz="240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/>
              <a:t>/</a:t>
            </a:r>
            <a:r>
              <a:rPr spc="-5" dirty="0"/>
              <a:t> </a:t>
            </a:r>
            <a:r>
              <a:rPr spc="-50" dirty="0"/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617</Words>
  <Application>Microsoft Office PowerPoint</Application>
  <PresentationFormat>Произвольный</PresentationFormat>
  <Paragraphs>140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Azfruktmn</vt:lpstr>
      <vt:lpstr>Слайд 2</vt:lpstr>
      <vt:lpstr>Статистика</vt:lpstr>
      <vt:lpstr>Всего два дня и вы в сети!</vt:lpstr>
      <vt:lpstr>Мы работаем для Вас</vt:lpstr>
      <vt:lpstr>Фото и отзывы</vt:lpstr>
      <vt:lpstr>Гейдар,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cp:lastModifiedBy>Менеджер_074</cp:lastModifiedBy>
  <cp:revision>1</cp:revision>
  <dcterms:created xsi:type="dcterms:W3CDTF">2026-06-24T08:38:13Z</dcterms:created>
  <dcterms:modified xsi:type="dcterms:W3CDTF">2026-06-24T08:41:15Z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